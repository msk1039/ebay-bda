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4a5da3f-9655-45fa-e627-912d7f745aa7}">
          <p14:sldIdLst>
            <p14:sldId id="256"/>
            <p14:sldId id="257"/>
          </p14:sldIdLst>
        </p14:section>
        <p14:section name="The data" id="{95a7c56c-16a6-8ab0-f581-9ae9b027dfe7}">
          <p14:sldIdLst>
            <p14:sldId id="258"/>
          </p14:sldIdLst>
        </p14:section>
        <p14:section name="SQL limits" id="{53fd9a22-24be-cd7c-b580-83a4c365f0d8}">
          <p14:sldIdLst>
            <p14:sldId id="259"/>
            <p14:sldId id="260"/>
          </p14:sldIdLst>
        </p14:section>
        <p14:section name="Architecture" id="{cab91baf-3a5b-c6c1-e437-219a2c3abee2}">
          <p14:sldIdLst>
            <p14:sldId id="261"/>
            <p14:sldId id="262"/>
            <p14:sldId id="263"/>
            <p14:sldId id="264"/>
            <p14:sldId id="265"/>
          </p14:sldIdLst>
        </p14:section>
        <p14:section name="Serving live" id="{fe29843b-8ec8-55ff-6f37-fdae5778c279}">
          <p14:sldIdLst>
            <p14:sldId id="266"/>
          </p14:sldIdLst>
        </p14:section>
        <p14:section name="Big picture" id="{5d4754c0-c315-bc78-7c03-5a60d00ff93b}">
          <p14:sldIdLst>
            <p14:sldId id="267"/>
            <p14:sldId id="268"/>
          </p14:sldIdLst>
        </p14:section>
        <p14:section name="Close" id="{8c5647b7-3ccf-bcb0-b1a1-df8e13f479a9}">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Good morning. Our case study is eBay, one of the biggest online marketplaces. We will show what happened when its data grew too big for traditional SQL warehouses, why it did not simply throw them away, and how its Hadoop and NoSQL systems are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Start with one shopper. Every time someone searches, clicks a listing, bids or buys, or lists an item with photos, eBay records it. Multiply that by more than 120 million active users: 300 million searches a day and 350 million items for sale. Already in 2009 one of eBay's warehouses was taking in 150 billion new log records every day. By then the hard part was no longer collecting the data, it was storing and analysing it.
2-MINUTE ROUTE (if the time limit is strict): slides 2, 4, 5, 6, 12 and 14, one or two sentences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Big Data is data that is too large, too fast or too varied for one ordinary database. eBay shows all five Vs. Volume: 8 to 10 terabytes of new data a day into its first big Hadoop cluster. Velocity: 150 billion log records a day in 2009. Variety: logs, clicks, orders and images. Veracity: fake activity has to be caught. Value: search ranking and recommendations are where the money is. The right-hand column is the key point: each V is a different reason one database cannot cope.
VIVA - Explain the 5 Vs: Volume = how much data; Velocity = how fast it arrives and must be processed; Variety = many formats (structured, semi-structured, unstructured); Veracity = how trustworthy or clean it is; Value = the business benefit extracted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So what actually went wrong with SQL? By 2009 eBay ran two huge relational warehouses: Teradata for clean business data and Greenplum, where all the log data landed first. Greenplum alone held 6.5 petabytes and 17 trillion records. Four problems showed up. One: copies. Every team had its own data mart, a separate database with its own copy of the data. eBay's own architect showed this wasted 10 to 20 times the storage, used only 10 to 20 percent of the hardware, and needed more than 40 people to run. Two: rigid design. More than 85 percent of eBay's analysis was new, unknown questions, but a warehouse schema has to be designed in advance. Three: semi-structured logs. Logs are name=value pairs that do not fit fixed columns, so eBay squeezed the rare ones into one big text column. Four: scale and reliability. A warehouse grows by buying a bigger system, and Greenplum was dropped in 2010 mainly over reliability.
VIVA - Why can't an RDBMS handle Big Data efficiently? It scales up rather than out, needs a fixed schema, and joins over huge tables are slow. The data-mart figures are from Oliver Ratzesberger's 2010 USENIX FAST keynote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So why didn't eBay just move everything to Hadoop? Because each system was better at a different job, and by 2013 eBay ran three of them, about 90 petabytes in total. The Teradata warehouse, 7.5 PB, holds structured transaction data in a classic relational model and serves thousands of analysts at the same time. Singularity, 40 PB, is eBay's own Teradata-based system for semi-structured user-behaviour data, which is where those name=value logs went. Hadoop, 40 PB, takes the unstructured data, images and text, and the machine learning, cheaply on commodity machines. At the time Hadoop was also weak at joins and at queries from many users at once, and eBay's analysts and BI tools all spoke SQL. So eBay kept SQL where it was strong and moved datasets between the systems when needed.
VIVA - In 2010 an analyst (Curt Monash) reported that eBay avoided Hadoop for anything requiring data movement, such as joins, and used it for special jobs such as image analysis and analysing search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how eBay's analytics platform fits together, based on eBay's own architecture slide from 2010 and its 2013 figures. On the left are the sources: the site databases with listings, orders and bids, the clickstream logs, and unstructured data like images. An integration layer, using tools such as Ab Initio, Informatica and GoldenGate, scheduled by UC4, loads them into three systems. The two Teradata systems feed analysts through BI tools like MicroStrategy and Tableau. Hadoop feeds the website itself, for example the Cassini search index. Datasets can be copied between Teradata and Hadoop. The next three slides open up Hadoop: HDFS, YARN and MapReduce.
NOTE: Hadoop's internal parts and the Hadoop-to-website link come from eBay's 2013 and 2015 Hadoop talks; the rest of the layering is from the 2010 USENIX FAST keynote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Hadoop did not arrive overnight. It started in 2007 with a handful of nodes. In 2010 eBay built Athena, its first large cluster: 532 nodes, 5.3 petabytes, taking 8 to 10 terabytes of new data a day. By 2013 it had more than 4,000 nodes and over 50 petabytes, and its new Cassini search engine was built on HBase and MapReduce. In 2014 production clusters moved to Hadoop 2 with YARN, and eBay open-sourced Kylin. By 2015 eBay ran more than 10 clusters with over 10,000 nodes and 50,000 jobs a day, all still beside the Teradata systems.
NOTE: eBay's slides give different node counts for nearby years, so the slide quotes each figure with its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HDFS, Hadoop's storage layer, as eBay runs it. A job that wants to read or write a file first asks the NameNode where the blocks are; the NameNode only holds the map of files to blocks to machines. The data itself goes straight between the job and the DataNodes. Files are cut into 128 to 256 MB blocks and each block is copied to three DataNodes, so a failed machine loses nothing. DataNodes send heartbeats and block reports so the NameNode always knows what is alive. eBay added a cheaper ARCHIVE tier: storage-only machines of 220 TB each, about a quarter of the cost per GB, for old data. eBay's first big cluster, Athena, had 532 such nodes in 2010.
VIVA - Role of HDFS: distributed storage. NameNode = metadata (the map), DataNodes = the blocks. Replication = 3 copies so a failed node loses no data. A standby NameNode (high availability) was on eBay's 2013 plan; around 2017 eBay split the namespace in two (federation) after passing 1 billion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YARN is the part that shares the cluster. In Hadoop 1 one JobTracker had to manage every job on the cluster, which became a bottleneck. YARN splits that job in two. A ResourceManager, with a scheduler that divides the cluster into queues, decides who gets how much memory and CPU. For each job it starts an ApplicationMaster, which asks for containers and runs the actual map, reduce or Spark tasks in them on the NodeManagers. NodeManagers report back with heartbeats. Every worker is also an HDFS DataNode, so tasks run next to their data. eBay moved its production clusters to Hadoop 2 in 2014, and its shared clusters run MapReduce, Hive, Pig, Spark and HBase side by side.
VIVA - What is YARN? Yet Another Resource Negotiator: ResourceManager (global, schedules) + NodeManager (per machine, runs containers) + ApplicationMaster (per job). The queue layout shown is the standard design; eBay's exact scheduler settings are not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 is MapReduce doing a real eBay job: building the index for Cassini, eBay's search engine. Every listing lives in the site's Oracle database. It is copied into HBase two ways: a bulk load every few hours, and small event updates in near real time. HBase holds the item and seller tables split into 3,600 regions. A MapReduce job on a dedicated cluster then scans them: each map task reads one region and turns items into index entries, the shuffle groups the entries by index shard, and each reduce task writes one shard of the index. The index files go to HDFS and are loaded by the Cassini query nodes that answer shoppers' searches. A full index is rebuilt every 6 hours, with mini indexes every few minutes.
VIVA - Explain MapReduce with an example: Map = process each piece in parallel and emit key-value pairs; Shuffle = group by key; Reduce = combine each group. Here the key is the index shard. The split into map, shuffle and reduce steps follows the standard pattern; the pipeline, schedule and sizes are eBay's.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Hadoop is great for big batch jobs, but the live website needs answers in milliseconds. That is the job of NoSQL databases, which drop the fixed relational schema and spread across many machines. HBase sits on HDFS and holds the whole site inventory for Cassini search, plus the Kylin analytics cubes. Cassandra is built for fast writes: social signals like 'want' and 'own', fraud time series and order tracking, at 400 million writes a day. MongoDB holds product details whose fields differ from item to item. Our pick: HBase for Hadoop-linked work, MongoDB for the product catalogue.
VIVA - HBase vs MongoDB: HBase is a wide-column store built on HDFS, with row-key lookups and range scans, strong consistency per row, and bulk loading from MapReduce. MongoDB is a document store (JSON-like documents) with a flexible schema and rich queries, with its own replication and sharding. Cassandra is a masterless wide-column store tuned for very fast writes. CAUTION: the MongoDB row comes from summaries of an eBay talk (MongoDB at eBay) that we have not read in full - check it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whole system on one page. Read it like the story: on the left, the data outgrew the SQL warehouses, so eBay scaled out with HDFS. On the right, YARN schedules the work, MapReduce processes it, and the results feed the NoSQL stores. The centre shows the life of the data, from collection to action, and the outcomes shoppers and analysts see.
For the 'use an AI tool' criterion, recreate this map in Napkin AI, XMind, Canva or Miro from the same text and keep this slide as the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links on the map come down to this table: every problem in eBay's data is answered by one part of the system, and each has an eBay fact behind it. Volume is answered by HDFS spreading data over cheap nodes; failures by three copies; rigid schemas by storing files as they are; many engines by YARN; huge batch jobs by MapReduce; the live site by NoSQL; and structured, many-user analysis by keeping Teradata.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 close. eBay's SQL warehouses strained under copies, rigid schemas and semi-structured logs. eBay did not throw them away: it kept SQL for structured, many-user analysis and added Hadoop for everything else, about 90 PB across three systems by 2013. Inside Hadoop, HDFS stores, YARN shares the cluster and MapReduce builds the search index. NoSQL serves the live site. The lesson for any e-commerce company: use each system for the job it does best. Thank you; we are happy to take questions.
Likely viva: 5 Vs (slide 3), why RDBMS can't cope (slide 4), why keep both (slide 5), role of HDFS and replication (slide 8), YARN (slide 9), MapReduce example (slide 10), HBase vs MongoDB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marked n.d. were not shown on the pages we read. The MongoDB at eBay entry was found through search summaries; open it and confirm the claims before presenting. dbms2.com posts were read through their InformationWeek copies. eBay's slides are not always consistent with each other (e.g. node counts), so each figure is quoted with its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640080" y="1097280"/>
            <a:ext cx="7863840" cy="15544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182880"/>
            <a:ext cx="8229600" cy="777240"/>
          </a:xfrm>
          <a:prstGeom prst="rect">
            <a:avLst/>
          </a:prstGeom>
          <a:noFill/>
          <a:ln/>
        </p:spPr>
        <p:txBody>
          <a:bodyPr wrap="square" rtlCol="0"/>
          <a:lstStyle>
            <a:lvl1pPr algn="l" indent="0" marL="0">
              <a:buNone/>
              <a:defRPr lang="en-US" sz="2400" b="1" dirty="0">
                <a:solidFill>
                  <a:schemeClr val="tx2"/>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p:nvPr>
            <p:ph idx="101" type="title" hasCustomPrompt="1"/>
          </p:nvPr>
        </p:nvSpPr>
        <p:spPr>
          <a:xfrm>
            <a:off x="457200" y="228600"/>
            <a:ext cx="8229600" cy="777240"/>
          </a:xfrm>
          <a:prstGeom prst="rect">
            <a:avLst/>
          </a:prstGeom>
          <a:noFill/>
          <a:ln/>
        </p:spPr>
        <p:txBody>
          <a:bodyPr wrap="square" rtlCol="0"/>
          <a:lstStyle>
            <a:lvl1pPr algn="l" indent="0" marL="0">
              <a:buNone/>
              <a:defRPr lang="en-US" sz="2400" b="1" dirty="0">
                <a:solidFill>
                  <a:schemeClr val="bg1"/>
                </a:solidFill>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p:nvPr>
            <p:ph idx="101" type="title" hasCustomPrompt="1"/>
          </p:nvPr>
        </p:nvSpPr>
        <p:spPr>
          <a:xfrm>
            <a:off x="640080" y="1097280"/>
            <a:ext cx="7863840" cy="1554480"/>
          </a:xfrm>
          <a:prstGeom prst="rect">
            <a:avLst/>
          </a:prstGeom>
          <a:noFill/>
          <a:ln/>
        </p:spPr>
        <p:txBody>
          <a:bodyPr wrap="square" lIns="0" tIns="0" rIns="0" bIns="0" rtlCol="0" anchor="t"/>
          <a:lstStyle/>
          <a:p>
            <a:pPr algn="l" indent="0" marL="0">
              <a:buNone/>
            </a:pPr>
            <a:r>
              <a:rPr lang="en-US" sz="3200" b="1" dirty="0">
                <a:solidFill>
                  <a:schemeClr val="bg1"/>
                </a:solidFill>
              </a:rPr>
              <a:t>How eBay's data outgrew its databases, and what it built instead</a:t>
            </a:r>
            <a:endParaRPr lang="en-US" sz="3200" dirty="0"/>
          </a:p>
        </p:txBody>
      </p:sp>
      <p:sp>
        <p:nvSpPr>
          <p:cNvPr id="4" name="Subtitle"/>
          <p:cNvSpPr txBox="1"/>
          <p:nvPr/>
        </p:nvSpPr>
        <p:spPr>
          <a:xfrm>
            <a:off x="640080" y="2926080"/>
            <a:ext cx="7863840" cy="365760"/>
          </a:xfrm>
          <a:prstGeom prst="rect">
            <a:avLst/>
          </a:prstGeom>
          <a:noFill/>
          <a:ln/>
        </p:spPr>
        <p:txBody>
          <a:bodyPr wrap="square" lIns="0" tIns="0" rIns="0" bIns="0" rtlCol="0" anchor="t"/>
          <a:lstStyle/>
          <a:p>
            <a:pPr algn="l" indent="0" marL="0">
              <a:buNone/>
            </a:pPr>
            <a:r>
              <a:rPr lang="en-US" sz="1600" dirty="0">
                <a:solidFill>
                  <a:schemeClr val="bg2"/>
                </a:solidFill>
              </a:rPr>
              <a:t>Big Data Analytics  ·  FA1 mind-map case study</a:t>
            </a:r>
            <a:endParaRPr lang="en-US" sz="1600" dirty="0"/>
          </a:p>
        </p:txBody>
      </p:sp>
      <p:sp>
        <p:nvSpPr>
          <p:cNvPr id="5" name="Authors"/>
          <p:cNvSpPr txBox="1"/>
          <p:nvPr/>
        </p:nvSpPr>
        <p:spPr>
          <a:xfrm>
            <a:off x="640080" y="3429000"/>
            <a:ext cx="7863840" cy="365760"/>
          </a:xfrm>
          <a:prstGeom prst="rect">
            <a:avLst/>
          </a:prstGeom>
          <a:noFill/>
          <a:ln/>
        </p:spPr>
        <p:txBody>
          <a:bodyPr wrap="square" lIns="0" tIns="0" rIns="0" bIns="0" rtlCol="0" anchor="t"/>
          <a:lstStyle/>
          <a:p>
            <a:pPr algn="l" indent="0" marL="0">
              <a:buNone/>
            </a:pPr>
            <a:r>
              <a:rPr lang="en-US" sz="1500" dirty="0">
                <a:solidFill>
                  <a:schemeClr val="bg2"/>
                </a:solidFill>
              </a:rPr>
              <a:t>[Group members]  ·  PCCoE, B.Tech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Every search, click and bid on eBay leaves data behind</a:t>
            </a:r>
            <a:endParaRPr lang="en-US" sz="2400" dirty="0"/>
          </a:p>
        </p:txBody>
      </p:sp>
      <p:sp>
        <p:nvSpPr>
          <p:cNvPr id="4" name="Action 1"/>
          <p:cNvSpPr txBox="1"/>
          <p:nvPr/>
        </p:nvSpPr>
        <p:spPr>
          <a:xfrm>
            <a:off x="457200" y="1188720"/>
            <a:ext cx="1920240" cy="411480"/>
          </a:xfrm>
          <a:prstGeom prst="roundRect">
            <a:avLst>
              <a:gd name="adj" fmla="val 13333"/>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Search</a:t>
            </a:r>
            <a:endParaRPr lang="en-US" sz="1600" dirty="0"/>
          </a:p>
        </p:txBody>
      </p:sp>
      <p:sp>
        <p:nvSpPr>
          <p:cNvPr id="5" name="Arrow action 1"/>
          <p:cNvSpPr/>
          <p:nvPr/>
        </p:nvSpPr>
        <p:spPr>
          <a:xfrm>
            <a:off x="1417320" y="1627632"/>
            <a:ext cx="0" cy="219456"/>
          </a:xfrm>
          <a:prstGeom prst="line">
            <a:avLst/>
          </a:prstGeom>
          <a:noFill/>
          <a:ln w="25400">
            <a:solidFill>
              <a:schemeClr val="accent1"/>
            </a:solidFill>
            <a:prstDash val="solid"/>
            <a:tailEnd type="triangle"/>
          </a:ln>
        </p:spPr>
      </p:sp>
      <p:sp>
        <p:nvSpPr>
          <p:cNvPr id="6" name="Data 1"/>
          <p:cNvSpPr txBox="1"/>
          <p:nvPr/>
        </p:nvSpPr>
        <p:spPr>
          <a:xfrm>
            <a:off x="457200" y="1874520"/>
            <a:ext cx="1920240" cy="457200"/>
          </a:xfrm>
          <a:prstGeom prst="rect">
            <a:avLst/>
          </a:prstGeom>
          <a:solidFill>
            <a:schemeClr val="bg2"/>
          </a:solidFill>
          <a:ln w="9525">
            <a:solidFill>
              <a:schemeClr val="accent1"/>
            </a:solidFill>
          </a:ln>
        </p:spPr>
        <p:txBody>
          <a:bodyPr wrap="square" lIns="50800" tIns="50800" rIns="50800" bIns="50800" rtlCol="0" anchor="ctr"/>
          <a:lstStyle/>
          <a:p>
            <a:pPr algn="ctr" indent="0" marL="0">
              <a:buNone/>
            </a:pPr>
            <a:r>
              <a:rPr lang="en-US" sz="1500" dirty="0">
                <a:solidFill>
                  <a:schemeClr val="tx1"/>
                </a:solidFill>
              </a:rPr>
              <a:t>Query logs</a:t>
            </a:r>
            <a:endParaRPr lang="en-US" sz="1500" dirty="0"/>
          </a:p>
        </p:txBody>
      </p:sp>
      <p:sp>
        <p:nvSpPr>
          <p:cNvPr id="7" name="Action 2"/>
          <p:cNvSpPr txBox="1"/>
          <p:nvPr/>
        </p:nvSpPr>
        <p:spPr>
          <a:xfrm>
            <a:off x="2560320" y="1188720"/>
            <a:ext cx="1920240" cy="411480"/>
          </a:xfrm>
          <a:prstGeom prst="roundRect">
            <a:avLst>
              <a:gd name="adj" fmla="val 13333"/>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Click</a:t>
            </a:r>
            <a:endParaRPr lang="en-US" sz="1600" dirty="0"/>
          </a:p>
        </p:txBody>
      </p:sp>
      <p:sp>
        <p:nvSpPr>
          <p:cNvPr id="8" name="Arrow action 2"/>
          <p:cNvSpPr/>
          <p:nvPr/>
        </p:nvSpPr>
        <p:spPr>
          <a:xfrm>
            <a:off x="3520440" y="1627632"/>
            <a:ext cx="0" cy="219456"/>
          </a:xfrm>
          <a:prstGeom prst="line">
            <a:avLst/>
          </a:prstGeom>
          <a:noFill/>
          <a:ln w="25400">
            <a:solidFill>
              <a:schemeClr val="accent1"/>
            </a:solidFill>
            <a:prstDash val="solid"/>
            <a:tailEnd type="triangle"/>
          </a:ln>
        </p:spPr>
      </p:sp>
      <p:sp>
        <p:nvSpPr>
          <p:cNvPr id="9" name="Data 2"/>
          <p:cNvSpPr txBox="1"/>
          <p:nvPr/>
        </p:nvSpPr>
        <p:spPr>
          <a:xfrm>
            <a:off x="2560320" y="1874520"/>
            <a:ext cx="1920240" cy="457200"/>
          </a:xfrm>
          <a:prstGeom prst="rect">
            <a:avLst/>
          </a:prstGeom>
          <a:solidFill>
            <a:schemeClr val="bg2"/>
          </a:solidFill>
          <a:ln w="9525">
            <a:solidFill>
              <a:schemeClr val="accent1"/>
            </a:solidFill>
          </a:ln>
        </p:spPr>
        <p:txBody>
          <a:bodyPr wrap="square" lIns="50800" tIns="50800" rIns="50800" bIns="50800" rtlCol="0" anchor="ctr"/>
          <a:lstStyle/>
          <a:p>
            <a:pPr algn="ctr" indent="0" marL="0">
              <a:buNone/>
            </a:pPr>
            <a:r>
              <a:rPr lang="en-US" sz="1500" dirty="0">
                <a:solidFill>
                  <a:schemeClr val="tx1"/>
                </a:solidFill>
              </a:rPr>
              <a:t>Clickstream events</a:t>
            </a:r>
            <a:endParaRPr lang="en-US" sz="1500" dirty="0"/>
          </a:p>
        </p:txBody>
      </p:sp>
      <p:sp>
        <p:nvSpPr>
          <p:cNvPr id="10" name="Action 3"/>
          <p:cNvSpPr txBox="1"/>
          <p:nvPr/>
        </p:nvSpPr>
        <p:spPr>
          <a:xfrm>
            <a:off x="4663440" y="1188720"/>
            <a:ext cx="1920240" cy="411480"/>
          </a:xfrm>
          <a:prstGeom prst="roundRect">
            <a:avLst>
              <a:gd name="adj" fmla="val 13333"/>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Bid or buy</a:t>
            </a:r>
            <a:endParaRPr lang="en-US" sz="1600" dirty="0"/>
          </a:p>
        </p:txBody>
      </p:sp>
      <p:sp>
        <p:nvSpPr>
          <p:cNvPr id="11" name="Arrow action 3"/>
          <p:cNvSpPr/>
          <p:nvPr/>
        </p:nvSpPr>
        <p:spPr>
          <a:xfrm>
            <a:off x="5623560" y="1627632"/>
            <a:ext cx="0" cy="219456"/>
          </a:xfrm>
          <a:prstGeom prst="line">
            <a:avLst/>
          </a:prstGeom>
          <a:noFill/>
          <a:ln w="25400">
            <a:solidFill>
              <a:schemeClr val="accent1"/>
            </a:solidFill>
            <a:prstDash val="solid"/>
            <a:tailEnd type="triangle"/>
          </a:ln>
        </p:spPr>
      </p:sp>
      <p:sp>
        <p:nvSpPr>
          <p:cNvPr id="12" name="Data 3"/>
          <p:cNvSpPr txBox="1"/>
          <p:nvPr/>
        </p:nvSpPr>
        <p:spPr>
          <a:xfrm>
            <a:off x="4663440" y="1874520"/>
            <a:ext cx="1920240" cy="457200"/>
          </a:xfrm>
          <a:prstGeom prst="rect">
            <a:avLst/>
          </a:prstGeom>
          <a:solidFill>
            <a:schemeClr val="bg2"/>
          </a:solidFill>
          <a:ln w="9525">
            <a:solidFill>
              <a:schemeClr val="accent1"/>
            </a:solidFill>
          </a:ln>
        </p:spPr>
        <p:txBody>
          <a:bodyPr wrap="square" lIns="50800" tIns="50800" rIns="50800" bIns="50800" rtlCol="0" anchor="ctr"/>
          <a:lstStyle/>
          <a:p>
            <a:pPr algn="ctr" indent="0" marL="0">
              <a:buNone/>
            </a:pPr>
            <a:r>
              <a:rPr lang="en-US" sz="1500" dirty="0">
                <a:solidFill>
                  <a:schemeClr val="tx1"/>
                </a:solidFill>
              </a:rPr>
              <a:t>Order records</a:t>
            </a:r>
            <a:endParaRPr lang="en-US" sz="1500" dirty="0"/>
          </a:p>
        </p:txBody>
      </p:sp>
      <p:sp>
        <p:nvSpPr>
          <p:cNvPr id="13" name="Action 4"/>
          <p:cNvSpPr txBox="1"/>
          <p:nvPr/>
        </p:nvSpPr>
        <p:spPr>
          <a:xfrm>
            <a:off x="6766560" y="1188720"/>
            <a:ext cx="1920240" cy="411480"/>
          </a:xfrm>
          <a:prstGeom prst="roundRect">
            <a:avLst>
              <a:gd name="adj" fmla="val 13333"/>
            </a:avLst>
          </a:prstGeom>
          <a:solidFill>
            <a:schemeClr val="accent1"/>
          </a:solidFill>
          <a:ln w="12700">
            <a:solidFill>
              <a:schemeClr val="accent1"/>
            </a:solidFill>
          </a:ln>
        </p:spPr>
        <p:txBody>
          <a:bodyPr wrap="square" lIns="50800" tIns="50800" rIns="50800" bIns="50800" rtlCol="0" anchor="ctr"/>
          <a:lstStyle/>
          <a:p>
            <a:pPr algn="ctr" indent="0" marL="0">
              <a:buNone/>
            </a:pPr>
            <a:r>
              <a:rPr lang="en-US" sz="1600" b="1" dirty="0">
                <a:solidFill>
                  <a:schemeClr val="bg1"/>
                </a:solidFill>
              </a:rPr>
              <a:t>List an item</a:t>
            </a:r>
            <a:endParaRPr lang="en-US" sz="1600" dirty="0"/>
          </a:p>
        </p:txBody>
      </p:sp>
      <p:sp>
        <p:nvSpPr>
          <p:cNvPr id="14" name="Arrow action 4"/>
          <p:cNvSpPr/>
          <p:nvPr/>
        </p:nvSpPr>
        <p:spPr>
          <a:xfrm>
            <a:off x="7726680" y="1627632"/>
            <a:ext cx="0" cy="219456"/>
          </a:xfrm>
          <a:prstGeom prst="line">
            <a:avLst/>
          </a:prstGeom>
          <a:noFill/>
          <a:ln w="25400">
            <a:solidFill>
              <a:schemeClr val="accent1"/>
            </a:solidFill>
            <a:prstDash val="solid"/>
            <a:tailEnd type="triangle"/>
          </a:ln>
        </p:spPr>
      </p:sp>
      <p:sp>
        <p:nvSpPr>
          <p:cNvPr id="15" name="Data 4"/>
          <p:cNvSpPr txBox="1"/>
          <p:nvPr/>
        </p:nvSpPr>
        <p:spPr>
          <a:xfrm>
            <a:off x="6766560" y="1874520"/>
            <a:ext cx="1920240" cy="457200"/>
          </a:xfrm>
          <a:prstGeom prst="rect">
            <a:avLst/>
          </a:prstGeom>
          <a:solidFill>
            <a:schemeClr val="bg2"/>
          </a:solidFill>
          <a:ln w="9525">
            <a:solidFill>
              <a:schemeClr val="accent1"/>
            </a:solidFill>
          </a:ln>
        </p:spPr>
        <p:txBody>
          <a:bodyPr wrap="square" lIns="50800" tIns="50800" rIns="50800" bIns="50800" rtlCol="0" anchor="ctr"/>
          <a:lstStyle/>
          <a:p>
            <a:pPr algn="ctr" indent="0" marL="0">
              <a:buNone/>
            </a:pPr>
            <a:r>
              <a:rPr lang="en-US" sz="1500" dirty="0">
                <a:solidFill>
                  <a:schemeClr val="tx1"/>
                </a:solidFill>
              </a:rPr>
              <a:t>Photos and item text</a:t>
            </a:r>
            <a:endParaRPr lang="en-US" sz="1500" dirty="0"/>
          </a:p>
        </p:txBody>
      </p:sp>
      <p:sp>
        <p:nvSpPr>
          <p:cNvPr id="16" name="Stat card 1"/>
          <p:cNvSpPr txBox="1"/>
          <p:nvPr/>
        </p:nvSpPr>
        <p:spPr>
          <a:xfrm>
            <a:off x="457200" y="2606040"/>
            <a:ext cx="1920240" cy="1280160"/>
          </a:xfrm>
          <a:prstGeom prst="rect">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3000" b="1" dirty="0">
                <a:solidFill>
                  <a:schemeClr val="tx2"/>
                </a:solidFill>
              </a:rPr>
              <a:t>120M+</a:t>
            </a:r>
            <a:endParaRPr lang="en-US" sz="3000" dirty="0"/>
          </a:p>
          <a:p>
            <a:pPr algn="l" indent="0" marL="0">
              <a:buNone/>
            </a:pPr>
            <a:r>
              <a:rPr lang="en-US" sz="1500" dirty="0">
                <a:solidFill>
                  <a:schemeClr val="tx1"/>
                </a:solidFill>
              </a:rPr>
              <a:t>active users</a:t>
            </a:r>
            <a:endParaRPr lang="en-US" sz="3000" dirty="0"/>
          </a:p>
        </p:txBody>
      </p:sp>
      <p:sp>
        <p:nvSpPr>
          <p:cNvPr id="17" name="Stat card 2"/>
          <p:cNvSpPr txBox="1"/>
          <p:nvPr/>
        </p:nvSpPr>
        <p:spPr>
          <a:xfrm>
            <a:off x="2560320" y="2606040"/>
            <a:ext cx="1920240" cy="1280160"/>
          </a:xfrm>
          <a:prstGeom prst="rect">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3000" b="1" dirty="0">
                <a:solidFill>
                  <a:schemeClr val="tx2"/>
                </a:solidFill>
              </a:rPr>
              <a:t>300M+</a:t>
            </a:r>
            <a:endParaRPr lang="en-US" sz="3000" dirty="0"/>
          </a:p>
          <a:p>
            <a:pPr algn="l" indent="0" marL="0">
              <a:buNone/>
            </a:pPr>
            <a:r>
              <a:rPr lang="en-US" sz="1500" dirty="0">
                <a:solidFill>
                  <a:schemeClr val="tx1"/>
                </a:solidFill>
              </a:rPr>
              <a:t>searches a day</a:t>
            </a:r>
            <a:endParaRPr lang="en-US" sz="3000" dirty="0"/>
          </a:p>
        </p:txBody>
      </p:sp>
      <p:sp>
        <p:nvSpPr>
          <p:cNvPr id="18" name="Stat card 3"/>
          <p:cNvSpPr txBox="1"/>
          <p:nvPr/>
        </p:nvSpPr>
        <p:spPr>
          <a:xfrm>
            <a:off x="4663440" y="2606040"/>
            <a:ext cx="1920240" cy="1280160"/>
          </a:xfrm>
          <a:prstGeom prst="rect">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3000" b="1" dirty="0">
                <a:solidFill>
                  <a:schemeClr val="tx2"/>
                </a:solidFill>
              </a:rPr>
              <a:t>350M+</a:t>
            </a:r>
            <a:endParaRPr lang="en-US" sz="3000" dirty="0"/>
          </a:p>
          <a:p>
            <a:pPr algn="l" indent="0" marL="0">
              <a:buNone/>
            </a:pPr>
            <a:r>
              <a:rPr lang="en-US" sz="1500" dirty="0">
                <a:solidFill>
                  <a:schemeClr val="tx1"/>
                </a:solidFill>
              </a:rPr>
              <a:t>items for sale</a:t>
            </a:r>
            <a:endParaRPr lang="en-US" sz="3000" dirty="0"/>
          </a:p>
        </p:txBody>
      </p:sp>
      <p:sp>
        <p:nvSpPr>
          <p:cNvPr id="19" name="Stat card 4"/>
          <p:cNvSpPr txBox="1"/>
          <p:nvPr/>
        </p:nvSpPr>
        <p:spPr>
          <a:xfrm>
            <a:off x="6766560" y="2606040"/>
            <a:ext cx="1920240" cy="1280160"/>
          </a:xfrm>
          <a:prstGeom prst="rect">
            <a:avLst/>
          </a:prstGeom>
          <a:solidFill>
            <a:schemeClr val="bg1"/>
          </a:solidFill>
          <a:ln w="12700">
            <a:solidFill>
              <a:schemeClr val="accent6"/>
            </a:solidFill>
          </a:ln>
        </p:spPr>
        <p:txBody>
          <a:bodyPr wrap="square" lIns="101600" tIns="101600" rIns="101600" bIns="101600" rtlCol="0" anchor="ctr"/>
          <a:lstStyle/>
          <a:p>
            <a:pPr algn="l" indent="0" marL="0">
              <a:buNone/>
            </a:pPr>
            <a:r>
              <a:rPr lang="en-US" sz="3000" b="1" dirty="0">
                <a:solidFill>
                  <a:schemeClr val="tx2"/>
                </a:solidFill>
              </a:rPr>
              <a:t>150 bn</a:t>
            </a:r>
            <a:endParaRPr lang="en-US" sz="3000" dirty="0"/>
          </a:p>
          <a:p>
            <a:pPr algn="l" indent="0" marL="0">
              <a:buNone/>
            </a:pPr>
            <a:r>
              <a:rPr lang="en-US" sz="1500" dirty="0">
                <a:solidFill>
                  <a:schemeClr val="tx1"/>
                </a:solidFill>
              </a:rPr>
              <a:t>new log records a day (2009)</a:t>
            </a:r>
            <a:endParaRPr lang="en-US" sz="3000" dirty="0"/>
          </a:p>
        </p:txBody>
      </p:sp>
      <p:sp>
        <p:nvSpPr>
          <p:cNvPr id="20" name="So-what callout"/>
          <p:cNvSpPr txBox="1"/>
          <p:nvPr/>
        </p:nvSpPr>
        <p:spPr>
          <a:xfrm>
            <a:off x="457200" y="4069080"/>
            <a:ext cx="8229600" cy="457200"/>
          </a:xfrm>
          <a:prstGeom prst="roundRect">
            <a:avLst>
              <a:gd name="adj" fmla="val 12000"/>
            </a:avLst>
          </a:prstGeom>
          <a:solidFill>
            <a:schemeClr val="accent4"/>
          </a:solidFill>
          <a:ln w="12700">
            <a:solidFill>
              <a:schemeClr val="accent2"/>
            </a:solidFill>
          </a:ln>
        </p:spPr>
        <p:txBody>
          <a:bodyPr wrap="square" lIns="76200" tIns="76200" rIns="76200" bIns="76200" rtlCol="0" anchor="ctr"/>
          <a:lstStyle/>
          <a:p>
            <a:pPr algn="l" indent="0" marL="0">
              <a:buNone/>
            </a:pPr>
            <a:r>
              <a:rPr lang="en-US" sz="1600" b="1" dirty="0">
                <a:solidFill>
                  <a:schemeClr val="tx1"/>
                </a:solidFill>
              </a:rPr>
              <a:t>By 2009 the hard part was no longer collecting data, but storing and analysing it.</a:t>
            </a:r>
            <a:endParaRPr lang="en-US" sz="1600" dirty="0"/>
          </a:p>
        </p:txBody>
      </p:sp>
      <p:sp>
        <p:nvSpPr>
          <p:cNvPr id="21"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Hadoop and HBase @ eBay (c. 2013); Monash (2009).</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eBay's data shows all five Vs, and each one pushes past a single database</a:t>
            </a:r>
            <a:endParaRPr lang="en-US" sz="2400" dirty="0"/>
          </a:p>
        </p:txBody>
      </p:sp>
      <p:sp>
        <p:nvSpPr>
          <p:cNvPr id="4" name="Definition"/>
          <p:cNvSpPr txBox="1"/>
          <p:nvPr/>
        </p:nvSpPr>
        <p:spPr>
          <a:xfrm>
            <a:off x="457200" y="1024128"/>
            <a:ext cx="8229600" cy="292608"/>
          </a:xfrm>
          <a:prstGeom prst="rect">
            <a:avLst/>
          </a:prstGeom>
          <a:noFill/>
          <a:ln/>
        </p:spPr>
        <p:txBody>
          <a:bodyPr wrap="square" lIns="0" tIns="0" rIns="0" bIns="0" rtlCol="0" anchor="t"/>
          <a:lstStyle/>
          <a:p>
            <a:pPr algn="l" indent="0" marL="0">
              <a:buNone/>
            </a:pPr>
            <a:r>
              <a:rPr lang="en-US" sz="1500" i="1" dirty="0">
                <a:solidFill>
                  <a:schemeClr val="tx2"/>
                </a:solidFill>
              </a:rPr>
              <a:t>Big Data: data too large, too fast or too varied for one ordinary database to store and process.</a:t>
            </a:r>
            <a:endParaRPr lang="en-US" sz="1500" dirty="0"/>
          </a:p>
        </p:txBody>
      </p:sp>
      <p:graphicFrame>
        <p:nvGraphicFramePr>
          <p:cNvPr id="4" name="5 Vs table"/>
          <p:cNvGraphicFramePr>
            <a:graphicFrameLocks noGrp="1"/>
          </p:cNvGraphicFramePr>
          <p:nvPr>
            <p:extLst>
              <p:ext uri="{D42A27DB-BD31-4B8C-83A1-F6EECF244321}">
                <p14:modId xmlns:p14="http://schemas.microsoft.com/office/powerpoint/2010/main" val="1579011935"/>
              </p:ext>
            </p:extLst>
          </p:nvPr>
        </p:nvGraphicFramePr>
        <p:xfrm>
          <a:off x="457200" y="1389888"/>
          <a:ext cx="8229600" cy="914400"/>
        </p:xfrm>
        <a:graphic>
          <a:graphicData uri="http://schemas.openxmlformats.org/drawingml/2006/table">
            <a:tbl>
              <a:tblPr/>
              <a:tblGrid>
                <a:gridCol w="1143000"/>
                <a:gridCol w="4206240"/>
                <a:gridCol w="2880360"/>
              </a:tblGrid>
              <a:tr h="329184">
                <a:tc>
                  <a:txBody>
                    <a:bodyPr/>
                    <a:lstStyle/>
                    <a:p>
                      <a:pPr indent="0" marL="0">
                        <a:buNone/>
                      </a:pPr>
                      <a:r>
                        <a:rPr lang="en-US" sz="1500" b="1" dirty="0">
                          <a:solidFill>
                            <a:schemeClr val="bg1"/>
                          </a:solidFill>
                        </a:rPr>
                        <a:t>V</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eBay evidence</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Why one database struggles</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r>
              <a:tr h="475488">
                <a:tc>
                  <a:txBody>
                    <a:bodyPr/>
                    <a:lstStyle/>
                    <a:p>
                      <a:pPr indent="0" marL="0">
                        <a:buNone/>
                      </a:pPr>
                      <a:r>
                        <a:rPr lang="en-US" sz="1500" b="1" dirty="0">
                          <a:solidFill>
                            <a:schemeClr val="tx2"/>
                          </a:solidFill>
                        </a:rPr>
                        <a:t>Volume</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8–10 TB of new data a day into the first big Hadoop cluster</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One machine's disks and CPUs run out</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75488">
                <a:tc>
                  <a:txBody>
                    <a:bodyPr/>
                    <a:lstStyle/>
                    <a:p>
                      <a:pPr indent="0" marL="0">
                        <a:buNone/>
                      </a:pPr>
                      <a:r>
                        <a:rPr lang="en-US" sz="1500" b="1" dirty="0">
                          <a:solidFill>
                            <a:schemeClr val="tx2"/>
                          </a:solidFill>
                        </a:rPr>
                        <a:t>Velocity</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150 billion new log records a day (2009); 400M+ Cassandra writes a day</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Data arrives faster than it can be loaded</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75488">
                <a:tc>
                  <a:txBody>
                    <a:bodyPr/>
                    <a:lstStyle/>
                    <a:p>
                      <a:pPr indent="0" marL="0">
                        <a:buNone/>
                      </a:pPr>
                      <a:r>
                        <a:rPr lang="en-US" sz="1500" b="1" dirty="0">
                          <a:solidFill>
                            <a:schemeClr val="tx2"/>
                          </a:solidFill>
                        </a:rPr>
                        <a:t>Variety</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accent4"/>
                    </a:solidFill>
                  </a:tcPr>
                </a:tc>
                <a:tc>
                  <a:txBody>
                    <a:bodyPr/>
                    <a:lstStyle/>
                    <a:p>
                      <a:pPr indent="0" marL="0">
                        <a:buNone/>
                      </a:pPr>
                      <a:r>
                        <a:rPr lang="en-US" sz="1400" dirty="0">
                          <a:solidFill>
                            <a:schemeClr val="tx1"/>
                          </a:solidFill>
                        </a:rPr>
                        <a:t>Logs, clicks, orders, images; logs packed as name=value text in one column</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A fixed schema cannot hold every format</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75488">
                <a:tc>
                  <a:txBody>
                    <a:bodyPr/>
                    <a:lstStyle/>
                    <a:p>
                      <a:pPr indent="0" marL="0">
                        <a:buNone/>
                      </a:pPr>
                      <a:r>
                        <a:rPr lang="en-US" sz="1500" b="1" dirty="0">
                          <a:solidFill>
                            <a:schemeClr val="tx2"/>
                          </a:solidFill>
                        </a:rPr>
                        <a:t>Veracity</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Fraud-detection time series in Cassandra help flag fake activity</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Fake or noisy records must be caught first</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75488">
                <a:tc>
                  <a:txBody>
                    <a:bodyPr/>
                    <a:lstStyle/>
                    <a:p>
                      <a:pPr indent="0" marL="0">
                        <a:buNone/>
                      </a:pPr>
                      <a:r>
                        <a:rPr lang="en-US" sz="1500" b="1" dirty="0">
                          <a:solidFill>
                            <a:schemeClr val="tx2"/>
                          </a:solidFill>
                        </a:rPr>
                        <a:t>Value</a:t>
                      </a:r>
                      <a:endParaRPr lang="en-US" sz="15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Search ranking, recommendations and dashboards turn data into sales</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Value comes only if all data is analysed</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6" name="So-what callout"/>
          <p:cNvSpPr txBox="1"/>
          <p:nvPr/>
        </p:nvSpPr>
        <p:spPr>
          <a:xfrm>
            <a:off x="457200" y="4187952"/>
            <a:ext cx="8229600" cy="420624"/>
          </a:xfrm>
          <a:prstGeom prst="roundRect">
            <a:avLst>
              <a:gd name="adj" fmla="val 13043"/>
            </a:avLst>
          </a:prstGeom>
          <a:solidFill>
            <a:schemeClr val="accent4"/>
          </a:solidFill>
          <a:ln w="12700">
            <a:solidFill>
              <a:schemeClr val="accent2"/>
            </a:solidFill>
          </a:ln>
        </p:spPr>
        <p:txBody>
          <a:bodyPr wrap="square" lIns="76200" tIns="76200" rIns="76200" bIns="76200" rtlCol="0" anchor="ctr"/>
          <a:lstStyle/>
          <a:p>
            <a:pPr algn="l" indent="0" marL="0">
              <a:buNone/>
            </a:pPr>
            <a:r>
              <a:rPr lang="en-US" sz="1600" b="1" dirty="0">
                <a:solidFill>
                  <a:schemeClr val="tx1"/>
                </a:solidFill>
              </a:rPr>
              <a:t>So what: Volume and Variety strain a fixed-schema SQL warehouse most.</a:t>
            </a:r>
            <a:endParaRPr lang="en-US" sz="1600" dirty="0"/>
          </a:p>
        </p:txBody>
      </p:sp>
      <p:sp>
        <p:nvSpPr>
          <p:cNvPr id="7"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Monash (2009); Hadoop: The Power of the Elephant (eBay, n.d.); Cassandra at eBay (Patel, 2012).</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eBay's SQL warehouses ran into four problems as the data grew</a:t>
            </a:r>
            <a:endParaRPr lang="en-US" sz="2400" dirty="0"/>
          </a:p>
        </p:txBody>
      </p:sp>
      <p:sp>
        <p:nvSpPr>
          <p:cNvPr id="4" name="Scale 1"/>
          <p:cNvSpPr txBox="1"/>
          <p:nvPr/>
        </p:nvSpPr>
        <p:spPr>
          <a:xfrm>
            <a:off x="457200" y="1005840"/>
            <a:ext cx="2011680" cy="548640"/>
          </a:xfrm>
          <a:prstGeom prst="rect">
            <a:avLst/>
          </a:prstGeom>
          <a:noFill/>
          <a:ln/>
        </p:spPr>
        <p:txBody>
          <a:bodyPr wrap="square" lIns="0" tIns="0" rIns="0" bIns="0" rtlCol="0" anchor="t"/>
          <a:lstStyle/>
          <a:p>
            <a:pPr algn="l" indent="0" marL="0">
              <a:buNone/>
            </a:pPr>
            <a:r>
              <a:rPr lang="en-US" sz="2000" b="1" dirty="0">
                <a:solidFill>
                  <a:schemeClr val="tx2"/>
                </a:solidFill>
              </a:rPr>
              <a:t>6.5 PB</a:t>
            </a:r>
            <a:endParaRPr lang="en-US" sz="2000" dirty="0"/>
          </a:p>
          <a:p>
            <a:pPr algn="l" indent="0" marL="0">
              <a:buNone/>
            </a:pPr>
            <a:r>
              <a:rPr lang="en-US" sz="1300" dirty="0">
                <a:solidFill>
                  <a:schemeClr val="tx1"/>
                </a:solidFill>
              </a:rPr>
              <a:t>in Greenplum (2009)</a:t>
            </a:r>
            <a:endParaRPr lang="en-US" sz="2000" dirty="0"/>
          </a:p>
        </p:txBody>
      </p:sp>
      <p:sp>
        <p:nvSpPr>
          <p:cNvPr id="5" name="Scale 2"/>
          <p:cNvSpPr txBox="1"/>
          <p:nvPr/>
        </p:nvSpPr>
        <p:spPr>
          <a:xfrm>
            <a:off x="2560320" y="1005840"/>
            <a:ext cx="2011680" cy="548640"/>
          </a:xfrm>
          <a:prstGeom prst="rect">
            <a:avLst/>
          </a:prstGeom>
          <a:noFill/>
          <a:ln/>
        </p:spPr>
        <p:txBody>
          <a:bodyPr wrap="square" lIns="0" tIns="0" rIns="0" bIns="0" rtlCol="0" anchor="t"/>
          <a:lstStyle/>
          <a:p>
            <a:pPr algn="l" indent="0" marL="0">
              <a:buNone/>
            </a:pPr>
            <a:r>
              <a:rPr lang="en-US" sz="2000" b="1" dirty="0">
                <a:solidFill>
                  <a:schemeClr val="tx2"/>
                </a:solidFill>
              </a:rPr>
              <a:t>17 trillion</a:t>
            </a:r>
            <a:endParaRPr lang="en-US" sz="2000" dirty="0"/>
          </a:p>
          <a:p>
            <a:pPr algn="l" indent="0" marL="0">
              <a:buNone/>
            </a:pPr>
            <a:r>
              <a:rPr lang="en-US" sz="1300" dirty="0">
                <a:solidFill>
                  <a:schemeClr val="tx1"/>
                </a:solidFill>
              </a:rPr>
              <a:t>records in it</a:t>
            </a:r>
            <a:endParaRPr lang="en-US" sz="2000" dirty="0"/>
          </a:p>
        </p:txBody>
      </p:sp>
      <p:sp>
        <p:nvSpPr>
          <p:cNvPr id="6" name="Scale 3"/>
          <p:cNvSpPr txBox="1"/>
          <p:nvPr/>
        </p:nvSpPr>
        <p:spPr>
          <a:xfrm>
            <a:off x="4663440" y="1005840"/>
            <a:ext cx="2011680" cy="548640"/>
          </a:xfrm>
          <a:prstGeom prst="rect">
            <a:avLst/>
          </a:prstGeom>
          <a:noFill/>
          <a:ln/>
        </p:spPr>
        <p:txBody>
          <a:bodyPr wrap="square" lIns="0" tIns="0" rIns="0" bIns="0" rtlCol="0" anchor="t"/>
          <a:lstStyle/>
          <a:p>
            <a:pPr algn="l" indent="0" marL="0">
              <a:buNone/>
            </a:pPr>
            <a:r>
              <a:rPr lang="en-US" sz="2000" b="1" dirty="0">
                <a:solidFill>
                  <a:schemeClr val="tx2"/>
                </a:solidFill>
              </a:rPr>
              <a:t>150 bn</a:t>
            </a:r>
            <a:endParaRPr lang="en-US" sz="2000" dirty="0"/>
          </a:p>
          <a:p>
            <a:pPr algn="l" indent="0" marL="0">
              <a:buNone/>
            </a:pPr>
            <a:r>
              <a:rPr lang="en-US" sz="1300" dirty="0">
                <a:solidFill>
                  <a:schemeClr val="tx1"/>
                </a:solidFill>
              </a:rPr>
              <a:t>new records a day</a:t>
            </a:r>
            <a:endParaRPr lang="en-US" sz="2000" dirty="0"/>
          </a:p>
        </p:txBody>
      </p:sp>
      <p:sp>
        <p:nvSpPr>
          <p:cNvPr id="7" name="Scale 4"/>
          <p:cNvSpPr txBox="1"/>
          <p:nvPr/>
        </p:nvSpPr>
        <p:spPr>
          <a:xfrm>
            <a:off x="6766560" y="1005840"/>
            <a:ext cx="2011680" cy="548640"/>
          </a:xfrm>
          <a:prstGeom prst="rect">
            <a:avLst/>
          </a:prstGeom>
          <a:noFill/>
          <a:ln/>
        </p:spPr>
        <p:txBody>
          <a:bodyPr wrap="square" lIns="0" tIns="0" rIns="0" bIns="0" rtlCol="0" anchor="t"/>
          <a:lstStyle/>
          <a:p>
            <a:pPr algn="l" indent="0" marL="0">
              <a:buNone/>
            </a:pPr>
            <a:r>
              <a:rPr lang="en-US" sz="2000" b="1" dirty="0">
                <a:solidFill>
                  <a:schemeClr val="tx2"/>
                </a:solidFill>
              </a:rPr>
              <a:t>5,000+</a:t>
            </a:r>
            <a:endParaRPr lang="en-US" sz="2000" dirty="0"/>
          </a:p>
          <a:p>
            <a:pPr algn="l" indent="0" marL="0">
              <a:buNone/>
            </a:pPr>
            <a:r>
              <a:rPr lang="en-US" sz="1300" dirty="0">
                <a:solidFill>
                  <a:schemeClr val="tx1"/>
                </a:solidFill>
              </a:rPr>
              <a:t>analysts (2010)</a:t>
            </a:r>
            <a:endParaRPr lang="en-US" sz="2000" dirty="0"/>
          </a:p>
        </p:txBody>
      </p:sp>
      <p:sp>
        <p:nvSpPr>
          <p:cNvPr id="8" name="Problem card 1"/>
          <p:cNvSpPr/>
          <p:nvPr/>
        </p:nvSpPr>
        <p:spPr>
          <a:xfrm>
            <a:off x="457200" y="1645920"/>
            <a:ext cx="4023360" cy="1097280"/>
          </a:xfrm>
          <a:prstGeom prst="rect">
            <a:avLst/>
          </a:prstGeom>
          <a:solidFill>
            <a:schemeClr val="bg2"/>
          </a:solidFill>
          <a:ln w="12700">
            <a:solidFill>
              <a:schemeClr val="accent1"/>
            </a:solidFill>
            <a:prstDash val="solid"/>
          </a:ln>
        </p:spPr>
      </p:sp>
      <p:sp>
        <p:nvSpPr>
          <p:cNvPr id="9" name="Problem heading 1"/>
          <p:cNvSpPr txBox="1"/>
          <p:nvPr/>
        </p:nvSpPr>
        <p:spPr>
          <a:xfrm>
            <a:off x="594360" y="1719072"/>
            <a:ext cx="3749040" cy="292608"/>
          </a:xfrm>
          <a:prstGeom prst="rect">
            <a:avLst/>
          </a:prstGeom>
          <a:noFill/>
          <a:ln/>
        </p:spPr>
        <p:txBody>
          <a:bodyPr wrap="square" lIns="0" tIns="0" rIns="0" bIns="0" rtlCol="0" anchor="t"/>
          <a:lstStyle/>
          <a:p>
            <a:pPr algn="l" indent="0" marL="0">
              <a:buNone/>
            </a:pPr>
            <a:r>
              <a:rPr lang="en-US" sz="1600" b="1" dirty="0">
                <a:solidFill>
                  <a:schemeClr val="accent1"/>
                </a:solidFill>
              </a:rPr>
              <a:t>1  Copies everywhere</a:t>
            </a:r>
            <a:endParaRPr lang="en-US" sz="1600" dirty="0"/>
          </a:p>
        </p:txBody>
      </p:sp>
      <p:sp>
        <p:nvSpPr>
          <p:cNvPr id="10" name="Problem detail 1"/>
          <p:cNvSpPr txBox="1"/>
          <p:nvPr/>
        </p:nvSpPr>
        <p:spPr>
          <a:xfrm>
            <a:off x="594360" y="2029968"/>
            <a:ext cx="3749040" cy="713232"/>
          </a:xfrm>
          <a:prstGeom prst="rect">
            <a:avLst/>
          </a:prstGeom>
          <a:noFill/>
          <a:ln/>
        </p:spPr>
        <p:txBody>
          <a:bodyPr wrap="square" lIns="0" tIns="0" rIns="0" bIns="0" rtlCol="0" anchor="t"/>
          <a:lstStyle/>
          <a:p>
            <a:pPr algn="l" indent="0" marL="0">
              <a:buNone/>
            </a:pPr>
            <a:r>
              <a:rPr lang="en-US" sz="1400" dirty="0">
                <a:solidFill>
                  <a:schemeClr val="tx1"/>
                </a:solidFill>
              </a:rPr>
              <a:t>Each team had its own data mart: 10–20× wasted storage, 10–20% of hardware used, 40+ staff to run them.</a:t>
            </a:r>
            <a:endParaRPr lang="en-US" sz="1400" dirty="0"/>
          </a:p>
        </p:txBody>
      </p:sp>
      <p:sp>
        <p:nvSpPr>
          <p:cNvPr id="11" name="Problem card 2"/>
          <p:cNvSpPr/>
          <p:nvPr/>
        </p:nvSpPr>
        <p:spPr>
          <a:xfrm>
            <a:off x="4663440" y="1645920"/>
            <a:ext cx="4023360" cy="1097280"/>
          </a:xfrm>
          <a:prstGeom prst="rect">
            <a:avLst/>
          </a:prstGeom>
          <a:solidFill>
            <a:schemeClr val="bg2"/>
          </a:solidFill>
          <a:ln w="12700">
            <a:solidFill>
              <a:schemeClr val="accent1"/>
            </a:solidFill>
            <a:prstDash val="solid"/>
          </a:ln>
        </p:spPr>
      </p:sp>
      <p:sp>
        <p:nvSpPr>
          <p:cNvPr id="12" name="Problem heading 2"/>
          <p:cNvSpPr txBox="1"/>
          <p:nvPr/>
        </p:nvSpPr>
        <p:spPr>
          <a:xfrm>
            <a:off x="4800600" y="1719072"/>
            <a:ext cx="3749040" cy="292608"/>
          </a:xfrm>
          <a:prstGeom prst="rect">
            <a:avLst/>
          </a:prstGeom>
          <a:noFill/>
          <a:ln/>
        </p:spPr>
        <p:txBody>
          <a:bodyPr wrap="square" lIns="0" tIns="0" rIns="0" bIns="0" rtlCol="0" anchor="t"/>
          <a:lstStyle/>
          <a:p>
            <a:pPr algn="l" indent="0" marL="0">
              <a:buNone/>
            </a:pPr>
            <a:r>
              <a:rPr lang="en-US" sz="1600" b="1" dirty="0">
                <a:solidFill>
                  <a:schemeClr val="accent1"/>
                </a:solidFill>
              </a:rPr>
              <a:t>2  Rigid design</a:t>
            </a:r>
            <a:endParaRPr lang="en-US" sz="1600" dirty="0"/>
          </a:p>
        </p:txBody>
      </p:sp>
      <p:sp>
        <p:nvSpPr>
          <p:cNvPr id="13" name="Problem detail 2"/>
          <p:cNvSpPr txBox="1"/>
          <p:nvPr/>
        </p:nvSpPr>
        <p:spPr>
          <a:xfrm>
            <a:off x="4800600" y="2029968"/>
            <a:ext cx="3749040" cy="713232"/>
          </a:xfrm>
          <a:prstGeom prst="rect">
            <a:avLst/>
          </a:prstGeom>
          <a:noFill/>
          <a:ln/>
        </p:spPr>
        <p:txBody>
          <a:bodyPr wrap="square" lIns="0" tIns="0" rIns="0" bIns="0" rtlCol="0" anchor="t"/>
          <a:lstStyle/>
          <a:p>
            <a:pPr algn="l" indent="0" marL="0">
              <a:buNone/>
            </a:pPr>
            <a:r>
              <a:rPr lang="en-US" sz="1400" dirty="0">
                <a:solidFill>
                  <a:schemeClr val="tx1"/>
                </a:solidFill>
              </a:rPr>
              <a:t>85%+ of analysis was new questions, but a warehouse schema must be designed in advance.</a:t>
            </a:r>
            <a:endParaRPr lang="en-US" sz="1400" dirty="0"/>
          </a:p>
        </p:txBody>
      </p:sp>
      <p:sp>
        <p:nvSpPr>
          <p:cNvPr id="14" name="Problem card 3"/>
          <p:cNvSpPr/>
          <p:nvPr/>
        </p:nvSpPr>
        <p:spPr>
          <a:xfrm>
            <a:off x="457200" y="2834640"/>
            <a:ext cx="4023360" cy="1097280"/>
          </a:xfrm>
          <a:prstGeom prst="rect">
            <a:avLst/>
          </a:prstGeom>
          <a:solidFill>
            <a:schemeClr val="bg2"/>
          </a:solidFill>
          <a:ln w="12700">
            <a:solidFill>
              <a:schemeClr val="accent1"/>
            </a:solidFill>
            <a:prstDash val="solid"/>
          </a:ln>
        </p:spPr>
      </p:sp>
      <p:sp>
        <p:nvSpPr>
          <p:cNvPr id="15" name="Problem heading 3"/>
          <p:cNvSpPr txBox="1"/>
          <p:nvPr/>
        </p:nvSpPr>
        <p:spPr>
          <a:xfrm>
            <a:off x="594360" y="2907792"/>
            <a:ext cx="3749040" cy="292608"/>
          </a:xfrm>
          <a:prstGeom prst="rect">
            <a:avLst/>
          </a:prstGeom>
          <a:noFill/>
          <a:ln/>
        </p:spPr>
        <p:txBody>
          <a:bodyPr wrap="square" lIns="0" tIns="0" rIns="0" bIns="0" rtlCol="0" anchor="t"/>
          <a:lstStyle/>
          <a:p>
            <a:pPr algn="l" indent="0" marL="0">
              <a:buNone/>
            </a:pPr>
            <a:r>
              <a:rPr lang="en-US" sz="1600" b="1" dirty="0">
                <a:solidFill>
                  <a:schemeClr val="accent1"/>
                </a:solidFill>
              </a:rPr>
              <a:t>3  Semi-structured logs</a:t>
            </a:r>
            <a:endParaRPr lang="en-US" sz="1600" dirty="0"/>
          </a:p>
        </p:txBody>
      </p:sp>
      <p:sp>
        <p:nvSpPr>
          <p:cNvPr id="16" name="Problem detail 3"/>
          <p:cNvSpPr txBox="1"/>
          <p:nvPr/>
        </p:nvSpPr>
        <p:spPr>
          <a:xfrm>
            <a:off x="594360" y="3218688"/>
            <a:ext cx="3749040" cy="713232"/>
          </a:xfrm>
          <a:prstGeom prst="rect">
            <a:avLst/>
          </a:prstGeom>
          <a:noFill/>
          <a:ln/>
        </p:spPr>
        <p:txBody>
          <a:bodyPr wrap="square" lIns="0" tIns="0" rIns="0" bIns="0" rtlCol="0" anchor="t"/>
          <a:lstStyle/>
          <a:p>
            <a:pPr algn="l" indent="0" marL="0">
              <a:buNone/>
            </a:pPr>
            <a:r>
              <a:rPr lang="en-US" sz="1400" dirty="0">
                <a:solidFill>
                  <a:schemeClr val="tx1"/>
                </a:solidFill>
              </a:rPr>
              <a:t>Logs are name=value pairs; uncommon ones were packed into one big text column.</a:t>
            </a:r>
            <a:endParaRPr lang="en-US" sz="1400" dirty="0"/>
          </a:p>
        </p:txBody>
      </p:sp>
      <p:sp>
        <p:nvSpPr>
          <p:cNvPr id="17" name="Problem card 4"/>
          <p:cNvSpPr/>
          <p:nvPr/>
        </p:nvSpPr>
        <p:spPr>
          <a:xfrm>
            <a:off x="4663440" y="2834640"/>
            <a:ext cx="4023360" cy="1097280"/>
          </a:xfrm>
          <a:prstGeom prst="rect">
            <a:avLst/>
          </a:prstGeom>
          <a:solidFill>
            <a:schemeClr val="bg2"/>
          </a:solidFill>
          <a:ln w="12700">
            <a:solidFill>
              <a:schemeClr val="accent1"/>
            </a:solidFill>
            <a:prstDash val="solid"/>
          </a:ln>
        </p:spPr>
      </p:sp>
      <p:sp>
        <p:nvSpPr>
          <p:cNvPr id="18" name="Problem heading 4"/>
          <p:cNvSpPr txBox="1"/>
          <p:nvPr/>
        </p:nvSpPr>
        <p:spPr>
          <a:xfrm>
            <a:off x="4800600" y="2907792"/>
            <a:ext cx="3749040" cy="292608"/>
          </a:xfrm>
          <a:prstGeom prst="rect">
            <a:avLst/>
          </a:prstGeom>
          <a:noFill/>
          <a:ln/>
        </p:spPr>
        <p:txBody>
          <a:bodyPr wrap="square" lIns="0" tIns="0" rIns="0" bIns="0" rtlCol="0" anchor="t"/>
          <a:lstStyle/>
          <a:p>
            <a:pPr algn="l" indent="0" marL="0">
              <a:buNone/>
            </a:pPr>
            <a:r>
              <a:rPr lang="en-US" sz="1600" b="1" dirty="0">
                <a:solidFill>
                  <a:schemeClr val="accent1"/>
                </a:solidFill>
              </a:rPr>
              <a:t>4  Scale and reliability</a:t>
            </a:r>
            <a:endParaRPr lang="en-US" sz="1600" dirty="0"/>
          </a:p>
        </p:txBody>
      </p:sp>
      <p:sp>
        <p:nvSpPr>
          <p:cNvPr id="19" name="Problem detail 4"/>
          <p:cNvSpPr txBox="1"/>
          <p:nvPr/>
        </p:nvSpPr>
        <p:spPr>
          <a:xfrm>
            <a:off x="4800600" y="3218688"/>
            <a:ext cx="3749040" cy="713232"/>
          </a:xfrm>
          <a:prstGeom prst="rect">
            <a:avLst/>
          </a:prstGeom>
          <a:noFill/>
          <a:ln/>
        </p:spPr>
        <p:txBody>
          <a:bodyPr wrap="square" lIns="0" tIns="0" rIns="0" bIns="0" rtlCol="0" anchor="t"/>
          <a:lstStyle/>
          <a:p>
            <a:pPr algn="l" indent="0" marL="0">
              <a:buNone/>
            </a:pPr>
            <a:r>
              <a:rPr lang="en-US" sz="1400" dirty="0">
                <a:solidFill>
                  <a:schemeClr val="tx1"/>
                </a:solidFill>
              </a:rPr>
              <a:t>Growing meant buying a bigger system; Greenplum was dropped in 2010, mainly over reliability.</a:t>
            </a:r>
            <a:endParaRPr lang="en-US" sz="1400" dirty="0"/>
          </a:p>
        </p:txBody>
      </p:sp>
      <p:sp>
        <p:nvSpPr>
          <p:cNvPr id="20" name="So-what callout"/>
          <p:cNvSpPr txBox="1"/>
          <p:nvPr/>
        </p:nvSpPr>
        <p:spPr>
          <a:xfrm>
            <a:off x="457200" y="4069080"/>
            <a:ext cx="8229600" cy="457200"/>
          </a:xfrm>
          <a:prstGeom prst="roundRect">
            <a:avLst>
              <a:gd name="adj" fmla="val 12000"/>
            </a:avLst>
          </a:prstGeom>
          <a:solidFill>
            <a:schemeClr val="accent4"/>
          </a:solidFill>
          <a:ln w="12700">
            <a:solidFill>
              <a:schemeClr val="accent2"/>
            </a:solidFill>
          </a:ln>
        </p:spPr>
        <p:txBody>
          <a:bodyPr wrap="square" lIns="76200" tIns="76200" rIns="76200" bIns="76200" rtlCol="0" anchor="ctr"/>
          <a:lstStyle/>
          <a:p>
            <a:pPr algn="l" indent="0" marL="0">
              <a:buNone/>
            </a:pPr>
            <a:r>
              <a:rPr lang="en-US" sz="1600" b="1" dirty="0">
                <a:solidFill>
                  <a:schemeClr val="tx1"/>
                </a:solidFill>
              </a:rPr>
              <a:t>So eBay needed cheap, schema-free storage that grows by adding machines.</a:t>
            </a:r>
            <a:endParaRPr lang="en-US" sz="1600" dirty="0"/>
          </a:p>
        </p:txBody>
      </p:sp>
      <p:sp>
        <p:nvSpPr>
          <p:cNvPr id="21"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Monash (2009, 2010); Ratzesberger (2010).</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eBay kept SQL warehouses beside Hadoop because each was best at a different job</a:t>
            </a:r>
            <a:endParaRPr lang="en-US" sz="2400" dirty="0"/>
          </a:p>
        </p:txBody>
      </p:sp>
      <p:sp>
        <p:nvSpPr>
          <p:cNvPr id="4" name="System card 1"/>
          <p:cNvSpPr/>
          <p:nvPr/>
        </p:nvSpPr>
        <p:spPr>
          <a:xfrm>
            <a:off x="457200" y="1051560"/>
            <a:ext cx="2624328" cy="2148840"/>
          </a:xfrm>
          <a:prstGeom prst="rect">
            <a:avLst/>
          </a:prstGeom>
          <a:solidFill>
            <a:schemeClr val="accent4"/>
          </a:solidFill>
          <a:ln w="12700">
            <a:solidFill>
              <a:schemeClr val="accent2"/>
            </a:solidFill>
            <a:prstDash val="solid"/>
          </a:ln>
        </p:spPr>
      </p:sp>
      <p:sp>
        <p:nvSpPr>
          <p:cNvPr id="5" name="System name 1"/>
          <p:cNvSpPr txBox="1"/>
          <p:nvPr/>
        </p:nvSpPr>
        <p:spPr>
          <a:xfrm>
            <a:off x="594360" y="1143000"/>
            <a:ext cx="2377440" cy="320040"/>
          </a:xfrm>
          <a:prstGeom prst="rect">
            <a:avLst/>
          </a:prstGeom>
          <a:noFill/>
          <a:ln/>
        </p:spPr>
        <p:txBody>
          <a:bodyPr wrap="square" lIns="0" tIns="0" rIns="0" bIns="0" rtlCol="0" anchor="t"/>
          <a:lstStyle/>
          <a:p>
            <a:pPr algn="l" indent="0" marL="0">
              <a:buNone/>
            </a:pPr>
            <a:r>
              <a:rPr lang="en-US" sz="1700" b="1" dirty="0">
                <a:solidFill>
                  <a:schemeClr val="tx2"/>
                </a:solidFill>
              </a:rPr>
              <a:t>Teradata EDW  </a:t>
            </a:r>
            <a:pPr algn="l" indent="0" marL="0">
              <a:buNone/>
            </a:pPr>
            <a:r>
              <a:rPr lang="en-US" sz="1700" b="1" dirty="0">
                <a:solidFill>
                  <a:schemeClr val="accent2"/>
                </a:solidFill>
              </a:rPr>
              <a:t>7.5 PB</a:t>
            </a:r>
            <a:endParaRPr lang="en-US" sz="1700" dirty="0"/>
          </a:p>
        </p:txBody>
      </p:sp>
      <p:sp>
        <p:nvSpPr>
          <p:cNvPr id="6" name="System detail 1"/>
          <p:cNvSpPr txBox="1"/>
          <p:nvPr/>
        </p:nvSpPr>
        <p:spPr>
          <a:xfrm>
            <a:off x="594360" y="1536192"/>
            <a:ext cx="2377440" cy="1600200"/>
          </a:xfrm>
          <a:prstGeom prst="rect">
            <a:avLst/>
          </a:prstGeom>
          <a:noFill/>
          <a:ln/>
        </p:spPr>
        <p:txBody>
          <a:bodyPr wrap="square" lIns="0" tIns="0" rIns="0" bIns="0" rtlCol="0" anchor="t"/>
          <a:lstStyle/>
          <a:p>
            <a:pPr algn="l" indent="0" marL="0">
              <a:spcAft>
                <a:spcPts val="800"/>
              </a:spcAft>
              <a:buNone/>
            </a:pPr>
            <a:r>
              <a:rPr lang="en-US" sz="1400" b="1" dirty="0">
                <a:solidFill>
                  <a:schemeClr val="tx2"/>
                </a:solidFill>
              </a:rPr>
              <a:t>Holds: </a:t>
            </a:r>
            <a:pPr algn="l" indent="0" marL="0">
              <a:spcAft>
                <a:spcPts val="800"/>
              </a:spcAft>
              <a:buNone/>
            </a:pPr>
            <a:r>
              <a:rPr lang="en-US" sz="1400" dirty="0">
                <a:solidFill>
                  <a:schemeClr val="tx1"/>
                </a:solidFill>
              </a:rPr>
              <a:t>Structured transactions in a relational model</a:t>
            </a:r>
            <a:endParaRPr lang="en-US" sz="1400" dirty="0"/>
          </a:p>
          <a:p>
            <a:pPr algn="l" indent="0" marL="0">
              <a:spcAft>
                <a:spcPts val="800"/>
              </a:spcAft>
              <a:buNone/>
            </a:pPr>
            <a:r>
              <a:rPr lang="en-US" sz="1400" b="1" dirty="0">
                <a:solidFill>
                  <a:schemeClr val="tx2"/>
                </a:solidFill>
              </a:rPr>
              <a:t>Best at: </a:t>
            </a:r>
            <a:pPr algn="l" indent="0" marL="0">
              <a:spcAft>
                <a:spcPts val="800"/>
              </a:spcAft>
              <a:buNone/>
            </a:pPr>
            <a:r>
              <a:rPr lang="en-US" sz="1400" dirty="0">
                <a:solidFill>
                  <a:schemeClr val="tx1"/>
                </a:solidFill>
              </a:rPr>
              <a:t>Thousands of analysts at once; fast SQL joins; BI tools</a:t>
            </a:r>
            <a:endParaRPr lang="en-US" sz="1400" dirty="0"/>
          </a:p>
        </p:txBody>
      </p:sp>
      <p:sp>
        <p:nvSpPr>
          <p:cNvPr id="7" name="System card 2"/>
          <p:cNvSpPr/>
          <p:nvPr/>
        </p:nvSpPr>
        <p:spPr>
          <a:xfrm>
            <a:off x="3264408" y="1051560"/>
            <a:ext cx="2624328" cy="2148840"/>
          </a:xfrm>
          <a:prstGeom prst="rect">
            <a:avLst/>
          </a:prstGeom>
          <a:solidFill>
            <a:schemeClr val="accent4"/>
          </a:solidFill>
          <a:ln w="12700">
            <a:solidFill>
              <a:schemeClr val="accent2"/>
            </a:solidFill>
            <a:prstDash val="solid"/>
          </a:ln>
        </p:spPr>
      </p:sp>
      <p:sp>
        <p:nvSpPr>
          <p:cNvPr id="8" name="System name 2"/>
          <p:cNvSpPr txBox="1"/>
          <p:nvPr/>
        </p:nvSpPr>
        <p:spPr>
          <a:xfrm>
            <a:off x="3401568" y="1143000"/>
            <a:ext cx="2377440" cy="320040"/>
          </a:xfrm>
          <a:prstGeom prst="rect">
            <a:avLst/>
          </a:prstGeom>
          <a:noFill/>
          <a:ln/>
        </p:spPr>
        <p:txBody>
          <a:bodyPr wrap="square" lIns="0" tIns="0" rIns="0" bIns="0" rtlCol="0" anchor="t"/>
          <a:lstStyle/>
          <a:p>
            <a:pPr algn="l" indent="0" marL="0">
              <a:buNone/>
            </a:pPr>
            <a:r>
              <a:rPr lang="en-US" sz="1700" b="1" dirty="0">
                <a:solidFill>
                  <a:schemeClr val="tx2"/>
                </a:solidFill>
              </a:rPr>
              <a:t>Singularity  </a:t>
            </a:r>
            <a:pPr algn="l" indent="0" marL="0">
              <a:buNone/>
            </a:pPr>
            <a:r>
              <a:rPr lang="en-US" sz="1700" b="1" dirty="0">
                <a:solidFill>
                  <a:schemeClr val="accent2"/>
                </a:solidFill>
              </a:rPr>
              <a:t>40 PB</a:t>
            </a:r>
            <a:endParaRPr lang="en-US" sz="1700" dirty="0"/>
          </a:p>
        </p:txBody>
      </p:sp>
      <p:sp>
        <p:nvSpPr>
          <p:cNvPr id="9" name="System detail 2"/>
          <p:cNvSpPr txBox="1"/>
          <p:nvPr/>
        </p:nvSpPr>
        <p:spPr>
          <a:xfrm>
            <a:off x="3401568" y="1536192"/>
            <a:ext cx="2377440" cy="1600200"/>
          </a:xfrm>
          <a:prstGeom prst="rect">
            <a:avLst/>
          </a:prstGeom>
          <a:noFill/>
          <a:ln/>
        </p:spPr>
        <p:txBody>
          <a:bodyPr wrap="square" lIns="0" tIns="0" rIns="0" bIns="0" rtlCol="0" anchor="t"/>
          <a:lstStyle/>
          <a:p>
            <a:pPr algn="l" indent="0" marL="0">
              <a:spcAft>
                <a:spcPts val="800"/>
              </a:spcAft>
              <a:buNone/>
            </a:pPr>
            <a:r>
              <a:rPr lang="en-US" sz="1400" b="1" dirty="0">
                <a:solidFill>
                  <a:schemeClr val="tx2"/>
                </a:solidFill>
              </a:rPr>
              <a:t>Holds: </a:t>
            </a:r>
            <a:pPr algn="l" indent="0" marL="0">
              <a:spcAft>
                <a:spcPts val="800"/>
              </a:spcAft>
              <a:buNone/>
            </a:pPr>
            <a:r>
              <a:rPr lang="en-US" sz="1400" dirty="0">
                <a:solidFill>
                  <a:schemeClr val="tx1"/>
                </a:solidFill>
              </a:rPr>
              <a:t>Semi-structured user-behaviour data (name=value logs)</a:t>
            </a:r>
            <a:endParaRPr lang="en-US" sz="1400" dirty="0"/>
          </a:p>
          <a:p>
            <a:pPr algn="l" indent="0" marL="0">
              <a:spcAft>
                <a:spcPts val="800"/>
              </a:spcAft>
              <a:buNone/>
            </a:pPr>
            <a:r>
              <a:rPr lang="en-US" sz="1400" b="1" dirty="0">
                <a:solidFill>
                  <a:schemeClr val="tx2"/>
                </a:solidFill>
              </a:rPr>
              <a:t>Best at: </a:t>
            </a:r>
            <a:pPr algn="l" indent="0" marL="0">
              <a:spcAft>
                <a:spcPts val="800"/>
              </a:spcAft>
              <a:buNone/>
            </a:pPr>
            <a:r>
              <a:rPr lang="en-US" sz="1400" dirty="0">
                <a:solidFill>
                  <a:schemeClr val="tx1"/>
                </a:solidFill>
              </a:rPr>
              <a:t>SQL on semi-structured data; deep-dive analysis</a:t>
            </a:r>
            <a:endParaRPr lang="en-US" sz="1400" dirty="0"/>
          </a:p>
        </p:txBody>
      </p:sp>
      <p:sp>
        <p:nvSpPr>
          <p:cNvPr id="10" name="System card 3"/>
          <p:cNvSpPr/>
          <p:nvPr/>
        </p:nvSpPr>
        <p:spPr>
          <a:xfrm>
            <a:off x="6071616" y="1051560"/>
            <a:ext cx="2624328" cy="2148840"/>
          </a:xfrm>
          <a:prstGeom prst="rect">
            <a:avLst/>
          </a:prstGeom>
          <a:solidFill>
            <a:schemeClr val="bg2"/>
          </a:solidFill>
          <a:ln w="12700">
            <a:solidFill>
              <a:schemeClr val="accent1"/>
            </a:solidFill>
            <a:prstDash val="solid"/>
          </a:ln>
        </p:spPr>
      </p:sp>
      <p:sp>
        <p:nvSpPr>
          <p:cNvPr id="11" name="System name 3"/>
          <p:cNvSpPr txBox="1"/>
          <p:nvPr/>
        </p:nvSpPr>
        <p:spPr>
          <a:xfrm>
            <a:off x="6208776" y="1143000"/>
            <a:ext cx="2377440" cy="320040"/>
          </a:xfrm>
          <a:prstGeom prst="rect">
            <a:avLst/>
          </a:prstGeom>
          <a:noFill/>
          <a:ln/>
        </p:spPr>
        <p:txBody>
          <a:bodyPr wrap="square" lIns="0" tIns="0" rIns="0" bIns="0" rtlCol="0" anchor="t"/>
          <a:lstStyle/>
          <a:p>
            <a:pPr algn="l" indent="0" marL="0">
              <a:buNone/>
            </a:pPr>
            <a:r>
              <a:rPr lang="en-US" sz="1700" b="1" dirty="0">
                <a:solidFill>
                  <a:schemeClr val="tx2"/>
                </a:solidFill>
              </a:rPr>
              <a:t>Hadoop  </a:t>
            </a:r>
            <a:pPr algn="l" indent="0" marL="0">
              <a:buNone/>
            </a:pPr>
            <a:r>
              <a:rPr lang="en-US" sz="1700" b="1" dirty="0">
                <a:solidFill>
                  <a:schemeClr val="accent2"/>
                </a:solidFill>
              </a:rPr>
              <a:t>40 PB</a:t>
            </a:r>
            <a:endParaRPr lang="en-US" sz="1700" dirty="0"/>
          </a:p>
        </p:txBody>
      </p:sp>
      <p:sp>
        <p:nvSpPr>
          <p:cNvPr id="12" name="System detail 3"/>
          <p:cNvSpPr txBox="1"/>
          <p:nvPr/>
        </p:nvSpPr>
        <p:spPr>
          <a:xfrm>
            <a:off x="6208776" y="1536192"/>
            <a:ext cx="2377440" cy="1600200"/>
          </a:xfrm>
          <a:prstGeom prst="rect">
            <a:avLst/>
          </a:prstGeom>
          <a:noFill/>
          <a:ln/>
        </p:spPr>
        <p:txBody>
          <a:bodyPr wrap="square" lIns="0" tIns="0" rIns="0" bIns="0" rtlCol="0" anchor="t"/>
          <a:lstStyle/>
          <a:p>
            <a:pPr algn="l" indent="0" marL="0">
              <a:spcAft>
                <a:spcPts val="800"/>
              </a:spcAft>
              <a:buNone/>
            </a:pPr>
            <a:r>
              <a:rPr lang="en-US" sz="1400" b="1" dirty="0">
                <a:solidFill>
                  <a:schemeClr val="tx2"/>
                </a:solidFill>
              </a:rPr>
              <a:t>Holds: </a:t>
            </a:r>
            <a:pPr algn="l" indent="0" marL="0">
              <a:spcAft>
                <a:spcPts val="800"/>
              </a:spcAft>
              <a:buNone/>
            </a:pPr>
            <a:r>
              <a:rPr lang="en-US" sz="1400" dirty="0">
                <a:solidFill>
                  <a:schemeClr val="tx1"/>
                </a:solidFill>
              </a:rPr>
              <a:t>Unstructured data: images, text, raw logs</a:t>
            </a:r>
            <a:endParaRPr lang="en-US" sz="1400" dirty="0"/>
          </a:p>
          <a:p>
            <a:pPr algn="l" indent="0" marL="0">
              <a:spcAft>
                <a:spcPts val="800"/>
              </a:spcAft>
              <a:buNone/>
            </a:pPr>
            <a:r>
              <a:rPr lang="en-US" sz="1400" b="1" dirty="0">
                <a:solidFill>
                  <a:schemeClr val="tx2"/>
                </a:solidFill>
              </a:rPr>
              <a:t>Best at: </a:t>
            </a:r>
            <a:pPr algn="l" indent="0" marL="0">
              <a:spcAft>
                <a:spcPts val="800"/>
              </a:spcAft>
              <a:buNone/>
            </a:pPr>
            <a:r>
              <a:rPr lang="en-US" sz="1400" dirty="0">
                <a:solidFill>
                  <a:schemeClr val="tx1"/>
                </a:solidFill>
              </a:rPr>
              <a:t>Cheap scale-out storage; batch jobs and machine learning</a:t>
            </a:r>
            <a:endParaRPr lang="en-US" sz="1400" dirty="0"/>
          </a:p>
        </p:txBody>
      </p:sp>
      <p:sp>
        <p:nvSpPr>
          <p:cNvPr id="13" name="Why not all Hadoop card"/>
          <p:cNvSpPr/>
          <p:nvPr/>
        </p:nvSpPr>
        <p:spPr>
          <a:xfrm>
            <a:off x="457200" y="3337560"/>
            <a:ext cx="8229600" cy="1234440"/>
          </a:xfrm>
          <a:prstGeom prst="rect">
            <a:avLst/>
          </a:prstGeom>
          <a:solidFill>
            <a:schemeClr val="bg1"/>
          </a:solidFill>
          <a:ln w="12700">
            <a:solidFill>
              <a:schemeClr val="accent6"/>
            </a:solidFill>
            <a:prstDash val="solid"/>
          </a:ln>
        </p:spPr>
      </p:sp>
      <p:sp>
        <p:nvSpPr>
          <p:cNvPr id="14" name="Why heading"/>
          <p:cNvSpPr txBox="1"/>
          <p:nvPr/>
        </p:nvSpPr>
        <p:spPr>
          <a:xfrm>
            <a:off x="594360" y="3401568"/>
            <a:ext cx="7955280" cy="274320"/>
          </a:xfrm>
          <a:prstGeom prst="rect">
            <a:avLst/>
          </a:prstGeom>
          <a:noFill/>
          <a:ln/>
        </p:spPr>
        <p:txBody>
          <a:bodyPr wrap="square" lIns="0" tIns="0" rIns="0" bIns="0" rtlCol="0" anchor="t"/>
          <a:lstStyle/>
          <a:p>
            <a:pPr algn="l" indent="0" marL="0">
              <a:buNone/>
            </a:pPr>
            <a:r>
              <a:rPr lang="en-US" sz="1500" b="1" dirty="0">
                <a:solidFill>
                  <a:schemeClr val="accent1"/>
                </a:solidFill>
              </a:rPr>
              <a:t>Why not move everything to Hadoop?</a:t>
            </a:r>
            <a:endParaRPr lang="en-US" sz="1500" dirty="0"/>
          </a:p>
        </p:txBody>
      </p:sp>
      <p:sp>
        <p:nvSpPr>
          <p:cNvPr id="15" name="Why bullets"/>
          <p:cNvSpPr txBox="1"/>
          <p:nvPr/>
        </p:nvSpPr>
        <p:spPr>
          <a:xfrm>
            <a:off x="594360" y="3685032"/>
            <a:ext cx="7955280" cy="868680"/>
          </a:xfrm>
          <a:prstGeom prst="rect">
            <a:avLst/>
          </a:prstGeom>
          <a:noFill/>
          <a:ln/>
        </p:spPr>
        <p:txBody>
          <a:bodyPr wrap="square" lIns="0" tIns="0" rIns="0" bIns="0" rtlCol="0" anchor="t"/>
          <a:lstStyle/>
          <a:p>
            <a:pPr algn="l" marL="177800" indent="-177800">
              <a:spcAft>
                <a:spcPts val="200"/>
              </a:spcAft>
              <a:buSzPct val="100000"/>
              <a:buChar char="•"/>
            </a:pPr>
            <a:r>
              <a:rPr lang="en-US" sz="1300" dirty="0">
                <a:solidFill>
                  <a:schemeClr val="tx1"/>
                </a:solidFill>
              </a:rPr>
              <a:t>Joins: in 2010 eBay avoided Hadoop for joins and other jobs that move lots of data</a:t>
            </a:r>
            <a:endParaRPr lang="en-US" sz="1300" dirty="0"/>
          </a:p>
          <a:p>
            <a:pPr algn="l" marL="177800" indent="-177800">
              <a:spcAft>
                <a:spcPts val="200"/>
              </a:spcAft>
              <a:buSzPct val="100000"/>
              <a:buChar char="•"/>
            </a:pPr>
            <a:r>
              <a:rPr lang="en-US" sz="1300" dirty="0">
                <a:solidFill>
                  <a:schemeClr val="tx1"/>
                </a:solidFill>
              </a:rPr>
              <a:t>People: 5,000+ analysts and their BI tools already worked in SQL, with many queries at once</a:t>
            </a:r>
            <a:endParaRPr lang="en-US" sz="1300" dirty="0"/>
          </a:p>
          <a:p>
            <a:pPr algn="l" marL="177800" indent="-177800">
              <a:spcAft>
                <a:spcPts val="200"/>
              </a:spcAft>
              <a:buSzPct val="100000"/>
              <a:buChar char="•"/>
            </a:pPr>
            <a:r>
              <a:rPr lang="en-US" sz="1300" dirty="0">
                <a:solidFill>
                  <a:schemeClr val="tx1"/>
                </a:solidFill>
              </a:rPr>
              <a:t>Flow: datasets are copied between Teradata and Hadoop on request, so each side keeps its strength</a:t>
            </a:r>
            <a:endParaRPr lang="en-US" sz="1300" dirty="0"/>
          </a:p>
        </p:txBody>
      </p:sp>
      <p:sp>
        <p:nvSpPr>
          <p:cNvPr id="16"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iTnews (2013); ODBMS.org interview (n.d.); Monash (2010); Hennig (2013).</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eBay's analytics platform: one integration layer feeds three data systems</a:t>
            </a:r>
            <a:endParaRPr lang="en-US" sz="2400" dirty="0"/>
          </a:p>
        </p:txBody>
      </p:sp>
      <p:sp>
        <p:nvSpPr>
          <p:cNvPr id="4" name="Column SOURCES"/>
          <p:cNvSpPr txBox="1"/>
          <p:nvPr/>
        </p:nvSpPr>
        <p:spPr>
          <a:xfrm>
            <a:off x="457200" y="1051560"/>
            <a:ext cx="1325880"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SOURCES</a:t>
            </a:r>
            <a:endParaRPr lang="en-US" sz="1000" dirty="0"/>
          </a:p>
        </p:txBody>
      </p:sp>
      <p:sp>
        <p:nvSpPr>
          <p:cNvPr id="5" name="Column INTEGRATION"/>
          <p:cNvSpPr txBox="1"/>
          <p:nvPr/>
        </p:nvSpPr>
        <p:spPr>
          <a:xfrm>
            <a:off x="2057400" y="1051560"/>
            <a:ext cx="1143000"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INTEGRATION</a:t>
            </a:r>
            <a:endParaRPr lang="en-US" sz="1000" dirty="0"/>
          </a:p>
        </p:txBody>
      </p:sp>
      <p:sp>
        <p:nvSpPr>
          <p:cNvPr id="6" name="Column DATA SYSTEMS"/>
          <p:cNvSpPr txBox="1"/>
          <p:nvPr/>
        </p:nvSpPr>
        <p:spPr>
          <a:xfrm>
            <a:off x="3520440" y="1051560"/>
            <a:ext cx="2148840"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DATA SYSTEMS</a:t>
            </a:r>
            <a:endParaRPr lang="en-US" sz="1000" dirty="0"/>
          </a:p>
        </p:txBody>
      </p:sp>
      <p:sp>
        <p:nvSpPr>
          <p:cNvPr id="7" name="Column ACCESS"/>
          <p:cNvSpPr txBox="1"/>
          <p:nvPr/>
        </p:nvSpPr>
        <p:spPr>
          <a:xfrm>
            <a:off x="5943600" y="1051560"/>
            <a:ext cx="1325880"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ACCESS</a:t>
            </a:r>
            <a:endParaRPr lang="en-US" sz="1000" dirty="0"/>
          </a:p>
        </p:txBody>
      </p:sp>
      <p:sp>
        <p:nvSpPr>
          <p:cNvPr id="8" name="Column USERS"/>
          <p:cNvSpPr txBox="1"/>
          <p:nvPr/>
        </p:nvSpPr>
        <p:spPr>
          <a:xfrm>
            <a:off x="7543800" y="1051560"/>
            <a:ext cx="1143000"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USERS</a:t>
            </a:r>
            <a:endParaRPr lang="en-US" sz="1000" dirty="0"/>
          </a:p>
        </p:txBody>
      </p:sp>
      <p:sp>
        <p:nvSpPr>
          <p:cNvPr id="9" name="Source: site DBs"/>
          <p:cNvSpPr txBox="1"/>
          <p:nvPr/>
        </p:nvSpPr>
        <p:spPr>
          <a:xfrm>
            <a:off x="457200" y="1325880"/>
            <a:ext cx="1325880" cy="731520"/>
          </a:xfrm>
          <a:prstGeom prst="roundRect">
            <a:avLst>
              <a:gd name="adj" fmla="val 6250"/>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00" b="1" dirty="0">
                <a:solidFill>
                  <a:schemeClr val="tx2"/>
                </a:solidFill>
              </a:rPr>
              <a:t>Site databases</a:t>
            </a:r>
            <a:endParaRPr lang="en-US" sz="1100" dirty="0"/>
          </a:p>
          <a:p>
            <a:pPr algn="ctr" indent="0" marL="0">
              <a:buNone/>
            </a:pPr>
            <a:r>
              <a:rPr lang="en-US" sz="950" dirty="0">
                <a:solidFill>
                  <a:schemeClr val="accent3"/>
                </a:solidFill>
              </a:rPr>
              <a:t>listings, orders, bids</a:t>
            </a:r>
            <a:endParaRPr lang="en-US" sz="1100" dirty="0"/>
          </a:p>
        </p:txBody>
      </p:sp>
      <p:sp>
        <p:nvSpPr>
          <p:cNvPr id="10" name="Source: clickstream"/>
          <p:cNvSpPr txBox="1"/>
          <p:nvPr/>
        </p:nvSpPr>
        <p:spPr>
          <a:xfrm>
            <a:off x="457200" y="2194560"/>
            <a:ext cx="1325880" cy="731520"/>
          </a:xfrm>
          <a:prstGeom prst="roundRect">
            <a:avLst>
              <a:gd name="adj" fmla="val 6250"/>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00" b="1" dirty="0">
                <a:solidFill>
                  <a:schemeClr val="tx2"/>
                </a:solidFill>
              </a:rPr>
              <a:t>Clickstream</a:t>
            </a:r>
            <a:endParaRPr lang="en-US" sz="1100" dirty="0"/>
          </a:p>
          <a:p>
            <a:pPr algn="ctr" indent="0" marL="0">
              <a:buNone/>
            </a:pPr>
            <a:r>
              <a:rPr lang="en-US" sz="950" dirty="0">
                <a:solidFill>
                  <a:schemeClr val="accent3"/>
                </a:solidFill>
              </a:rPr>
              <a:t>web logs, sessions</a:t>
            </a:r>
            <a:endParaRPr lang="en-US" sz="1100" dirty="0"/>
          </a:p>
        </p:txBody>
      </p:sp>
      <p:sp>
        <p:nvSpPr>
          <p:cNvPr id="11" name="Source: unstructured"/>
          <p:cNvSpPr txBox="1"/>
          <p:nvPr/>
        </p:nvSpPr>
        <p:spPr>
          <a:xfrm>
            <a:off x="457200" y="3063240"/>
            <a:ext cx="1325880" cy="731520"/>
          </a:xfrm>
          <a:prstGeom prst="roundRect">
            <a:avLst>
              <a:gd name="adj" fmla="val 6250"/>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00" b="1" dirty="0">
                <a:solidFill>
                  <a:schemeClr val="tx2"/>
                </a:solidFill>
              </a:rPr>
              <a:t>Images + text</a:t>
            </a:r>
            <a:endParaRPr lang="en-US" sz="1100" dirty="0"/>
          </a:p>
          <a:p>
            <a:pPr algn="ctr" indent="0" marL="0">
              <a:buNone/>
            </a:pPr>
            <a:r>
              <a:rPr lang="en-US" sz="950" dirty="0">
                <a:solidFill>
                  <a:schemeClr val="accent3"/>
                </a:solidFill>
              </a:rPr>
              <a:t>unstructured</a:t>
            </a:r>
            <a:endParaRPr lang="en-US" sz="1100" dirty="0"/>
          </a:p>
        </p:txBody>
      </p:sp>
      <p:sp>
        <p:nvSpPr>
          <p:cNvPr id="12" name="Integration layer"/>
          <p:cNvSpPr txBox="1"/>
          <p:nvPr/>
        </p:nvSpPr>
        <p:spPr>
          <a:xfrm>
            <a:off x="2057400" y="1325880"/>
            <a:ext cx="1143000" cy="2468880"/>
          </a:xfrm>
          <a:prstGeom prst="roundRect">
            <a:avLst>
              <a:gd name="adj" fmla="val 4000"/>
            </a:avLst>
          </a:prstGeom>
          <a:solidFill>
            <a:schemeClr val="tx2"/>
          </a:solidFill>
          <a:ln w="12700">
            <a:solidFill>
              <a:schemeClr val="tx2"/>
            </a:solidFill>
          </a:ln>
        </p:spPr>
        <p:txBody>
          <a:bodyPr wrap="square" lIns="63500" tIns="25400" rIns="63500" bIns="25400" rtlCol="0" anchor="ctr"/>
          <a:lstStyle/>
          <a:p>
            <a:pPr algn="ctr" indent="0" marL="0">
              <a:buNone/>
            </a:pPr>
            <a:r>
              <a:rPr lang="en-US" sz="1150" b="1" dirty="0">
                <a:solidFill>
                  <a:schemeClr val="bg1"/>
                </a:solidFill>
              </a:rPr>
              <a:t>Data integration</a:t>
            </a:r>
            <a:endParaRPr lang="en-US" sz="1150" dirty="0"/>
          </a:p>
          <a:p>
            <a:pPr algn="ctr" indent="0" marL="0">
              <a:buNone/>
            </a:pPr>
            <a:r>
              <a:rPr lang="en-US" sz="1000" dirty="0">
                <a:solidFill>
                  <a:schemeClr val="bg2"/>
                </a:solidFill>
              </a:rPr>
              <a:t>Ab Initio, Informatica, GoldenGate; UC4 scheduler</a:t>
            </a:r>
            <a:endParaRPr lang="en-US" sz="1150" dirty="0"/>
          </a:p>
        </p:txBody>
      </p:sp>
      <p:sp>
        <p:nvSpPr>
          <p:cNvPr id="13" name="Source to integration 1"/>
          <p:cNvSpPr/>
          <p:nvPr/>
        </p:nvSpPr>
        <p:spPr>
          <a:xfrm>
            <a:off x="1783080" y="1691640"/>
            <a:ext cx="274320" cy="0"/>
          </a:xfrm>
          <a:prstGeom prst="line">
            <a:avLst/>
          </a:prstGeom>
          <a:noFill/>
          <a:ln w="19050">
            <a:solidFill>
              <a:schemeClr val="accent1"/>
            </a:solidFill>
            <a:prstDash val="solid"/>
            <a:tailEnd type="triangle"/>
          </a:ln>
        </p:spPr>
      </p:sp>
      <p:sp>
        <p:nvSpPr>
          <p:cNvPr id="14" name="Source to integration 2"/>
          <p:cNvSpPr/>
          <p:nvPr/>
        </p:nvSpPr>
        <p:spPr>
          <a:xfrm>
            <a:off x="1783080" y="2560320"/>
            <a:ext cx="274320" cy="0"/>
          </a:xfrm>
          <a:prstGeom prst="line">
            <a:avLst/>
          </a:prstGeom>
          <a:noFill/>
          <a:ln w="19050">
            <a:solidFill>
              <a:schemeClr val="accent1"/>
            </a:solidFill>
            <a:prstDash val="solid"/>
            <a:tailEnd type="triangle"/>
          </a:ln>
        </p:spPr>
      </p:sp>
      <p:sp>
        <p:nvSpPr>
          <p:cNvPr id="15" name="Source to integration 3"/>
          <p:cNvSpPr/>
          <p:nvPr/>
        </p:nvSpPr>
        <p:spPr>
          <a:xfrm>
            <a:off x="1783080" y="3429000"/>
            <a:ext cx="274320" cy="0"/>
          </a:xfrm>
          <a:prstGeom prst="line">
            <a:avLst/>
          </a:prstGeom>
          <a:noFill/>
          <a:ln w="19050">
            <a:solidFill>
              <a:schemeClr val="accent1"/>
            </a:solidFill>
            <a:prstDash val="solid"/>
            <a:tailEnd type="triangle"/>
          </a:ln>
        </p:spPr>
      </p:sp>
      <p:sp>
        <p:nvSpPr>
          <p:cNvPr id="16" name="Teradata EDW"/>
          <p:cNvSpPr txBox="1"/>
          <p:nvPr/>
        </p:nvSpPr>
        <p:spPr>
          <a:xfrm>
            <a:off x="3520440" y="1325880"/>
            <a:ext cx="2148840" cy="731520"/>
          </a:xfrm>
          <a:prstGeom prst="roundRect">
            <a:avLst>
              <a:gd name="adj" fmla="val 6250"/>
            </a:avLst>
          </a:prstGeom>
          <a:solidFill>
            <a:schemeClr val="accent4"/>
          </a:solidFill>
          <a:ln w="12700">
            <a:solidFill>
              <a:schemeClr val="accent2"/>
            </a:solidFill>
          </a:ln>
        </p:spPr>
        <p:txBody>
          <a:bodyPr wrap="square" lIns="63500" tIns="25400" rIns="63500" bIns="25400" rtlCol="0" anchor="ctr"/>
          <a:lstStyle/>
          <a:p>
            <a:pPr algn="ctr" indent="0" marL="0">
              <a:buNone/>
            </a:pPr>
            <a:r>
              <a:rPr lang="en-US" sz="1100" b="1" dirty="0">
                <a:solidFill>
                  <a:schemeClr val="tx1"/>
                </a:solidFill>
              </a:rPr>
              <a:t>Teradata EDW · 7.5 PB</a:t>
            </a:r>
            <a:endParaRPr lang="en-US" sz="1100" dirty="0"/>
          </a:p>
          <a:p>
            <a:pPr algn="ctr" indent="0" marL="0">
              <a:buNone/>
            </a:pPr>
            <a:r>
              <a:rPr lang="en-US" sz="950" dirty="0">
                <a:solidFill>
                  <a:schemeClr val="tx1"/>
                </a:solidFill>
              </a:rPr>
              <a:t>structured, very high concurrency</a:t>
            </a:r>
            <a:endParaRPr lang="en-US" sz="1100" dirty="0"/>
          </a:p>
        </p:txBody>
      </p:sp>
      <p:sp>
        <p:nvSpPr>
          <p:cNvPr id="17" name="Singularity"/>
          <p:cNvSpPr txBox="1"/>
          <p:nvPr/>
        </p:nvSpPr>
        <p:spPr>
          <a:xfrm>
            <a:off x="3520440" y="2194560"/>
            <a:ext cx="2148840" cy="731520"/>
          </a:xfrm>
          <a:prstGeom prst="roundRect">
            <a:avLst>
              <a:gd name="adj" fmla="val 6250"/>
            </a:avLst>
          </a:prstGeom>
          <a:solidFill>
            <a:schemeClr val="accent4"/>
          </a:solidFill>
          <a:ln w="12700">
            <a:solidFill>
              <a:schemeClr val="accent2"/>
            </a:solidFill>
          </a:ln>
        </p:spPr>
        <p:txBody>
          <a:bodyPr wrap="square" lIns="63500" tIns="25400" rIns="63500" bIns="25400" rtlCol="0" anchor="ctr"/>
          <a:lstStyle/>
          <a:p>
            <a:pPr algn="ctr" indent="0" marL="0">
              <a:buNone/>
            </a:pPr>
            <a:r>
              <a:rPr lang="en-US" sz="1100" b="1" dirty="0">
                <a:solidFill>
                  <a:schemeClr val="tx1"/>
                </a:solidFill>
              </a:rPr>
              <a:t>Singularity · 40 PB</a:t>
            </a:r>
            <a:endParaRPr lang="en-US" sz="1100" dirty="0"/>
          </a:p>
          <a:p>
            <a:pPr algn="ctr" indent="0" marL="0">
              <a:buNone/>
            </a:pPr>
            <a:r>
              <a:rPr lang="en-US" sz="950" dirty="0">
                <a:solidFill>
                  <a:schemeClr val="tx1"/>
                </a:solidFill>
              </a:rPr>
              <a:t>Teradata-based, semi-structured</a:t>
            </a:r>
            <a:endParaRPr lang="en-US" sz="1100" dirty="0"/>
          </a:p>
        </p:txBody>
      </p:sp>
      <p:sp>
        <p:nvSpPr>
          <p:cNvPr id="18" name="Hadoop system"/>
          <p:cNvSpPr/>
          <p:nvPr/>
        </p:nvSpPr>
        <p:spPr>
          <a:xfrm>
            <a:off x="3520440" y="3063240"/>
            <a:ext cx="2148840" cy="1143000"/>
          </a:xfrm>
          <a:prstGeom prst="roundRect">
            <a:avLst>
              <a:gd name="adj" fmla="val 4000"/>
            </a:avLst>
          </a:prstGeom>
          <a:solidFill>
            <a:schemeClr val="tx2"/>
          </a:solidFill>
          <a:ln w="12700">
            <a:solidFill>
              <a:schemeClr val="tx2"/>
            </a:solidFill>
            <a:prstDash val="solid"/>
          </a:ln>
        </p:spPr>
      </p:sp>
      <p:sp>
        <p:nvSpPr>
          <p:cNvPr id="19" name="Hadoop label"/>
          <p:cNvSpPr txBox="1"/>
          <p:nvPr/>
        </p:nvSpPr>
        <p:spPr>
          <a:xfrm>
            <a:off x="3611880" y="3099816"/>
            <a:ext cx="1965960" cy="228600"/>
          </a:xfrm>
          <a:prstGeom prst="rect">
            <a:avLst/>
          </a:prstGeom>
          <a:noFill/>
          <a:ln/>
        </p:spPr>
        <p:txBody>
          <a:bodyPr wrap="square" lIns="0" tIns="0" rIns="0" bIns="0" rtlCol="0" anchor="ctr"/>
          <a:lstStyle/>
          <a:p>
            <a:pPr algn="ctr" indent="0" marL="0">
              <a:buNone/>
            </a:pPr>
            <a:r>
              <a:rPr lang="en-US" sz="1100" b="1" dirty="0">
                <a:solidFill>
                  <a:schemeClr val="bg1"/>
                </a:solidFill>
              </a:rPr>
              <a:t>Hadoop · 40 PB</a:t>
            </a:r>
            <a:endParaRPr lang="en-US" sz="1100" dirty="0"/>
          </a:p>
        </p:txBody>
      </p:sp>
      <p:sp>
        <p:nvSpPr>
          <p:cNvPr id="20" name="Hadoop part HDFS"/>
          <p:cNvSpPr txBox="1"/>
          <p:nvPr/>
        </p:nvSpPr>
        <p:spPr>
          <a:xfrm>
            <a:off x="3611880" y="3374136"/>
            <a:ext cx="548640" cy="310896"/>
          </a:xfrm>
          <a:prstGeom prst="roundRect">
            <a:avLst>
              <a:gd name="adj" fmla="val 14706"/>
            </a:avLst>
          </a:prstGeom>
          <a:solidFill>
            <a:schemeClr val="bg2"/>
          </a:solidFill>
          <a:ln w="6350">
            <a:solidFill>
              <a:schemeClr val="bg2"/>
            </a:solidFill>
          </a:ln>
        </p:spPr>
        <p:txBody>
          <a:bodyPr wrap="square" lIns="12700" tIns="12700" rIns="12700" bIns="12700" rtlCol="0" anchor="ctr"/>
          <a:lstStyle/>
          <a:p>
            <a:pPr algn="ctr" indent="0" marL="0">
              <a:buNone/>
            </a:pPr>
            <a:r>
              <a:rPr lang="en-US" sz="900" b="1" dirty="0">
                <a:solidFill>
                  <a:schemeClr val="tx2"/>
                </a:solidFill>
              </a:rPr>
              <a:t>HDFS</a:t>
            </a:r>
            <a:endParaRPr lang="en-US" sz="900" dirty="0"/>
          </a:p>
        </p:txBody>
      </p:sp>
      <p:sp>
        <p:nvSpPr>
          <p:cNvPr id="21" name="Hadoop part YARN"/>
          <p:cNvSpPr txBox="1"/>
          <p:nvPr/>
        </p:nvSpPr>
        <p:spPr>
          <a:xfrm>
            <a:off x="4187952" y="3374136"/>
            <a:ext cx="548640" cy="310896"/>
          </a:xfrm>
          <a:prstGeom prst="roundRect">
            <a:avLst>
              <a:gd name="adj" fmla="val 14706"/>
            </a:avLst>
          </a:prstGeom>
          <a:solidFill>
            <a:schemeClr val="bg2"/>
          </a:solidFill>
          <a:ln w="6350">
            <a:solidFill>
              <a:schemeClr val="bg2"/>
            </a:solidFill>
          </a:ln>
        </p:spPr>
        <p:txBody>
          <a:bodyPr wrap="square" lIns="12700" tIns="12700" rIns="12700" bIns="12700" rtlCol="0" anchor="ctr"/>
          <a:lstStyle/>
          <a:p>
            <a:pPr algn="ctr" indent="0" marL="0">
              <a:buNone/>
            </a:pPr>
            <a:r>
              <a:rPr lang="en-US" sz="900" b="1" dirty="0">
                <a:solidFill>
                  <a:schemeClr val="tx2"/>
                </a:solidFill>
              </a:rPr>
              <a:t>YARN</a:t>
            </a:r>
            <a:endParaRPr lang="en-US" sz="900" dirty="0"/>
          </a:p>
        </p:txBody>
      </p:sp>
      <p:sp>
        <p:nvSpPr>
          <p:cNvPr id="22" name="Hadoop part Spark"/>
          <p:cNvSpPr txBox="1"/>
          <p:nvPr/>
        </p:nvSpPr>
        <p:spPr>
          <a:xfrm>
            <a:off x="4764024" y="3374136"/>
            <a:ext cx="813816" cy="310896"/>
          </a:xfrm>
          <a:prstGeom prst="roundRect">
            <a:avLst>
              <a:gd name="adj" fmla="val 14706"/>
            </a:avLst>
          </a:prstGeom>
          <a:solidFill>
            <a:schemeClr val="bg2"/>
          </a:solidFill>
          <a:ln w="6350">
            <a:solidFill>
              <a:schemeClr val="bg2"/>
            </a:solidFill>
          </a:ln>
        </p:spPr>
        <p:txBody>
          <a:bodyPr wrap="square" lIns="12700" tIns="12700" rIns="12700" bIns="12700" rtlCol="0" anchor="ctr"/>
          <a:lstStyle/>
          <a:p>
            <a:pPr algn="ctr" indent="0" marL="0">
              <a:buNone/>
            </a:pPr>
            <a:r>
              <a:rPr lang="en-US" sz="900" b="1" dirty="0">
                <a:solidFill>
                  <a:schemeClr val="tx2"/>
                </a:solidFill>
              </a:rPr>
              <a:t>Spark</a:t>
            </a:r>
            <a:endParaRPr lang="en-US" sz="900" dirty="0"/>
          </a:p>
        </p:txBody>
      </p:sp>
      <p:sp>
        <p:nvSpPr>
          <p:cNvPr id="23" name="Hadoop part MapReduce"/>
          <p:cNvSpPr txBox="1"/>
          <p:nvPr/>
        </p:nvSpPr>
        <p:spPr>
          <a:xfrm>
            <a:off x="3611880" y="3758184"/>
            <a:ext cx="713232" cy="310896"/>
          </a:xfrm>
          <a:prstGeom prst="roundRect">
            <a:avLst>
              <a:gd name="adj" fmla="val 14706"/>
            </a:avLst>
          </a:prstGeom>
          <a:solidFill>
            <a:schemeClr val="bg2"/>
          </a:solidFill>
          <a:ln w="6350">
            <a:solidFill>
              <a:schemeClr val="bg2"/>
            </a:solidFill>
          </a:ln>
        </p:spPr>
        <p:txBody>
          <a:bodyPr wrap="square" lIns="12700" tIns="12700" rIns="12700" bIns="12700" rtlCol="0" anchor="ctr"/>
          <a:lstStyle/>
          <a:p>
            <a:pPr algn="ctr" indent="0" marL="0">
              <a:buNone/>
            </a:pPr>
            <a:r>
              <a:rPr lang="en-US" sz="900" b="1" dirty="0">
                <a:solidFill>
                  <a:schemeClr val="tx2"/>
                </a:solidFill>
              </a:rPr>
              <a:t>MapReduce</a:t>
            </a:r>
            <a:endParaRPr lang="en-US" sz="900" dirty="0"/>
          </a:p>
        </p:txBody>
      </p:sp>
      <p:sp>
        <p:nvSpPr>
          <p:cNvPr id="24" name="Hadoop part Hive · Pig"/>
          <p:cNvSpPr txBox="1"/>
          <p:nvPr/>
        </p:nvSpPr>
        <p:spPr>
          <a:xfrm>
            <a:off x="4352544" y="3758184"/>
            <a:ext cx="713232" cy="310896"/>
          </a:xfrm>
          <a:prstGeom prst="roundRect">
            <a:avLst>
              <a:gd name="adj" fmla="val 14706"/>
            </a:avLst>
          </a:prstGeom>
          <a:solidFill>
            <a:schemeClr val="bg2"/>
          </a:solidFill>
          <a:ln w="6350">
            <a:solidFill>
              <a:schemeClr val="bg2"/>
            </a:solidFill>
          </a:ln>
        </p:spPr>
        <p:txBody>
          <a:bodyPr wrap="square" lIns="12700" tIns="12700" rIns="12700" bIns="12700" rtlCol="0" anchor="ctr"/>
          <a:lstStyle/>
          <a:p>
            <a:pPr algn="ctr" indent="0" marL="0">
              <a:buNone/>
            </a:pPr>
            <a:r>
              <a:rPr lang="en-US" sz="900" b="1" dirty="0">
                <a:solidFill>
                  <a:schemeClr val="tx2"/>
                </a:solidFill>
              </a:rPr>
              <a:t>Hive · Pig</a:t>
            </a:r>
            <a:endParaRPr lang="en-US" sz="900" dirty="0"/>
          </a:p>
        </p:txBody>
      </p:sp>
      <p:sp>
        <p:nvSpPr>
          <p:cNvPr id="25" name="Hadoop part HBase"/>
          <p:cNvSpPr txBox="1"/>
          <p:nvPr/>
        </p:nvSpPr>
        <p:spPr>
          <a:xfrm>
            <a:off x="5093208" y="3758184"/>
            <a:ext cx="484632" cy="310896"/>
          </a:xfrm>
          <a:prstGeom prst="roundRect">
            <a:avLst>
              <a:gd name="adj" fmla="val 14706"/>
            </a:avLst>
          </a:prstGeom>
          <a:solidFill>
            <a:schemeClr val="bg2"/>
          </a:solidFill>
          <a:ln w="6350">
            <a:solidFill>
              <a:schemeClr val="bg2"/>
            </a:solidFill>
          </a:ln>
        </p:spPr>
        <p:txBody>
          <a:bodyPr wrap="square" lIns="12700" tIns="12700" rIns="12700" bIns="12700" rtlCol="0" anchor="ctr"/>
          <a:lstStyle/>
          <a:p>
            <a:pPr algn="ctr" indent="0" marL="0">
              <a:buNone/>
            </a:pPr>
            <a:r>
              <a:rPr lang="en-US" sz="900" b="1" dirty="0">
                <a:solidFill>
                  <a:schemeClr val="tx2"/>
                </a:solidFill>
              </a:rPr>
              <a:t>HBase</a:t>
            </a:r>
            <a:endParaRPr lang="en-US" sz="900" dirty="0"/>
          </a:p>
        </p:txBody>
      </p:sp>
      <p:sp>
        <p:nvSpPr>
          <p:cNvPr id="26" name="Integration to system 1"/>
          <p:cNvSpPr/>
          <p:nvPr/>
        </p:nvSpPr>
        <p:spPr>
          <a:xfrm>
            <a:off x="3200400" y="1691640"/>
            <a:ext cx="320040" cy="0"/>
          </a:xfrm>
          <a:prstGeom prst="line">
            <a:avLst/>
          </a:prstGeom>
          <a:noFill/>
          <a:ln w="19050">
            <a:solidFill>
              <a:schemeClr val="accent1"/>
            </a:solidFill>
            <a:prstDash val="solid"/>
            <a:tailEnd type="triangle"/>
          </a:ln>
        </p:spPr>
      </p:sp>
      <p:sp>
        <p:nvSpPr>
          <p:cNvPr id="27" name="Integration to system 2"/>
          <p:cNvSpPr/>
          <p:nvPr/>
        </p:nvSpPr>
        <p:spPr>
          <a:xfrm>
            <a:off x="3200400" y="2560320"/>
            <a:ext cx="320040" cy="0"/>
          </a:xfrm>
          <a:prstGeom prst="line">
            <a:avLst/>
          </a:prstGeom>
          <a:noFill/>
          <a:ln w="19050">
            <a:solidFill>
              <a:schemeClr val="accent1"/>
            </a:solidFill>
            <a:prstDash val="solid"/>
            <a:tailEnd type="triangle"/>
          </a:ln>
        </p:spPr>
      </p:sp>
      <p:sp>
        <p:nvSpPr>
          <p:cNvPr id="28" name="Integration to system 3"/>
          <p:cNvSpPr/>
          <p:nvPr/>
        </p:nvSpPr>
        <p:spPr>
          <a:xfrm>
            <a:off x="3200400" y="3611880"/>
            <a:ext cx="320040" cy="0"/>
          </a:xfrm>
          <a:prstGeom prst="line">
            <a:avLst/>
          </a:prstGeom>
          <a:noFill/>
          <a:ln w="19050">
            <a:solidFill>
              <a:schemeClr val="accent1"/>
            </a:solidFill>
            <a:prstDash val="solid"/>
            <a:tailEnd type="triangle"/>
          </a:ln>
        </p:spPr>
      </p:sp>
      <p:sp>
        <p:nvSpPr>
          <p:cNvPr id="29" name="Singularity Hadoop transfer"/>
          <p:cNvSpPr/>
          <p:nvPr/>
        </p:nvSpPr>
        <p:spPr>
          <a:xfrm>
            <a:off x="5349240" y="2926080"/>
            <a:ext cx="0" cy="137160"/>
          </a:xfrm>
          <a:prstGeom prst="line">
            <a:avLst/>
          </a:prstGeom>
          <a:noFill/>
          <a:ln w="19050">
            <a:solidFill>
              <a:schemeClr val="accent1"/>
            </a:solidFill>
            <a:prstDash val="solid"/>
            <a:headEnd type="triangle"/>
            <a:tailEnd type="triangle"/>
          </a:ln>
        </p:spPr>
      </p:sp>
      <p:sp>
        <p:nvSpPr>
          <p:cNvPr id="30" name="Transfer label"/>
          <p:cNvSpPr txBox="1"/>
          <p:nvPr/>
        </p:nvSpPr>
        <p:spPr>
          <a:xfrm>
            <a:off x="5687568" y="2898648"/>
            <a:ext cx="1097280" cy="182880"/>
          </a:xfrm>
          <a:prstGeom prst="rect">
            <a:avLst/>
          </a:prstGeom>
          <a:noFill/>
          <a:ln/>
        </p:spPr>
        <p:txBody>
          <a:bodyPr wrap="square" lIns="0" tIns="0" rIns="0" bIns="0" rtlCol="0" anchor="ctr"/>
          <a:lstStyle/>
          <a:p>
            <a:pPr algn="l" indent="0" marL="0">
              <a:buNone/>
            </a:pPr>
            <a:r>
              <a:rPr lang="en-US" sz="950" i="1" dirty="0">
                <a:solidFill>
                  <a:schemeClr val="accent1"/>
                </a:solidFill>
              </a:rPr>
              <a:t>dataset transfers</a:t>
            </a:r>
            <a:endParaRPr lang="en-US" sz="950" dirty="0"/>
          </a:p>
        </p:txBody>
      </p:sp>
      <p:sp>
        <p:nvSpPr>
          <p:cNvPr id="31" name="Access tools"/>
          <p:cNvSpPr txBox="1"/>
          <p:nvPr/>
        </p:nvSpPr>
        <p:spPr>
          <a:xfrm>
            <a:off x="5943600" y="1325880"/>
            <a:ext cx="1325880" cy="1600200"/>
          </a:xfrm>
          <a:prstGeom prst="roundRect">
            <a:avLst>
              <a:gd name="adj" fmla="val 3448"/>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DataHub + BI tools</a:t>
            </a:r>
            <a:endParaRPr lang="en-US" sz="1100" dirty="0"/>
          </a:p>
          <a:p>
            <a:pPr algn="ctr" indent="0" marL="0">
              <a:buNone/>
            </a:pPr>
            <a:r>
              <a:rPr lang="en-US" sz="950" dirty="0">
                <a:solidFill>
                  <a:schemeClr val="tx1"/>
                </a:solidFill>
              </a:rPr>
              <a:t>MicroStrategy, Tableau, SAS, Excel, SQL</a:t>
            </a:r>
            <a:endParaRPr lang="en-US" sz="1100" dirty="0"/>
          </a:p>
        </p:txBody>
      </p:sp>
      <p:sp>
        <p:nvSpPr>
          <p:cNvPr id="32" name="EDW to access"/>
          <p:cNvSpPr/>
          <p:nvPr/>
        </p:nvSpPr>
        <p:spPr>
          <a:xfrm>
            <a:off x="5669280" y="1691640"/>
            <a:ext cx="274320" cy="0"/>
          </a:xfrm>
          <a:prstGeom prst="line">
            <a:avLst/>
          </a:prstGeom>
          <a:noFill/>
          <a:ln w="19050">
            <a:solidFill>
              <a:schemeClr val="accent1"/>
            </a:solidFill>
            <a:prstDash val="solid"/>
            <a:tailEnd type="triangle"/>
          </a:ln>
        </p:spPr>
      </p:sp>
      <p:sp>
        <p:nvSpPr>
          <p:cNvPr id="33" name="Singularity to access"/>
          <p:cNvSpPr/>
          <p:nvPr/>
        </p:nvSpPr>
        <p:spPr>
          <a:xfrm>
            <a:off x="5669280" y="2560320"/>
            <a:ext cx="274320" cy="0"/>
          </a:xfrm>
          <a:prstGeom prst="line">
            <a:avLst/>
          </a:prstGeom>
          <a:noFill/>
          <a:ln w="19050">
            <a:solidFill>
              <a:schemeClr val="accent1"/>
            </a:solidFill>
            <a:prstDash val="solid"/>
            <a:tailEnd type="triangle"/>
          </a:ln>
        </p:spPr>
      </p:sp>
      <p:sp>
        <p:nvSpPr>
          <p:cNvPr id="34" name="Users: analysts"/>
          <p:cNvSpPr txBox="1"/>
          <p:nvPr/>
        </p:nvSpPr>
        <p:spPr>
          <a:xfrm>
            <a:off x="7543800" y="1325880"/>
            <a:ext cx="1143000" cy="1600200"/>
          </a:xfrm>
          <a:prstGeom prst="roundRect">
            <a:avLst>
              <a:gd name="adj" fmla="val 4000"/>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50" b="1" dirty="0">
                <a:solidFill>
                  <a:schemeClr val="tx2"/>
                </a:solidFill>
              </a:rPr>
              <a:t>Analysts</a:t>
            </a:r>
            <a:endParaRPr lang="en-US" sz="1150" dirty="0"/>
          </a:p>
          <a:p>
            <a:pPr algn="ctr" indent="0" marL="0">
              <a:buNone/>
            </a:pPr>
            <a:r>
              <a:rPr lang="en-US" sz="1000" dirty="0">
                <a:solidFill>
                  <a:schemeClr val="accent3"/>
                </a:solidFill>
              </a:rPr>
              <a:t>5,000+ users (2010)</a:t>
            </a:r>
            <a:endParaRPr lang="en-US" sz="1150" dirty="0"/>
          </a:p>
        </p:txBody>
      </p:sp>
      <p:sp>
        <p:nvSpPr>
          <p:cNvPr id="35" name="Access to analysts"/>
          <p:cNvSpPr/>
          <p:nvPr/>
        </p:nvSpPr>
        <p:spPr>
          <a:xfrm>
            <a:off x="7269480" y="2121408"/>
            <a:ext cx="274320" cy="0"/>
          </a:xfrm>
          <a:prstGeom prst="line">
            <a:avLst/>
          </a:prstGeom>
          <a:noFill/>
          <a:ln w="19050">
            <a:solidFill>
              <a:schemeClr val="accent1"/>
            </a:solidFill>
            <a:prstDash val="solid"/>
            <a:tailEnd type="triangle"/>
          </a:ln>
        </p:spPr>
      </p:sp>
      <p:sp>
        <p:nvSpPr>
          <p:cNvPr id="36" name="Users: website"/>
          <p:cNvSpPr txBox="1"/>
          <p:nvPr/>
        </p:nvSpPr>
        <p:spPr>
          <a:xfrm>
            <a:off x="5943600" y="3383280"/>
            <a:ext cx="2743200" cy="822960"/>
          </a:xfrm>
          <a:prstGeom prst="roundRect">
            <a:avLst>
              <a:gd name="adj" fmla="val 5556"/>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50" b="1" dirty="0">
                <a:solidFill>
                  <a:schemeClr val="tx2"/>
                </a:solidFill>
              </a:rPr>
              <a:t>eBay website</a:t>
            </a:r>
            <a:endParaRPr lang="en-US" sz="1150" dirty="0"/>
          </a:p>
          <a:p>
            <a:pPr algn="ctr" indent="0" marL="0">
              <a:buNone/>
            </a:pPr>
            <a:r>
              <a:rPr lang="en-US" sz="1000" dirty="0">
                <a:solidFill>
                  <a:schemeClr val="tx1"/>
                </a:solidFill>
              </a:rPr>
              <a:t>Cassini search index, recommendations</a:t>
            </a:r>
            <a:endParaRPr lang="en-US" sz="1150" dirty="0"/>
          </a:p>
        </p:txBody>
      </p:sp>
      <p:sp>
        <p:nvSpPr>
          <p:cNvPr id="37" name="Hadoop to site"/>
          <p:cNvSpPr/>
          <p:nvPr/>
        </p:nvSpPr>
        <p:spPr>
          <a:xfrm>
            <a:off x="5669280" y="3794760"/>
            <a:ext cx="274320" cy="0"/>
          </a:xfrm>
          <a:prstGeom prst="line">
            <a:avLst/>
          </a:prstGeom>
          <a:noFill/>
          <a:ln w="19050">
            <a:solidFill>
              <a:schemeClr val="accent1"/>
            </a:solidFill>
            <a:prstDash val="solid"/>
            <a:tailEnd type="triangle"/>
          </a:ln>
        </p:spPr>
      </p:sp>
      <p:sp>
        <p:nvSpPr>
          <p:cNvPr id="38" name="Platform caption"/>
          <p:cNvSpPr txBox="1"/>
          <p:nvPr/>
        </p:nvSpPr>
        <p:spPr>
          <a:xfrm>
            <a:off x="457200" y="4224528"/>
            <a:ext cx="8229600" cy="274320"/>
          </a:xfrm>
          <a:prstGeom prst="rect">
            <a:avLst/>
          </a:prstGeom>
          <a:noFill/>
          <a:ln/>
        </p:spPr>
        <p:txBody>
          <a:bodyPr wrap="square" lIns="0" tIns="0" rIns="0" bIns="0" rtlCol="0" anchor="t"/>
          <a:lstStyle/>
          <a:p>
            <a:pPr algn="l" indent="0" marL="0">
              <a:buNone/>
            </a:pPr>
            <a:r>
              <a:rPr lang="en-US" sz="1300" i="1" dirty="0">
                <a:solidFill>
                  <a:schemeClr val="tx2"/>
                </a:solidFill>
              </a:rPr>
              <a:t>Unstructured data lives only in Hadoop; structured, high-concurrency work stays on Teradata.</a:t>
            </a:r>
            <a:endParaRPr lang="en-US" sz="1300" dirty="0"/>
          </a:p>
        </p:txBody>
      </p:sp>
      <p:sp>
        <p:nvSpPr>
          <p:cNvPr id="39"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Ratzesberger (2010); iTnews (2013); ODBMS.org (n.d.); Hennig (2013); Hadoop at eBay (c. 2015).</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eBay's Hadoop grew from a few test nodes in 2007 to over 10,000 nodes</a:t>
            </a:r>
            <a:endParaRPr lang="en-US" sz="2400" dirty="0"/>
          </a:p>
        </p:txBody>
      </p:sp>
      <p:sp>
        <p:nvSpPr>
          <p:cNvPr id="4" name="Timeline axis"/>
          <p:cNvSpPr/>
          <p:nvPr/>
        </p:nvSpPr>
        <p:spPr>
          <a:xfrm>
            <a:off x="548640" y="1600200"/>
            <a:ext cx="8046720" cy="0"/>
          </a:xfrm>
          <a:prstGeom prst="line">
            <a:avLst/>
          </a:prstGeom>
          <a:noFill/>
          <a:ln w="25400">
            <a:solidFill>
              <a:schemeClr val="tx2"/>
            </a:solidFill>
            <a:prstDash val="solid"/>
          </a:ln>
        </p:spPr>
      </p:sp>
      <p:sp>
        <p:nvSpPr>
          <p:cNvPr id="5" name="Year 1"/>
          <p:cNvSpPr txBox="1"/>
          <p:nvPr/>
        </p:nvSpPr>
        <p:spPr>
          <a:xfrm>
            <a:off x="457200" y="1051560"/>
            <a:ext cx="1499616" cy="365760"/>
          </a:xfrm>
          <a:prstGeom prst="rect">
            <a:avLst/>
          </a:prstGeom>
          <a:noFill/>
          <a:ln/>
        </p:spPr>
        <p:txBody>
          <a:bodyPr wrap="square" lIns="0" tIns="0" rIns="0" bIns="0" rtlCol="0" anchor="b"/>
          <a:lstStyle/>
          <a:p>
            <a:pPr algn="l" indent="0" marL="0">
              <a:buNone/>
            </a:pPr>
            <a:r>
              <a:rPr lang="en-US" sz="1800" b="1" dirty="0">
                <a:solidFill>
                  <a:schemeClr val="accent2"/>
                </a:solidFill>
              </a:rPr>
              <a:t>2007</a:t>
            </a:r>
            <a:endParaRPr lang="en-US" sz="1800" dirty="0"/>
          </a:p>
        </p:txBody>
      </p:sp>
      <p:sp>
        <p:nvSpPr>
          <p:cNvPr id="6" name="Milestone dot 1"/>
          <p:cNvSpPr/>
          <p:nvPr/>
        </p:nvSpPr>
        <p:spPr>
          <a:xfrm>
            <a:off x="475488" y="1508760"/>
            <a:ext cx="182880" cy="182880"/>
          </a:xfrm>
          <a:prstGeom prst="ellipse">
            <a:avLst/>
          </a:prstGeom>
          <a:solidFill>
            <a:schemeClr val="accent2"/>
          </a:solidFill>
          <a:ln w="19050">
            <a:solidFill>
              <a:schemeClr val="bg1"/>
            </a:solidFill>
            <a:prstDash val="solid"/>
          </a:ln>
        </p:spPr>
      </p:sp>
      <p:sp>
        <p:nvSpPr>
          <p:cNvPr id="7" name="Milestone 1"/>
          <p:cNvSpPr txBox="1"/>
          <p:nvPr/>
        </p:nvSpPr>
        <p:spPr>
          <a:xfrm>
            <a:off x="457200" y="1874520"/>
            <a:ext cx="1499616" cy="1828800"/>
          </a:xfrm>
          <a:prstGeom prst="rect">
            <a:avLst/>
          </a:prstGeom>
          <a:solidFill>
            <a:schemeClr val="bg2"/>
          </a:solidFill>
          <a:ln w="12700">
            <a:solidFill>
              <a:schemeClr val="accent1"/>
            </a:solidFill>
          </a:ln>
        </p:spPr>
        <p:txBody>
          <a:bodyPr wrap="square" lIns="101600" tIns="101600" rIns="101600" bIns="101600" rtlCol="0" anchor="t"/>
          <a:lstStyle/>
          <a:p>
            <a:pPr algn="l" indent="0" marL="0">
              <a:buNone/>
            </a:pPr>
            <a:r>
              <a:rPr lang="en-US" sz="1500" dirty="0">
                <a:solidFill>
                  <a:schemeClr val="tx1"/>
                </a:solidFill>
              </a:rPr>
              <a:t>First Hadoop cluster: a handful of nodes, as an experiment</a:t>
            </a:r>
            <a:endParaRPr lang="en-US" sz="1500" dirty="0"/>
          </a:p>
        </p:txBody>
      </p:sp>
      <p:sp>
        <p:nvSpPr>
          <p:cNvPr id="8" name="Year 2"/>
          <p:cNvSpPr txBox="1"/>
          <p:nvPr/>
        </p:nvSpPr>
        <p:spPr>
          <a:xfrm>
            <a:off x="2139696" y="1051560"/>
            <a:ext cx="1499616" cy="365760"/>
          </a:xfrm>
          <a:prstGeom prst="rect">
            <a:avLst/>
          </a:prstGeom>
          <a:noFill/>
          <a:ln/>
        </p:spPr>
        <p:txBody>
          <a:bodyPr wrap="square" lIns="0" tIns="0" rIns="0" bIns="0" rtlCol="0" anchor="b"/>
          <a:lstStyle/>
          <a:p>
            <a:pPr algn="l" indent="0" marL="0">
              <a:buNone/>
            </a:pPr>
            <a:r>
              <a:rPr lang="en-US" sz="1800" b="1" dirty="0">
                <a:solidFill>
                  <a:schemeClr val="accent2"/>
                </a:solidFill>
              </a:rPr>
              <a:t>2010</a:t>
            </a:r>
            <a:endParaRPr lang="en-US" sz="1800" dirty="0"/>
          </a:p>
        </p:txBody>
      </p:sp>
      <p:sp>
        <p:nvSpPr>
          <p:cNvPr id="9" name="Milestone dot 2"/>
          <p:cNvSpPr/>
          <p:nvPr/>
        </p:nvSpPr>
        <p:spPr>
          <a:xfrm>
            <a:off x="2157984" y="1508760"/>
            <a:ext cx="182880" cy="182880"/>
          </a:xfrm>
          <a:prstGeom prst="ellipse">
            <a:avLst/>
          </a:prstGeom>
          <a:solidFill>
            <a:schemeClr val="accent2"/>
          </a:solidFill>
          <a:ln w="19050">
            <a:solidFill>
              <a:schemeClr val="bg1"/>
            </a:solidFill>
            <a:prstDash val="solid"/>
          </a:ln>
        </p:spPr>
      </p:sp>
      <p:sp>
        <p:nvSpPr>
          <p:cNvPr id="10" name="Milestone 2"/>
          <p:cNvSpPr txBox="1"/>
          <p:nvPr/>
        </p:nvSpPr>
        <p:spPr>
          <a:xfrm>
            <a:off x="2139696" y="1874520"/>
            <a:ext cx="1499616" cy="1828800"/>
          </a:xfrm>
          <a:prstGeom prst="rect">
            <a:avLst/>
          </a:prstGeom>
          <a:solidFill>
            <a:schemeClr val="bg2"/>
          </a:solidFill>
          <a:ln w="12700">
            <a:solidFill>
              <a:schemeClr val="accent1"/>
            </a:solidFill>
          </a:ln>
        </p:spPr>
        <p:txBody>
          <a:bodyPr wrap="square" lIns="101600" tIns="101600" rIns="101600" bIns="101600" rtlCol="0" anchor="t"/>
          <a:lstStyle/>
          <a:p>
            <a:pPr algn="l" indent="0" marL="0">
              <a:buNone/>
            </a:pPr>
            <a:r>
              <a:rPr lang="en-US" sz="1500" dirty="0">
                <a:solidFill>
                  <a:schemeClr val="tx1"/>
                </a:solidFill>
              </a:rPr>
              <a:t>Athena goes live: 532 nodes, 5.3 PB, 8–10 TB of new data a day</a:t>
            </a:r>
            <a:endParaRPr lang="en-US" sz="1500" dirty="0"/>
          </a:p>
        </p:txBody>
      </p:sp>
      <p:sp>
        <p:nvSpPr>
          <p:cNvPr id="11" name="Year 3"/>
          <p:cNvSpPr txBox="1"/>
          <p:nvPr/>
        </p:nvSpPr>
        <p:spPr>
          <a:xfrm>
            <a:off x="3822192" y="1051560"/>
            <a:ext cx="1499616" cy="365760"/>
          </a:xfrm>
          <a:prstGeom prst="rect">
            <a:avLst/>
          </a:prstGeom>
          <a:noFill/>
          <a:ln/>
        </p:spPr>
        <p:txBody>
          <a:bodyPr wrap="square" lIns="0" tIns="0" rIns="0" bIns="0" rtlCol="0" anchor="b"/>
          <a:lstStyle/>
          <a:p>
            <a:pPr algn="l" indent="0" marL="0">
              <a:buNone/>
            </a:pPr>
            <a:r>
              <a:rPr lang="en-US" sz="1800" b="1" dirty="0">
                <a:solidFill>
                  <a:schemeClr val="accent2"/>
                </a:solidFill>
              </a:rPr>
              <a:t>2013</a:t>
            </a:r>
            <a:endParaRPr lang="en-US" sz="1800" dirty="0"/>
          </a:p>
        </p:txBody>
      </p:sp>
      <p:sp>
        <p:nvSpPr>
          <p:cNvPr id="12" name="Milestone dot 3"/>
          <p:cNvSpPr/>
          <p:nvPr/>
        </p:nvSpPr>
        <p:spPr>
          <a:xfrm>
            <a:off x="3840480" y="1508760"/>
            <a:ext cx="182880" cy="182880"/>
          </a:xfrm>
          <a:prstGeom prst="ellipse">
            <a:avLst/>
          </a:prstGeom>
          <a:solidFill>
            <a:schemeClr val="accent2"/>
          </a:solidFill>
          <a:ln w="19050">
            <a:solidFill>
              <a:schemeClr val="bg1"/>
            </a:solidFill>
            <a:prstDash val="solid"/>
          </a:ln>
        </p:spPr>
      </p:sp>
      <p:sp>
        <p:nvSpPr>
          <p:cNvPr id="13" name="Milestone 3"/>
          <p:cNvSpPr txBox="1"/>
          <p:nvPr/>
        </p:nvSpPr>
        <p:spPr>
          <a:xfrm>
            <a:off x="3822192" y="1874520"/>
            <a:ext cx="1499616" cy="1828800"/>
          </a:xfrm>
          <a:prstGeom prst="rect">
            <a:avLst/>
          </a:prstGeom>
          <a:solidFill>
            <a:schemeClr val="bg2"/>
          </a:solidFill>
          <a:ln w="12700">
            <a:solidFill>
              <a:schemeClr val="accent1"/>
            </a:solidFill>
          </a:ln>
        </p:spPr>
        <p:txBody>
          <a:bodyPr wrap="square" lIns="101600" tIns="101600" rIns="101600" bIns="101600" rtlCol="0" anchor="t"/>
          <a:lstStyle/>
          <a:p>
            <a:pPr algn="l" indent="0" marL="0">
              <a:buNone/>
            </a:pPr>
            <a:r>
              <a:rPr lang="en-US" sz="1500" dirty="0">
                <a:solidFill>
                  <a:schemeClr val="tx1"/>
                </a:solidFill>
              </a:rPr>
              <a:t>4,000+ nodes, 50+ PB; Cassini search built on HBase + MapReduce</a:t>
            </a:r>
            <a:endParaRPr lang="en-US" sz="1500" dirty="0"/>
          </a:p>
        </p:txBody>
      </p:sp>
      <p:sp>
        <p:nvSpPr>
          <p:cNvPr id="14" name="Year 4"/>
          <p:cNvSpPr txBox="1"/>
          <p:nvPr/>
        </p:nvSpPr>
        <p:spPr>
          <a:xfrm>
            <a:off x="5504688" y="1051560"/>
            <a:ext cx="1499616" cy="365760"/>
          </a:xfrm>
          <a:prstGeom prst="rect">
            <a:avLst/>
          </a:prstGeom>
          <a:noFill/>
          <a:ln/>
        </p:spPr>
        <p:txBody>
          <a:bodyPr wrap="square" lIns="0" tIns="0" rIns="0" bIns="0" rtlCol="0" anchor="b"/>
          <a:lstStyle/>
          <a:p>
            <a:pPr algn="l" indent="0" marL="0">
              <a:buNone/>
            </a:pPr>
            <a:r>
              <a:rPr lang="en-US" sz="1800" b="1" dirty="0">
                <a:solidFill>
                  <a:schemeClr val="accent2"/>
                </a:solidFill>
              </a:rPr>
              <a:t>2014</a:t>
            </a:r>
            <a:endParaRPr lang="en-US" sz="1800" dirty="0"/>
          </a:p>
        </p:txBody>
      </p:sp>
      <p:sp>
        <p:nvSpPr>
          <p:cNvPr id="15" name="Milestone dot 4"/>
          <p:cNvSpPr/>
          <p:nvPr/>
        </p:nvSpPr>
        <p:spPr>
          <a:xfrm>
            <a:off x="5522976" y="1508760"/>
            <a:ext cx="182880" cy="182880"/>
          </a:xfrm>
          <a:prstGeom prst="ellipse">
            <a:avLst/>
          </a:prstGeom>
          <a:solidFill>
            <a:schemeClr val="accent2"/>
          </a:solidFill>
          <a:ln w="19050">
            <a:solidFill>
              <a:schemeClr val="bg1"/>
            </a:solidFill>
            <a:prstDash val="solid"/>
          </a:ln>
        </p:spPr>
      </p:sp>
      <p:sp>
        <p:nvSpPr>
          <p:cNvPr id="16" name="Milestone 4"/>
          <p:cNvSpPr txBox="1"/>
          <p:nvPr/>
        </p:nvSpPr>
        <p:spPr>
          <a:xfrm>
            <a:off x="5504688" y="1874520"/>
            <a:ext cx="1499616" cy="1828800"/>
          </a:xfrm>
          <a:prstGeom prst="rect">
            <a:avLst/>
          </a:prstGeom>
          <a:solidFill>
            <a:schemeClr val="bg2"/>
          </a:solidFill>
          <a:ln w="12700">
            <a:solidFill>
              <a:schemeClr val="accent1"/>
            </a:solidFill>
          </a:ln>
        </p:spPr>
        <p:txBody>
          <a:bodyPr wrap="square" lIns="101600" tIns="101600" rIns="101600" bIns="101600" rtlCol="0" anchor="t"/>
          <a:lstStyle/>
          <a:p>
            <a:pPr algn="l" indent="0" marL="0">
              <a:buNone/>
            </a:pPr>
            <a:r>
              <a:rPr lang="en-US" sz="1500" dirty="0">
                <a:solidFill>
                  <a:schemeClr val="tx1"/>
                </a:solidFill>
              </a:rPr>
              <a:t>Production clusters move to Hadoop 2 (YARN); Kylin open-sourced</a:t>
            </a:r>
            <a:endParaRPr lang="en-US" sz="1500" dirty="0"/>
          </a:p>
        </p:txBody>
      </p:sp>
      <p:sp>
        <p:nvSpPr>
          <p:cNvPr id="17" name="Year 5"/>
          <p:cNvSpPr txBox="1"/>
          <p:nvPr/>
        </p:nvSpPr>
        <p:spPr>
          <a:xfrm>
            <a:off x="7187184" y="1051560"/>
            <a:ext cx="1499616" cy="365760"/>
          </a:xfrm>
          <a:prstGeom prst="rect">
            <a:avLst/>
          </a:prstGeom>
          <a:noFill/>
          <a:ln/>
        </p:spPr>
        <p:txBody>
          <a:bodyPr wrap="square" lIns="0" tIns="0" rIns="0" bIns="0" rtlCol="0" anchor="b"/>
          <a:lstStyle/>
          <a:p>
            <a:pPr algn="l" indent="0" marL="0">
              <a:buNone/>
            </a:pPr>
            <a:r>
              <a:rPr lang="en-US" sz="1800" b="1" dirty="0">
                <a:solidFill>
                  <a:schemeClr val="accent2"/>
                </a:solidFill>
              </a:rPr>
              <a:t>2015</a:t>
            </a:r>
            <a:endParaRPr lang="en-US" sz="1800" dirty="0"/>
          </a:p>
        </p:txBody>
      </p:sp>
      <p:sp>
        <p:nvSpPr>
          <p:cNvPr id="18" name="Milestone dot 5"/>
          <p:cNvSpPr/>
          <p:nvPr/>
        </p:nvSpPr>
        <p:spPr>
          <a:xfrm>
            <a:off x="7205472" y="1508760"/>
            <a:ext cx="182880" cy="182880"/>
          </a:xfrm>
          <a:prstGeom prst="ellipse">
            <a:avLst/>
          </a:prstGeom>
          <a:solidFill>
            <a:schemeClr val="accent2"/>
          </a:solidFill>
          <a:ln w="19050">
            <a:solidFill>
              <a:schemeClr val="bg1"/>
            </a:solidFill>
            <a:prstDash val="solid"/>
          </a:ln>
        </p:spPr>
      </p:sp>
      <p:sp>
        <p:nvSpPr>
          <p:cNvPr id="19" name="Milestone 5"/>
          <p:cNvSpPr txBox="1"/>
          <p:nvPr/>
        </p:nvSpPr>
        <p:spPr>
          <a:xfrm>
            <a:off x="7187184" y="1874520"/>
            <a:ext cx="1499616" cy="1828800"/>
          </a:xfrm>
          <a:prstGeom prst="rect">
            <a:avLst/>
          </a:prstGeom>
          <a:solidFill>
            <a:schemeClr val="bg2"/>
          </a:solidFill>
          <a:ln w="12700">
            <a:solidFill>
              <a:schemeClr val="accent1"/>
            </a:solidFill>
          </a:ln>
        </p:spPr>
        <p:txBody>
          <a:bodyPr wrap="square" lIns="101600" tIns="101600" rIns="101600" bIns="101600" rtlCol="0" anchor="t"/>
          <a:lstStyle/>
          <a:p>
            <a:pPr algn="l" indent="0" marL="0">
              <a:buNone/>
            </a:pPr>
            <a:r>
              <a:rPr lang="en-US" sz="1500" dirty="0">
                <a:solidFill>
                  <a:schemeClr val="tx1"/>
                </a:solidFill>
              </a:rPr>
              <a:t>10+ clusters, 10,000+ nodes, 50,000+ jobs a day</a:t>
            </a:r>
            <a:endParaRPr lang="en-US" sz="1500" dirty="0"/>
          </a:p>
        </p:txBody>
      </p:sp>
      <p:sp>
        <p:nvSpPr>
          <p:cNvPr id="20" name="So-what callout"/>
          <p:cNvSpPr txBox="1"/>
          <p:nvPr/>
        </p:nvSpPr>
        <p:spPr>
          <a:xfrm>
            <a:off x="457200" y="4069080"/>
            <a:ext cx="8229600" cy="457200"/>
          </a:xfrm>
          <a:prstGeom prst="roundRect">
            <a:avLst>
              <a:gd name="adj" fmla="val 12000"/>
            </a:avLst>
          </a:prstGeom>
          <a:solidFill>
            <a:schemeClr val="accent4"/>
          </a:solidFill>
          <a:ln w="12700">
            <a:solidFill>
              <a:schemeClr val="accent2"/>
            </a:solidFill>
          </a:ln>
        </p:spPr>
        <p:txBody>
          <a:bodyPr wrap="square" lIns="76200" tIns="76200" rIns="76200" bIns="76200" rtlCol="0" anchor="ctr"/>
          <a:lstStyle/>
          <a:p>
            <a:pPr algn="l" indent="0" marL="0">
              <a:buNone/>
            </a:pPr>
            <a:r>
              <a:rPr lang="en-US" sz="1600" b="1" dirty="0">
                <a:solidFill>
                  <a:schemeClr val="tx1"/>
                </a:solidFill>
              </a:rPr>
              <a:t>Hadoop grew beside the SQL warehouses, not instead of them.</a:t>
            </a:r>
            <a:endParaRPr lang="en-US" sz="1600" dirty="0"/>
          </a:p>
        </p:txBody>
      </p:sp>
      <p:sp>
        <p:nvSpPr>
          <p:cNvPr id="21"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eBay Tech Blog; eBay HUG (2010); Hennig (2013); Hortonworks (2014); Hadoop at eBay (2015).</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HDFS at eBay: one NameNode keeps the map, thousands of DataNodes keep the data</a:t>
            </a:r>
            <a:endParaRPr lang="en-US" sz="2400" dirty="0"/>
          </a:p>
        </p:txBody>
      </p:sp>
      <p:sp>
        <p:nvSpPr>
          <p:cNvPr id="4" name="HDFS client: ingestion"/>
          <p:cNvSpPr txBox="1"/>
          <p:nvPr/>
        </p:nvSpPr>
        <p:spPr>
          <a:xfrm>
            <a:off x="457200" y="1097280"/>
            <a:ext cx="1371600" cy="566928"/>
          </a:xfrm>
          <a:prstGeom prst="roundRect">
            <a:avLst>
              <a:gd name="adj" fmla="val 8065"/>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50" b="1" dirty="0">
                <a:solidFill>
                  <a:schemeClr val="tx2"/>
                </a:solidFill>
              </a:rPr>
              <a:t>Ingestion jobs</a:t>
            </a:r>
            <a:endParaRPr lang="en-US" sz="1150" dirty="0"/>
          </a:p>
          <a:p>
            <a:pPr algn="ctr" indent="0" marL="0">
              <a:buNone/>
            </a:pPr>
            <a:r>
              <a:rPr lang="en-US" sz="1000" dirty="0">
                <a:solidFill>
                  <a:schemeClr val="accent3"/>
                </a:solidFill>
              </a:rPr>
              <a:t>logs, clicks, listings</a:t>
            </a:r>
            <a:endParaRPr lang="en-US" sz="1150" dirty="0"/>
          </a:p>
        </p:txBody>
      </p:sp>
      <p:sp>
        <p:nvSpPr>
          <p:cNvPr id="5" name="HDFS client: jobs"/>
          <p:cNvSpPr txBox="1"/>
          <p:nvPr/>
        </p:nvSpPr>
        <p:spPr>
          <a:xfrm>
            <a:off x="457200" y="1783080"/>
            <a:ext cx="1371600" cy="566928"/>
          </a:xfrm>
          <a:prstGeom prst="roundRect">
            <a:avLst>
              <a:gd name="adj" fmla="val 8065"/>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50" b="1" dirty="0">
                <a:solidFill>
                  <a:schemeClr val="tx2"/>
                </a:solidFill>
              </a:rPr>
              <a:t>Analytics jobs</a:t>
            </a:r>
            <a:endParaRPr lang="en-US" sz="1150" dirty="0"/>
          </a:p>
          <a:p>
            <a:pPr algn="ctr" indent="0" marL="0">
              <a:buNone/>
            </a:pPr>
            <a:r>
              <a:rPr lang="en-US" sz="1000" dirty="0">
                <a:solidFill>
                  <a:schemeClr val="accent3"/>
                </a:solidFill>
              </a:rPr>
              <a:t>MapReduce, Hive, Pig</a:t>
            </a:r>
            <a:endParaRPr lang="en-US" sz="1150" dirty="0"/>
          </a:p>
        </p:txBody>
      </p:sp>
      <p:sp>
        <p:nvSpPr>
          <p:cNvPr id="6" name="Active NameNode"/>
          <p:cNvSpPr txBox="1"/>
          <p:nvPr/>
        </p:nvSpPr>
        <p:spPr>
          <a:xfrm>
            <a:off x="2377440" y="1097280"/>
            <a:ext cx="1691640" cy="566928"/>
          </a:xfrm>
          <a:prstGeom prst="roundRect">
            <a:avLst>
              <a:gd name="adj" fmla="val 8065"/>
            </a:avLst>
          </a:prstGeom>
          <a:solidFill>
            <a:schemeClr val="tx2"/>
          </a:solidFill>
          <a:ln w="12700">
            <a:solidFill>
              <a:schemeClr val="tx2"/>
            </a:solidFill>
          </a:ln>
        </p:spPr>
        <p:txBody>
          <a:bodyPr wrap="square" lIns="63500" tIns="25400" rIns="63500" bIns="25400" rtlCol="0" anchor="ctr"/>
          <a:lstStyle/>
          <a:p>
            <a:pPr algn="ctr" indent="0" marL="0">
              <a:buNone/>
            </a:pPr>
            <a:r>
              <a:rPr lang="en-US" sz="1150" b="1" dirty="0">
                <a:solidFill>
                  <a:schemeClr val="bg1"/>
                </a:solidFill>
              </a:rPr>
              <a:t>Active NameNode</a:t>
            </a:r>
            <a:endParaRPr lang="en-US" sz="1150" dirty="0"/>
          </a:p>
          <a:p>
            <a:pPr algn="ctr" indent="0" marL="0">
              <a:buNone/>
            </a:pPr>
            <a:r>
              <a:rPr lang="en-US" sz="1000" dirty="0">
                <a:solidFill>
                  <a:schemeClr val="bg2"/>
                </a:solidFill>
              </a:rPr>
              <a:t>file → blocks → nodes</a:t>
            </a:r>
            <a:endParaRPr lang="en-US" sz="1150" dirty="0"/>
          </a:p>
        </p:txBody>
      </p:sp>
      <p:sp>
        <p:nvSpPr>
          <p:cNvPr id="7" name="Standby NameNode"/>
          <p:cNvSpPr txBox="1"/>
          <p:nvPr/>
        </p:nvSpPr>
        <p:spPr>
          <a:xfrm>
            <a:off x="4251960" y="1097280"/>
            <a:ext cx="1463040" cy="566928"/>
          </a:xfrm>
          <a:prstGeom prst="roundRect">
            <a:avLst>
              <a:gd name="adj" fmla="val 806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50" b="1" dirty="0">
                <a:solidFill>
                  <a:schemeClr val="tx2"/>
                </a:solidFill>
              </a:rPr>
              <a:t>Standby NameNode</a:t>
            </a:r>
            <a:endParaRPr lang="en-US" sz="1150" dirty="0"/>
          </a:p>
          <a:p>
            <a:pPr algn="ctr" indent="0" marL="0">
              <a:buNone/>
            </a:pPr>
            <a:r>
              <a:rPr lang="en-US" sz="1000" dirty="0">
                <a:solidFill>
                  <a:schemeClr val="tx1"/>
                </a:solidFill>
              </a:rPr>
              <a:t>high availability</a:t>
            </a:r>
            <a:endParaRPr lang="en-US" sz="1150" dirty="0"/>
          </a:p>
        </p:txBody>
      </p:sp>
      <p:sp>
        <p:nvSpPr>
          <p:cNvPr id="8" name="NameNode sync"/>
          <p:cNvSpPr/>
          <p:nvPr/>
        </p:nvSpPr>
        <p:spPr>
          <a:xfrm>
            <a:off x="4069080" y="1380744"/>
            <a:ext cx="182880" cy="0"/>
          </a:xfrm>
          <a:prstGeom prst="line">
            <a:avLst/>
          </a:prstGeom>
          <a:noFill/>
          <a:ln w="19050">
            <a:solidFill>
              <a:schemeClr val="accent2"/>
            </a:solidFill>
            <a:prstDash val="dash"/>
            <a:headEnd type="triangle"/>
            <a:tailEnd type="triangle"/>
          </a:ln>
        </p:spPr>
      </p:sp>
      <p:sp>
        <p:nvSpPr>
          <p:cNvPr id="9" name="Client to NameNode"/>
          <p:cNvSpPr/>
          <p:nvPr/>
        </p:nvSpPr>
        <p:spPr>
          <a:xfrm>
            <a:off x="1828800" y="1280160"/>
            <a:ext cx="548640" cy="0"/>
          </a:xfrm>
          <a:prstGeom prst="line">
            <a:avLst/>
          </a:prstGeom>
          <a:noFill/>
          <a:ln w="19050">
            <a:solidFill>
              <a:schemeClr val="accent2"/>
            </a:solidFill>
            <a:prstDash val="dash"/>
            <a:tailEnd type="triangle"/>
          </a:ln>
        </p:spPr>
      </p:sp>
      <p:sp>
        <p:nvSpPr>
          <p:cNvPr id="10" name="Link label: 1. where?"/>
          <p:cNvSpPr txBox="1"/>
          <p:nvPr/>
        </p:nvSpPr>
        <p:spPr>
          <a:xfrm>
            <a:off x="1810512" y="969264"/>
            <a:ext cx="685800" cy="182880"/>
          </a:xfrm>
          <a:prstGeom prst="rect">
            <a:avLst/>
          </a:prstGeom>
          <a:noFill/>
          <a:ln/>
        </p:spPr>
        <p:txBody>
          <a:bodyPr wrap="square" lIns="0" tIns="0" rIns="0" bIns="0" rtlCol="0" anchor="ctr"/>
          <a:lstStyle/>
          <a:p>
            <a:pPr algn="l" indent="0" marL="0">
              <a:buNone/>
            </a:pPr>
            <a:r>
              <a:rPr lang="en-US" sz="1000" i="1" dirty="0">
                <a:solidFill>
                  <a:schemeClr val="accent2"/>
                </a:solidFill>
              </a:rPr>
              <a:t>1. where?</a:t>
            </a:r>
            <a:endParaRPr lang="en-US" sz="1000" dirty="0"/>
          </a:p>
        </p:txBody>
      </p:sp>
      <p:sp>
        <p:nvSpPr>
          <p:cNvPr id="11" name="Disk tier zone"/>
          <p:cNvSpPr/>
          <p:nvPr/>
        </p:nvSpPr>
        <p:spPr>
          <a:xfrm>
            <a:off x="457200" y="2606040"/>
            <a:ext cx="3063240" cy="1417320"/>
          </a:xfrm>
          <a:prstGeom prst="rect">
            <a:avLst/>
          </a:prstGeom>
          <a:solidFill>
            <a:schemeClr val="bg1"/>
          </a:solidFill>
          <a:ln w="12700">
            <a:solidFill>
              <a:schemeClr val="accent6"/>
            </a:solidFill>
            <a:prstDash val="dash"/>
          </a:ln>
        </p:spPr>
      </p:sp>
      <p:sp>
        <p:nvSpPr>
          <p:cNvPr id="12" name="Disk tier zone label"/>
          <p:cNvSpPr txBox="1"/>
          <p:nvPr/>
        </p:nvSpPr>
        <p:spPr>
          <a:xfrm>
            <a:off x="530352" y="2642616"/>
            <a:ext cx="2916936"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DISK TIER · COMPUTE NODES (HOT)</a:t>
            </a:r>
            <a:endParaRPr lang="en-US" sz="1000" dirty="0"/>
          </a:p>
        </p:txBody>
      </p:sp>
      <p:sp>
        <p:nvSpPr>
          <p:cNvPr id="13" name="Archive tier zone"/>
          <p:cNvSpPr/>
          <p:nvPr/>
        </p:nvSpPr>
        <p:spPr>
          <a:xfrm>
            <a:off x="3657600" y="2606040"/>
            <a:ext cx="2057400" cy="1417320"/>
          </a:xfrm>
          <a:prstGeom prst="rect">
            <a:avLst/>
          </a:prstGeom>
          <a:solidFill>
            <a:schemeClr val="bg1"/>
          </a:solidFill>
          <a:ln w="12700">
            <a:solidFill>
              <a:schemeClr val="accent6"/>
            </a:solidFill>
            <a:prstDash val="dash"/>
          </a:ln>
        </p:spPr>
      </p:sp>
      <p:sp>
        <p:nvSpPr>
          <p:cNvPr id="14" name="Archive tier zone label"/>
          <p:cNvSpPr txBox="1"/>
          <p:nvPr/>
        </p:nvSpPr>
        <p:spPr>
          <a:xfrm>
            <a:off x="3730752" y="2642616"/>
            <a:ext cx="1911096"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ARCHIVE TIER (COLD)</a:t>
            </a:r>
            <a:endParaRPr lang="en-US" sz="1000" dirty="0"/>
          </a:p>
        </p:txBody>
      </p:sp>
      <p:sp>
        <p:nvSpPr>
          <p:cNvPr id="15" name="Hot DataNode 1"/>
          <p:cNvSpPr txBox="1"/>
          <p:nvPr/>
        </p:nvSpPr>
        <p:spPr>
          <a:xfrm>
            <a:off x="548640" y="2907792"/>
            <a:ext cx="896112" cy="566928"/>
          </a:xfrm>
          <a:prstGeom prst="roundRect">
            <a:avLst>
              <a:gd name="adj" fmla="val 806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DataNode</a:t>
            </a:r>
            <a:endParaRPr lang="en-US" sz="1100" dirty="0"/>
          </a:p>
          <a:p>
            <a:pPr algn="ctr" indent="0" marL="0">
              <a:buNone/>
            </a:pPr>
            <a:r>
              <a:rPr lang="en-US" sz="950" dirty="0">
                <a:solidFill>
                  <a:schemeClr val="tx1"/>
                </a:solidFill>
              </a:rPr>
              <a:t>+ compute</a:t>
            </a:r>
            <a:endParaRPr lang="en-US" sz="1100" dirty="0"/>
          </a:p>
        </p:txBody>
      </p:sp>
      <p:sp>
        <p:nvSpPr>
          <p:cNvPr id="16" name="Hot DataNode 2"/>
          <p:cNvSpPr txBox="1"/>
          <p:nvPr/>
        </p:nvSpPr>
        <p:spPr>
          <a:xfrm>
            <a:off x="1527048" y="2907792"/>
            <a:ext cx="896112" cy="566928"/>
          </a:xfrm>
          <a:prstGeom prst="roundRect">
            <a:avLst>
              <a:gd name="adj" fmla="val 806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DataNode</a:t>
            </a:r>
            <a:endParaRPr lang="en-US" sz="1100" dirty="0"/>
          </a:p>
          <a:p>
            <a:pPr algn="ctr" indent="0" marL="0">
              <a:buNone/>
            </a:pPr>
            <a:r>
              <a:rPr lang="en-US" sz="950" dirty="0">
                <a:solidFill>
                  <a:schemeClr val="tx1"/>
                </a:solidFill>
              </a:rPr>
              <a:t>+ compute</a:t>
            </a:r>
            <a:endParaRPr lang="en-US" sz="1100" dirty="0"/>
          </a:p>
        </p:txBody>
      </p:sp>
      <p:sp>
        <p:nvSpPr>
          <p:cNvPr id="17" name="Hot DataNode 3"/>
          <p:cNvSpPr txBox="1"/>
          <p:nvPr/>
        </p:nvSpPr>
        <p:spPr>
          <a:xfrm>
            <a:off x="2505456" y="2907792"/>
            <a:ext cx="896112" cy="566928"/>
          </a:xfrm>
          <a:prstGeom prst="roundRect">
            <a:avLst>
              <a:gd name="adj" fmla="val 806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DataNode</a:t>
            </a:r>
            <a:endParaRPr lang="en-US" sz="1100" dirty="0"/>
          </a:p>
          <a:p>
            <a:pPr algn="ctr" indent="0" marL="0">
              <a:buNone/>
            </a:pPr>
            <a:r>
              <a:rPr lang="en-US" sz="950" dirty="0">
                <a:solidFill>
                  <a:schemeClr val="tx1"/>
                </a:solidFill>
              </a:rPr>
              <a:t>+ compute</a:t>
            </a:r>
            <a:endParaRPr lang="en-US" sz="1100" dirty="0"/>
          </a:p>
        </p:txBody>
      </p:sp>
      <p:sp>
        <p:nvSpPr>
          <p:cNvPr id="18" name="Archive DataNode 1"/>
          <p:cNvSpPr txBox="1"/>
          <p:nvPr/>
        </p:nvSpPr>
        <p:spPr>
          <a:xfrm>
            <a:off x="3749040" y="2907792"/>
            <a:ext cx="896112" cy="566928"/>
          </a:xfrm>
          <a:prstGeom prst="roundRect">
            <a:avLst>
              <a:gd name="adj" fmla="val 806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DataNode</a:t>
            </a:r>
            <a:endParaRPr lang="en-US" sz="1100" dirty="0"/>
          </a:p>
          <a:p>
            <a:pPr algn="ctr" indent="0" marL="0">
              <a:buNone/>
            </a:pPr>
            <a:r>
              <a:rPr lang="en-US" sz="950" dirty="0">
                <a:solidFill>
                  <a:schemeClr val="tx1"/>
                </a:solidFill>
              </a:rPr>
              <a:t>220 TB</a:t>
            </a:r>
            <a:endParaRPr lang="en-US" sz="1100" dirty="0"/>
          </a:p>
        </p:txBody>
      </p:sp>
      <p:sp>
        <p:nvSpPr>
          <p:cNvPr id="19" name="Archive DataNode 2"/>
          <p:cNvSpPr txBox="1"/>
          <p:nvPr/>
        </p:nvSpPr>
        <p:spPr>
          <a:xfrm>
            <a:off x="4727448" y="2907792"/>
            <a:ext cx="896112" cy="566928"/>
          </a:xfrm>
          <a:prstGeom prst="roundRect">
            <a:avLst>
              <a:gd name="adj" fmla="val 806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DataNode</a:t>
            </a:r>
            <a:endParaRPr lang="en-US" sz="1100" dirty="0"/>
          </a:p>
          <a:p>
            <a:pPr algn="ctr" indent="0" marL="0">
              <a:buNone/>
            </a:pPr>
            <a:r>
              <a:rPr lang="en-US" sz="950" dirty="0">
                <a:solidFill>
                  <a:schemeClr val="tx1"/>
                </a:solidFill>
              </a:rPr>
              <a:t>220 TB</a:t>
            </a:r>
            <a:endParaRPr lang="en-US" sz="1100" dirty="0"/>
          </a:p>
        </p:txBody>
      </p:sp>
      <p:sp>
        <p:nvSpPr>
          <p:cNvPr id="20" name="Disk tier note"/>
          <p:cNvSpPr txBox="1"/>
          <p:nvPr/>
        </p:nvSpPr>
        <p:spPr>
          <a:xfrm>
            <a:off x="548640" y="3547872"/>
            <a:ext cx="2880360" cy="411480"/>
          </a:xfrm>
          <a:prstGeom prst="rect">
            <a:avLst/>
          </a:prstGeom>
          <a:noFill/>
          <a:ln/>
        </p:spPr>
        <p:txBody>
          <a:bodyPr wrap="square" lIns="0" tIns="0" rIns="0" bIns="0" rtlCol="0" anchor="t"/>
          <a:lstStyle/>
          <a:p>
            <a:pPr algn="l" indent="0" marL="0">
              <a:buNone/>
            </a:pPr>
            <a:r>
              <a:rPr lang="en-US" sz="1100" i="1" dirty="0">
                <a:solidFill>
                  <a:schemeClr val="accent3"/>
                </a:solidFill>
              </a:rPr>
              <a:t>Blocks of 128–256 MB, each copied to 3 DataNodes</a:t>
            </a:r>
            <a:endParaRPr lang="en-US" sz="1100" dirty="0"/>
          </a:p>
        </p:txBody>
      </p:sp>
      <p:sp>
        <p:nvSpPr>
          <p:cNvPr id="21" name="Archive tier note"/>
          <p:cNvSpPr txBox="1"/>
          <p:nvPr/>
        </p:nvSpPr>
        <p:spPr>
          <a:xfrm>
            <a:off x="3749040" y="3547872"/>
            <a:ext cx="1874520" cy="457200"/>
          </a:xfrm>
          <a:prstGeom prst="rect">
            <a:avLst/>
          </a:prstGeom>
          <a:noFill/>
          <a:ln/>
        </p:spPr>
        <p:txBody>
          <a:bodyPr wrap="square" lIns="0" tIns="0" rIns="0" bIns="0" rtlCol="0" anchor="t"/>
          <a:lstStyle/>
          <a:p>
            <a:pPr algn="l" indent="0" marL="0">
              <a:buNone/>
            </a:pPr>
            <a:r>
              <a:rPr lang="en-US" sz="1100" i="1" dirty="0">
                <a:solidFill>
                  <a:schemeClr val="accent3"/>
                </a:solidFill>
              </a:rPr>
              <a:t>Old data; storage-only nodes at ~¼ the cost per GB</a:t>
            </a:r>
            <a:endParaRPr lang="en-US" sz="1100" dirty="0"/>
          </a:p>
        </p:txBody>
      </p:sp>
      <p:sp>
        <p:nvSpPr>
          <p:cNvPr id="22" name="Client to DataNode"/>
          <p:cNvSpPr/>
          <p:nvPr/>
        </p:nvSpPr>
        <p:spPr>
          <a:xfrm>
            <a:off x="1143000" y="2350008"/>
            <a:ext cx="0" cy="557784"/>
          </a:xfrm>
          <a:prstGeom prst="line">
            <a:avLst/>
          </a:prstGeom>
          <a:noFill/>
          <a:ln w="19050">
            <a:solidFill>
              <a:schemeClr val="accent1"/>
            </a:solidFill>
            <a:prstDash val="solid"/>
            <a:tailEnd type="triangle"/>
          </a:ln>
        </p:spPr>
      </p:sp>
      <p:sp>
        <p:nvSpPr>
          <p:cNvPr id="23" name="Link label: 2. read / write blocks"/>
          <p:cNvSpPr txBox="1"/>
          <p:nvPr/>
        </p:nvSpPr>
        <p:spPr>
          <a:xfrm>
            <a:off x="1207008" y="2395728"/>
            <a:ext cx="1463040" cy="182880"/>
          </a:xfrm>
          <a:prstGeom prst="rect">
            <a:avLst/>
          </a:prstGeom>
          <a:noFill/>
          <a:ln/>
        </p:spPr>
        <p:txBody>
          <a:bodyPr wrap="square" lIns="0" tIns="0" rIns="0" bIns="0" rtlCol="0" anchor="ctr"/>
          <a:lstStyle/>
          <a:p>
            <a:pPr algn="l" indent="0" marL="0">
              <a:buNone/>
            </a:pPr>
            <a:r>
              <a:rPr lang="en-US" sz="1000" i="1" dirty="0">
                <a:solidFill>
                  <a:schemeClr val="accent1"/>
                </a:solidFill>
              </a:rPr>
              <a:t>2. read / write blocks</a:t>
            </a:r>
            <a:endParaRPr lang="en-US" sz="1000" dirty="0"/>
          </a:p>
        </p:txBody>
      </p:sp>
      <p:sp>
        <p:nvSpPr>
          <p:cNvPr id="24" name="Replica pipeline 1"/>
          <p:cNvSpPr/>
          <p:nvPr/>
        </p:nvSpPr>
        <p:spPr>
          <a:xfrm>
            <a:off x="1444752" y="3191256"/>
            <a:ext cx="82296" cy="0"/>
          </a:xfrm>
          <a:prstGeom prst="line">
            <a:avLst/>
          </a:prstGeom>
          <a:noFill/>
          <a:ln w="19050">
            <a:solidFill>
              <a:schemeClr val="accent1"/>
            </a:solidFill>
            <a:prstDash val="solid"/>
            <a:tailEnd type="triangle"/>
          </a:ln>
        </p:spPr>
      </p:sp>
      <p:sp>
        <p:nvSpPr>
          <p:cNvPr id="25" name="Replica pipeline 2"/>
          <p:cNvSpPr/>
          <p:nvPr/>
        </p:nvSpPr>
        <p:spPr>
          <a:xfrm>
            <a:off x="2423160" y="3191256"/>
            <a:ext cx="82296" cy="0"/>
          </a:xfrm>
          <a:prstGeom prst="line">
            <a:avLst/>
          </a:prstGeom>
          <a:noFill/>
          <a:ln w="19050">
            <a:solidFill>
              <a:schemeClr val="accent1"/>
            </a:solidFill>
            <a:prstDash val="solid"/>
            <a:tailEnd type="triangle"/>
          </a:ln>
        </p:spPr>
      </p:sp>
      <p:sp>
        <p:nvSpPr>
          <p:cNvPr id="26" name="Heartbeats"/>
          <p:cNvSpPr/>
          <p:nvPr/>
        </p:nvSpPr>
        <p:spPr>
          <a:xfrm>
            <a:off x="3108960" y="1664208"/>
            <a:ext cx="0" cy="1243584"/>
          </a:xfrm>
          <a:prstGeom prst="line">
            <a:avLst/>
          </a:prstGeom>
          <a:noFill/>
          <a:ln w="19050">
            <a:solidFill>
              <a:schemeClr val="accent2"/>
            </a:solidFill>
            <a:prstDash val="dash"/>
            <a:headEnd type="triangle"/>
          </a:ln>
        </p:spPr>
      </p:sp>
      <p:sp>
        <p:nvSpPr>
          <p:cNvPr id="27" name="Link label: 3. heartbeat + block report"/>
          <p:cNvSpPr txBox="1"/>
          <p:nvPr/>
        </p:nvSpPr>
        <p:spPr>
          <a:xfrm>
            <a:off x="3172968" y="2157984"/>
            <a:ext cx="1737360" cy="182880"/>
          </a:xfrm>
          <a:prstGeom prst="rect">
            <a:avLst/>
          </a:prstGeom>
          <a:noFill/>
          <a:ln/>
        </p:spPr>
        <p:txBody>
          <a:bodyPr wrap="square" lIns="0" tIns="0" rIns="0" bIns="0" rtlCol="0" anchor="ctr"/>
          <a:lstStyle/>
          <a:p>
            <a:pPr algn="l" indent="0" marL="0">
              <a:buNone/>
            </a:pPr>
            <a:r>
              <a:rPr lang="en-US" sz="1000" i="1" dirty="0">
                <a:solidFill>
                  <a:schemeClr val="accent2"/>
                </a:solidFill>
              </a:rPr>
              <a:t>3. heartbeat + block report</a:t>
            </a:r>
            <a:endParaRPr lang="en-US" sz="1000" dirty="0"/>
          </a:p>
        </p:txBody>
      </p:sp>
      <p:sp>
        <p:nvSpPr>
          <p:cNvPr id="28" name="Mover to archive"/>
          <p:cNvSpPr/>
          <p:nvPr/>
        </p:nvSpPr>
        <p:spPr>
          <a:xfrm>
            <a:off x="3520440" y="3191256"/>
            <a:ext cx="137160" cy="0"/>
          </a:xfrm>
          <a:prstGeom prst="line">
            <a:avLst/>
          </a:prstGeom>
          <a:noFill/>
          <a:ln w="19050">
            <a:solidFill>
              <a:schemeClr val="accent1"/>
            </a:solidFill>
            <a:prstDash val="solid"/>
            <a:tailEnd type="triangle"/>
          </a:ln>
        </p:spPr>
      </p:sp>
      <p:sp>
        <p:nvSpPr>
          <p:cNvPr id="29" name="HDFS facts card"/>
          <p:cNvSpPr/>
          <p:nvPr/>
        </p:nvSpPr>
        <p:spPr>
          <a:xfrm>
            <a:off x="6035040" y="1097280"/>
            <a:ext cx="2651760" cy="3200400"/>
          </a:xfrm>
          <a:prstGeom prst="rect">
            <a:avLst/>
          </a:prstGeom>
          <a:solidFill>
            <a:schemeClr val="bg2"/>
          </a:solidFill>
          <a:ln w="12700">
            <a:solidFill>
              <a:schemeClr val="accent1"/>
            </a:solidFill>
            <a:prstDash val="solid"/>
          </a:ln>
        </p:spPr>
      </p:sp>
      <p:sp>
        <p:nvSpPr>
          <p:cNvPr id="30" name="HDFS facts heading"/>
          <p:cNvSpPr txBox="1"/>
          <p:nvPr/>
        </p:nvSpPr>
        <p:spPr>
          <a:xfrm>
            <a:off x="6172200" y="1188720"/>
            <a:ext cx="2377440" cy="292608"/>
          </a:xfrm>
          <a:prstGeom prst="rect">
            <a:avLst/>
          </a:prstGeom>
          <a:noFill/>
          <a:ln/>
        </p:spPr>
        <p:txBody>
          <a:bodyPr wrap="square" lIns="0" tIns="0" rIns="0" bIns="0" rtlCol="0" anchor="t"/>
          <a:lstStyle/>
          <a:p>
            <a:pPr algn="l" indent="0" marL="0">
              <a:buNone/>
            </a:pPr>
            <a:r>
              <a:rPr lang="en-US" sz="1600" b="1" dirty="0">
                <a:solidFill>
                  <a:schemeClr val="accent1"/>
                </a:solidFill>
              </a:rPr>
              <a:t>At eBay</a:t>
            </a:r>
            <a:endParaRPr lang="en-US" sz="1600" dirty="0"/>
          </a:p>
        </p:txBody>
      </p:sp>
      <p:sp>
        <p:nvSpPr>
          <p:cNvPr id="31" name="HDFS facts facts"/>
          <p:cNvSpPr txBox="1"/>
          <p:nvPr/>
        </p:nvSpPr>
        <p:spPr>
          <a:xfrm>
            <a:off x="6172200" y="1554480"/>
            <a:ext cx="2377440" cy="2651760"/>
          </a:xfrm>
          <a:prstGeom prst="rect">
            <a:avLst/>
          </a:prstGeom>
          <a:noFill/>
          <a:ln/>
        </p:spPr>
        <p:txBody>
          <a:bodyPr wrap="square" lIns="0" tIns="0" rIns="0" bIns="0" rtlCol="0" anchor="t"/>
          <a:lstStyle/>
          <a:p>
            <a:pPr algn="l" marL="152400" indent="-152400">
              <a:spcAft>
                <a:spcPts val="600"/>
              </a:spcAft>
              <a:buSzPct val="100000"/>
              <a:buChar char="•"/>
            </a:pPr>
            <a:r>
              <a:rPr lang="en-US" sz="1200" b="1" dirty="0">
                <a:solidFill>
                  <a:schemeClr val="tx2"/>
                </a:solidFill>
              </a:rPr>
              <a:t>2010: </a:t>
            </a:r>
            <a:pPr algn="l" indent="0" marL="0">
              <a:spcAft>
                <a:spcPts val="600"/>
              </a:spcAft>
              <a:buNone/>
            </a:pPr>
            <a:r>
              <a:rPr lang="en-US" sz="1200" dirty="0">
                <a:solidFill>
                  <a:schemeClr val="tx1"/>
                </a:solidFill>
              </a:rPr>
              <a:t>Athena: 532 nodes of 10 TB each (5.3 PB), 8–10 TB new data a day</a:t>
            </a:r>
            <a:endParaRPr lang="en-US" sz="1200" dirty="0"/>
          </a:p>
          <a:p>
            <a:pPr algn="l" marL="152400" indent="-152400">
              <a:spcAft>
                <a:spcPts val="600"/>
              </a:spcAft>
              <a:buSzPct val="100000"/>
              <a:buChar char="•"/>
            </a:pPr>
            <a:r>
              <a:rPr lang="en-US" sz="1200" b="1" dirty="0">
                <a:solidFill>
                  <a:schemeClr val="tx2"/>
                </a:solidFill>
              </a:rPr>
              <a:t>Masters: </a:t>
            </a:r>
            <a:pPr algn="l" indent="0" marL="0">
              <a:spcAft>
                <a:spcPts val="600"/>
              </a:spcAft>
              <a:buNone/>
            </a:pPr>
            <a:r>
              <a:rPr lang="en-US" sz="1200" dirty="0">
                <a:solidFill>
                  <a:schemeClr val="tx1"/>
                </a:solidFill>
              </a:rPr>
              <a:t>NameNode, JobTracker, ZooKeeper, HBase Master on larger servers</a:t>
            </a:r>
            <a:endParaRPr lang="en-US" sz="1200" dirty="0"/>
          </a:p>
          <a:p>
            <a:pPr algn="l" marL="152400" indent="-152400">
              <a:spcAft>
                <a:spcPts val="600"/>
              </a:spcAft>
              <a:buSzPct val="100000"/>
              <a:buChar char="•"/>
            </a:pPr>
            <a:r>
              <a:rPr lang="en-US" sz="1200" b="1" dirty="0">
                <a:solidFill>
                  <a:schemeClr val="tx2"/>
                </a:solidFill>
              </a:rPr>
              <a:t>Memory: </a:t>
            </a:r>
            <a:pPr algn="l" indent="0" marL="0">
              <a:spcAft>
                <a:spcPts val="600"/>
              </a:spcAft>
              <a:buNone/>
            </a:pPr>
            <a:r>
              <a:rPr lang="en-US" sz="1200" dirty="0">
                <a:solidFill>
                  <a:schemeClr val="tx1"/>
                </a:solidFill>
              </a:rPr>
              <a:t>~1 GB of NameNode memory per PB stored</a:t>
            </a:r>
            <a:endParaRPr lang="en-US" sz="1200" dirty="0"/>
          </a:p>
          <a:p>
            <a:pPr algn="l" marL="152400" indent="-152400">
              <a:spcAft>
                <a:spcPts val="600"/>
              </a:spcAft>
              <a:buSzPct val="100000"/>
              <a:buChar char="•"/>
            </a:pPr>
            <a:r>
              <a:rPr lang="en-US" sz="1200" b="1" dirty="0">
                <a:solidFill>
                  <a:schemeClr val="tx2"/>
                </a:solidFill>
              </a:rPr>
              <a:t>Tiers: </a:t>
            </a:r>
            <a:pPr algn="l" indent="0" marL="0">
              <a:spcAft>
                <a:spcPts val="600"/>
              </a:spcAft>
              <a:buNone/>
            </a:pPr>
            <a:r>
              <a:rPr lang="en-US" sz="1200" dirty="0">
                <a:solidFill>
                  <a:schemeClr val="tx1"/>
                </a:solidFill>
              </a:rPr>
              <a:t>40 PB DISK + 10 PB ARCHIVE (220 TB nodes)</a:t>
            </a:r>
            <a:endParaRPr lang="en-US" sz="1200" dirty="0"/>
          </a:p>
          <a:p>
            <a:pPr algn="l" marL="152400" indent="-152400">
              <a:spcAft>
                <a:spcPts val="600"/>
              </a:spcAft>
              <a:buSzPct val="100000"/>
              <a:buChar char="•"/>
            </a:pPr>
            <a:r>
              <a:rPr lang="en-US" sz="1200" b="1" dirty="0">
                <a:solidFill>
                  <a:schemeClr val="tx2"/>
                </a:solidFill>
              </a:rPr>
              <a:t>Later: </a:t>
            </a:r>
            <a:pPr algn="l" indent="0" marL="0">
              <a:spcAft>
                <a:spcPts val="600"/>
              </a:spcAft>
              <a:buNone/>
            </a:pPr>
            <a:r>
              <a:rPr lang="en-US" sz="1200" dirty="0">
                <a:solidFill>
                  <a:schemeClr val="tx1"/>
                </a:solidFill>
              </a:rPr>
              <a:t>1 billion files → namespace split in two</a:t>
            </a:r>
            <a:endParaRPr lang="en-US" sz="1200" dirty="0"/>
          </a:p>
        </p:txBody>
      </p:sp>
      <p:sp>
        <p:nvSpPr>
          <p:cNvPr id="32" name="Legend data"/>
          <p:cNvSpPr/>
          <p:nvPr/>
        </p:nvSpPr>
        <p:spPr>
          <a:xfrm>
            <a:off x="457200" y="4498848"/>
            <a:ext cx="320040" cy="0"/>
          </a:xfrm>
          <a:prstGeom prst="line">
            <a:avLst/>
          </a:prstGeom>
          <a:noFill/>
          <a:ln w="19050">
            <a:solidFill>
              <a:schemeClr val="accent1"/>
            </a:solidFill>
            <a:prstDash val="solid"/>
            <a:tailEnd type="triangle"/>
          </a:ln>
        </p:spPr>
      </p:sp>
      <p:sp>
        <p:nvSpPr>
          <p:cNvPr id="33" name="Legend data label"/>
          <p:cNvSpPr txBox="1"/>
          <p:nvPr/>
        </p:nvSpPr>
        <p:spPr>
          <a:xfrm>
            <a:off x="841248" y="4407408"/>
            <a:ext cx="457200" cy="182880"/>
          </a:xfrm>
          <a:prstGeom prst="rect">
            <a:avLst/>
          </a:prstGeom>
          <a:noFill/>
          <a:ln/>
        </p:spPr>
        <p:txBody>
          <a:bodyPr wrap="square" lIns="0" tIns="0" rIns="0" bIns="0" rtlCol="0" anchor="ctr"/>
          <a:lstStyle/>
          <a:p>
            <a:pPr indent="0" marL="0">
              <a:buNone/>
            </a:pPr>
            <a:r>
              <a:rPr lang="en-US" sz="1000" dirty="0">
                <a:solidFill>
                  <a:schemeClr val="accent3"/>
                </a:solidFill>
              </a:rPr>
              <a:t>data</a:t>
            </a:r>
            <a:endParaRPr lang="en-US" sz="1000" dirty="0"/>
          </a:p>
        </p:txBody>
      </p:sp>
      <p:sp>
        <p:nvSpPr>
          <p:cNvPr id="34" name="Legend control"/>
          <p:cNvSpPr/>
          <p:nvPr/>
        </p:nvSpPr>
        <p:spPr>
          <a:xfrm>
            <a:off x="1325880" y="4498848"/>
            <a:ext cx="320040" cy="0"/>
          </a:xfrm>
          <a:prstGeom prst="line">
            <a:avLst/>
          </a:prstGeom>
          <a:noFill/>
          <a:ln w="19050">
            <a:solidFill>
              <a:schemeClr val="accent2"/>
            </a:solidFill>
            <a:prstDash val="dash"/>
            <a:tailEnd type="triangle"/>
          </a:ln>
        </p:spPr>
      </p:sp>
      <p:sp>
        <p:nvSpPr>
          <p:cNvPr id="35" name="Legend control label"/>
          <p:cNvSpPr txBox="1"/>
          <p:nvPr/>
        </p:nvSpPr>
        <p:spPr>
          <a:xfrm>
            <a:off x="1709928" y="4407408"/>
            <a:ext cx="1371600" cy="182880"/>
          </a:xfrm>
          <a:prstGeom prst="rect">
            <a:avLst/>
          </a:prstGeom>
          <a:noFill/>
          <a:ln/>
        </p:spPr>
        <p:txBody>
          <a:bodyPr wrap="square" lIns="0" tIns="0" rIns="0" bIns="0" rtlCol="0" anchor="ctr"/>
          <a:lstStyle/>
          <a:p>
            <a:pPr indent="0" marL="0">
              <a:buNone/>
            </a:pPr>
            <a:r>
              <a:rPr lang="en-US" sz="1000" dirty="0">
                <a:solidFill>
                  <a:schemeClr val="accent3"/>
                </a:solidFill>
              </a:rPr>
              <a:t>control / metadata</a:t>
            </a:r>
            <a:endParaRPr lang="en-US" sz="1000" dirty="0"/>
          </a:p>
        </p:txBody>
      </p:sp>
      <p:sp>
        <p:nvSpPr>
          <p:cNvPr id="36"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eBay HUG (2010); eBay Tech Blog (Hadoop, tiered storage, HDFS federation).</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YARN at eBay: one ResourceManager shares each cluster between many jobs</a:t>
            </a:r>
            <a:endParaRPr lang="en-US" sz="2400" dirty="0"/>
          </a:p>
        </p:txBody>
      </p:sp>
      <p:sp>
        <p:nvSpPr>
          <p:cNvPr id="4" name="YARN clients"/>
          <p:cNvSpPr txBox="1"/>
          <p:nvPr/>
        </p:nvSpPr>
        <p:spPr>
          <a:xfrm>
            <a:off x="457200" y="1097280"/>
            <a:ext cx="1417320" cy="640080"/>
          </a:xfrm>
          <a:prstGeom prst="roundRect">
            <a:avLst>
              <a:gd name="adj" fmla="val 7143"/>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50" b="1" dirty="0">
                <a:solidFill>
                  <a:schemeClr val="tx2"/>
                </a:solidFill>
              </a:rPr>
              <a:t>Clients</a:t>
            </a:r>
            <a:endParaRPr lang="en-US" sz="1150" dirty="0"/>
          </a:p>
          <a:p>
            <a:pPr algn="ctr" indent="0" marL="0">
              <a:buNone/>
            </a:pPr>
            <a:r>
              <a:rPr lang="en-US" sz="1000" dirty="0">
                <a:solidFill>
                  <a:schemeClr val="accent3"/>
                </a:solidFill>
              </a:rPr>
              <a:t>MapReduce, Hive, Pig, Spark jobs</a:t>
            </a:r>
            <a:endParaRPr lang="en-US" sz="1150" dirty="0"/>
          </a:p>
        </p:txBody>
      </p:sp>
      <p:sp>
        <p:nvSpPr>
          <p:cNvPr id="5" name="ResourceManager"/>
          <p:cNvSpPr/>
          <p:nvPr/>
        </p:nvSpPr>
        <p:spPr>
          <a:xfrm>
            <a:off x="2240280" y="1024128"/>
            <a:ext cx="3474720" cy="868680"/>
          </a:xfrm>
          <a:prstGeom prst="roundRect">
            <a:avLst>
              <a:gd name="adj" fmla="val 5263"/>
            </a:avLst>
          </a:prstGeom>
          <a:solidFill>
            <a:schemeClr val="tx2"/>
          </a:solidFill>
          <a:ln w="12700">
            <a:solidFill>
              <a:schemeClr val="tx2"/>
            </a:solidFill>
            <a:prstDash val="solid"/>
          </a:ln>
        </p:spPr>
      </p:sp>
      <p:sp>
        <p:nvSpPr>
          <p:cNvPr id="6" name="ResourceManager label"/>
          <p:cNvSpPr txBox="1"/>
          <p:nvPr/>
        </p:nvSpPr>
        <p:spPr>
          <a:xfrm>
            <a:off x="2331720" y="1051560"/>
            <a:ext cx="3291840" cy="228600"/>
          </a:xfrm>
          <a:prstGeom prst="rect">
            <a:avLst/>
          </a:prstGeom>
          <a:noFill/>
          <a:ln/>
        </p:spPr>
        <p:txBody>
          <a:bodyPr wrap="square" lIns="0" tIns="0" rIns="0" bIns="0" rtlCol="0" anchor="ctr"/>
          <a:lstStyle/>
          <a:p>
            <a:pPr algn="l" indent="0" marL="0">
              <a:buNone/>
            </a:pPr>
            <a:r>
              <a:rPr lang="en-US" sz="1200" b="1" dirty="0">
                <a:solidFill>
                  <a:schemeClr val="bg1"/>
                </a:solidFill>
              </a:rPr>
              <a:t>ResourceManager</a:t>
            </a:r>
            <a:endParaRPr lang="en-US" sz="1200" dirty="0"/>
          </a:p>
        </p:txBody>
      </p:sp>
      <p:sp>
        <p:nvSpPr>
          <p:cNvPr id="7" name="RM Scheduler"/>
          <p:cNvSpPr txBox="1"/>
          <p:nvPr/>
        </p:nvSpPr>
        <p:spPr>
          <a:xfrm>
            <a:off x="2331720" y="1325880"/>
            <a:ext cx="1600200" cy="475488"/>
          </a:xfrm>
          <a:prstGeom prst="roundRect">
            <a:avLst>
              <a:gd name="adj" fmla="val 961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Scheduler</a:t>
            </a:r>
            <a:endParaRPr lang="en-US" sz="1100" dirty="0"/>
          </a:p>
          <a:p>
            <a:pPr algn="ctr" indent="0" marL="0">
              <a:buNone/>
            </a:pPr>
            <a:r>
              <a:rPr lang="en-US" sz="950" dirty="0">
                <a:solidFill>
                  <a:schemeClr val="tx1"/>
                </a:solidFill>
              </a:rPr>
              <a:t>queues per team</a:t>
            </a:r>
            <a:endParaRPr lang="en-US" sz="1100" dirty="0"/>
          </a:p>
        </p:txBody>
      </p:sp>
      <p:sp>
        <p:nvSpPr>
          <p:cNvPr id="8" name="RM ApplicationsManager"/>
          <p:cNvSpPr txBox="1"/>
          <p:nvPr/>
        </p:nvSpPr>
        <p:spPr>
          <a:xfrm>
            <a:off x="4023360" y="1325880"/>
            <a:ext cx="1600200" cy="475488"/>
          </a:xfrm>
          <a:prstGeom prst="roundRect">
            <a:avLst>
              <a:gd name="adj" fmla="val 961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Applications Mgr</a:t>
            </a:r>
            <a:endParaRPr lang="en-US" sz="1100" dirty="0"/>
          </a:p>
          <a:p>
            <a:pPr algn="ctr" indent="0" marL="0">
              <a:buNone/>
            </a:pPr>
            <a:r>
              <a:rPr lang="en-US" sz="950" dirty="0">
                <a:solidFill>
                  <a:schemeClr val="tx1"/>
                </a:solidFill>
              </a:rPr>
              <a:t>starts each job's AM</a:t>
            </a:r>
            <a:endParaRPr lang="en-US" sz="1100" dirty="0"/>
          </a:p>
        </p:txBody>
      </p:sp>
      <p:sp>
        <p:nvSpPr>
          <p:cNvPr id="9" name="Submit job"/>
          <p:cNvSpPr/>
          <p:nvPr/>
        </p:nvSpPr>
        <p:spPr>
          <a:xfrm>
            <a:off x="1874520" y="1417320"/>
            <a:ext cx="365760" cy="0"/>
          </a:xfrm>
          <a:prstGeom prst="line">
            <a:avLst/>
          </a:prstGeom>
          <a:noFill/>
          <a:ln w="19050">
            <a:solidFill>
              <a:schemeClr val="accent1"/>
            </a:solidFill>
            <a:prstDash val="solid"/>
            <a:tailEnd type="triangle"/>
          </a:ln>
        </p:spPr>
      </p:sp>
      <p:sp>
        <p:nvSpPr>
          <p:cNvPr id="10" name="Link label: 1. submit"/>
          <p:cNvSpPr txBox="1"/>
          <p:nvPr/>
        </p:nvSpPr>
        <p:spPr>
          <a:xfrm>
            <a:off x="1691640" y="1161288"/>
            <a:ext cx="548640" cy="182880"/>
          </a:xfrm>
          <a:prstGeom prst="rect">
            <a:avLst/>
          </a:prstGeom>
          <a:noFill/>
          <a:ln/>
        </p:spPr>
        <p:txBody>
          <a:bodyPr wrap="square" lIns="0" tIns="0" rIns="0" bIns="0" rtlCol="0" anchor="ctr"/>
          <a:lstStyle/>
          <a:p>
            <a:pPr algn="ctr" indent="0" marL="0">
              <a:buNone/>
            </a:pPr>
            <a:r>
              <a:rPr lang="en-US" sz="1000" i="1" dirty="0">
                <a:solidFill>
                  <a:schemeClr val="accent1"/>
                </a:solidFill>
              </a:rPr>
              <a:t>1. submit</a:t>
            </a:r>
            <a:endParaRPr lang="en-US" sz="1000" dirty="0"/>
          </a:p>
        </p:txBody>
      </p:sp>
      <p:sp>
        <p:nvSpPr>
          <p:cNvPr id="11" name="Worker nodes zone"/>
          <p:cNvSpPr/>
          <p:nvPr/>
        </p:nvSpPr>
        <p:spPr>
          <a:xfrm>
            <a:off x="457200" y="2377440"/>
            <a:ext cx="5257800" cy="1874520"/>
          </a:xfrm>
          <a:prstGeom prst="rect">
            <a:avLst/>
          </a:prstGeom>
          <a:solidFill>
            <a:schemeClr val="bg1"/>
          </a:solidFill>
          <a:ln w="12700">
            <a:solidFill>
              <a:schemeClr val="accent6"/>
            </a:solidFill>
            <a:prstDash val="dash"/>
          </a:ln>
        </p:spPr>
      </p:sp>
      <p:sp>
        <p:nvSpPr>
          <p:cNvPr id="12" name="Worker nodes zone label"/>
          <p:cNvSpPr txBox="1"/>
          <p:nvPr/>
        </p:nvSpPr>
        <p:spPr>
          <a:xfrm>
            <a:off x="530352" y="2414016"/>
            <a:ext cx="5111496" cy="182880"/>
          </a:xfrm>
          <a:prstGeom prst="rect">
            <a:avLst/>
          </a:prstGeom>
          <a:noFill/>
          <a:ln/>
        </p:spPr>
        <p:txBody>
          <a:bodyPr wrap="square" lIns="0" tIns="0" rIns="0" bIns="0" rtlCol="0" anchor="t"/>
          <a:lstStyle/>
          <a:p>
            <a:pPr algn="r" indent="0" marL="0">
              <a:buNone/>
            </a:pPr>
            <a:r>
              <a:rPr lang="en-US" sz="1000" b="1" spc="100" kern="0" dirty="0">
                <a:solidFill>
                  <a:schemeClr val="accent3"/>
                </a:solidFill>
              </a:rPr>
              <a:t>WORKERS · ALSO HDFS DATANODES</a:t>
            </a:r>
            <a:endParaRPr lang="en-US" sz="1000" dirty="0"/>
          </a:p>
        </p:txBody>
      </p:sp>
      <p:sp>
        <p:nvSpPr>
          <p:cNvPr id="13" name="NodeManager 1"/>
          <p:cNvSpPr/>
          <p:nvPr/>
        </p:nvSpPr>
        <p:spPr>
          <a:xfrm>
            <a:off x="566928" y="2651760"/>
            <a:ext cx="1600200" cy="1481328"/>
          </a:xfrm>
          <a:prstGeom prst="rect">
            <a:avLst/>
          </a:prstGeom>
          <a:solidFill>
            <a:schemeClr val="bg2"/>
          </a:solidFill>
          <a:ln w="12700">
            <a:solidFill>
              <a:schemeClr val="accent1"/>
            </a:solidFill>
            <a:prstDash val="solid"/>
          </a:ln>
        </p:spPr>
      </p:sp>
      <p:sp>
        <p:nvSpPr>
          <p:cNvPr id="14" name="NodeManager 1 label"/>
          <p:cNvSpPr txBox="1"/>
          <p:nvPr/>
        </p:nvSpPr>
        <p:spPr>
          <a:xfrm>
            <a:off x="640080" y="2688336"/>
            <a:ext cx="1463040" cy="228600"/>
          </a:xfrm>
          <a:prstGeom prst="rect">
            <a:avLst/>
          </a:prstGeom>
          <a:noFill/>
          <a:ln/>
        </p:spPr>
        <p:txBody>
          <a:bodyPr wrap="square" lIns="0" tIns="0" rIns="0" bIns="0" rtlCol="0" anchor="ctr"/>
          <a:lstStyle/>
          <a:p>
            <a:pPr algn="l" indent="0" marL="0">
              <a:buNone/>
            </a:pPr>
            <a:r>
              <a:rPr lang="en-US" sz="1100" b="1" dirty="0">
                <a:solidFill>
                  <a:schemeClr val="tx2"/>
                </a:solidFill>
              </a:rPr>
              <a:t>NodeManager 1</a:t>
            </a:r>
            <a:endParaRPr lang="en-US" sz="1100" dirty="0"/>
          </a:p>
        </p:txBody>
      </p:sp>
      <p:sp>
        <p:nvSpPr>
          <p:cNvPr id="15" name="NodeManager 1 MR AppMaster"/>
          <p:cNvSpPr txBox="1"/>
          <p:nvPr/>
        </p:nvSpPr>
        <p:spPr>
          <a:xfrm>
            <a:off x="658368" y="2962656"/>
            <a:ext cx="1417320" cy="475488"/>
          </a:xfrm>
          <a:prstGeom prst="roundRect">
            <a:avLst>
              <a:gd name="adj" fmla="val 9615"/>
            </a:avLst>
          </a:prstGeom>
          <a:solidFill>
            <a:schemeClr val="accent4"/>
          </a:solidFill>
          <a:ln w="12700">
            <a:solidFill>
              <a:schemeClr val="accent2"/>
            </a:solidFill>
          </a:ln>
        </p:spPr>
        <p:txBody>
          <a:bodyPr wrap="square" lIns="63500" tIns="25400" rIns="63500" bIns="25400" rtlCol="0" anchor="ctr"/>
          <a:lstStyle/>
          <a:p>
            <a:pPr algn="ctr" indent="0" marL="0">
              <a:buNone/>
            </a:pPr>
            <a:r>
              <a:rPr lang="en-US" sz="1050" b="1" dirty="0">
                <a:solidFill>
                  <a:schemeClr val="tx1"/>
                </a:solidFill>
              </a:rPr>
              <a:t>MR AppMaster</a:t>
            </a:r>
            <a:endParaRPr lang="en-US" sz="1050" dirty="0"/>
          </a:p>
          <a:p>
            <a:pPr algn="ctr" indent="0" marL="0">
              <a:buNone/>
            </a:pPr>
            <a:r>
              <a:rPr lang="en-US" sz="900" dirty="0">
                <a:solidFill>
                  <a:schemeClr val="tx1"/>
                </a:solidFill>
              </a:rPr>
              <a:t>container</a:t>
            </a:r>
            <a:endParaRPr lang="en-US" sz="1050" dirty="0"/>
          </a:p>
        </p:txBody>
      </p:sp>
      <p:sp>
        <p:nvSpPr>
          <p:cNvPr id="16" name="NodeManager 1 Map task"/>
          <p:cNvSpPr txBox="1"/>
          <p:nvPr/>
        </p:nvSpPr>
        <p:spPr>
          <a:xfrm>
            <a:off x="658368" y="3529584"/>
            <a:ext cx="1417320" cy="475488"/>
          </a:xfrm>
          <a:prstGeom prst="roundRect">
            <a:avLst>
              <a:gd name="adj" fmla="val 961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50" b="1" dirty="0">
                <a:solidFill>
                  <a:schemeClr val="tx2"/>
                </a:solidFill>
              </a:rPr>
              <a:t>Map task</a:t>
            </a:r>
            <a:endParaRPr lang="en-US" sz="1050" dirty="0"/>
          </a:p>
          <a:p>
            <a:pPr algn="ctr" indent="0" marL="0">
              <a:buNone/>
            </a:pPr>
            <a:r>
              <a:rPr lang="en-US" sz="900" dirty="0">
                <a:solidFill>
                  <a:schemeClr val="tx1"/>
                </a:solidFill>
              </a:rPr>
              <a:t>container</a:t>
            </a:r>
            <a:endParaRPr lang="en-US" sz="1050" dirty="0"/>
          </a:p>
        </p:txBody>
      </p:sp>
      <p:sp>
        <p:nvSpPr>
          <p:cNvPr id="17" name="NodeManager 2"/>
          <p:cNvSpPr/>
          <p:nvPr/>
        </p:nvSpPr>
        <p:spPr>
          <a:xfrm>
            <a:off x="2286000" y="2651760"/>
            <a:ext cx="1600200" cy="1481328"/>
          </a:xfrm>
          <a:prstGeom prst="rect">
            <a:avLst/>
          </a:prstGeom>
          <a:solidFill>
            <a:schemeClr val="bg2"/>
          </a:solidFill>
          <a:ln w="12700">
            <a:solidFill>
              <a:schemeClr val="accent1"/>
            </a:solidFill>
            <a:prstDash val="solid"/>
          </a:ln>
        </p:spPr>
      </p:sp>
      <p:sp>
        <p:nvSpPr>
          <p:cNvPr id="18" name="NodeManager 2 label"/>
          <p:cNvSpPr txBox="1"/>
          <p:nvPr/>
        </p:nvSpPr>
        <p:spPr>
          <a:xfrm>
            <a:off x="2359152" y="2688336"/>
            <a:ext cx="1463040" cy="228600"/>
          </a:xfrm>
          <a:prstGeom prst="rect">
            <a:avLst/>
          </a:prstGeom>
          <a:noFill/>
          <a:ln/>
        </p:spPr>
        <p:txBody>
          <a:bodyPr wrap="square" lIns="0" tIns="0" rIns="0" bIns="0" rtlCol="0" anchor="ctr"/>
          <a:lstStyle/>
          <a:p>
            <a:pPr algn="l" indent="0" marL="0">
              <a:buNone/>
            </a:pPr>
            <a:r>
              <a:rPr lang="en-US" sz="1100" b="1" dirty="0">
                <a:solidFill>
                  <a:schemeClr val="tx2"/>
                </a:solidFill>
              </a:rPr>
              <a:t>NodeManager 2</a:t>
            </a:r>
            <a:endParaRPr lang="en-US" sz="1100" dirty="0"/>
          </a:p>
        </p:txBody>
      </p:sp>
      <p:sp>
        <p:nvSpPr>
          <p:cNvPr id="19" name="NodeManager 2 Map task"/>
          <p:cNvSpPr txBox="1"/>
          <p:nvPr/>
        </p:nvSpPr>
        <p:spPr>
          <a:xfrm>
            <a:off x="2377440" y="2962656"/>
            <a:ext cx="1417320" cy="475488"/>
          </a:xfrm>
          <a:prstGeom prst="roundRect">
            <a:avLst>
              <a:gd name="adj" fmla="val 961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50" b="1" dirty="0">
                <a:solidFill>
                  <a:schemeClr val="tx2"/>
                </a:solidFill>
              </a:rPr>
              <a:t>Map task</a:t>
            </a:r>
            <a:endParaRPr lang="en-US" sz="1050" dirty="0"/>
          </a:p>
          <a:p>
            <a:pPr algn="ctr" indent="0" marL="0">
              <a:buNone/>
            </a:pPr>
            <a:r>
              <a:rPr lang="en-US" sz="900" dirty="0">
                <a:solidFill>
                  <a:schemeClr val="tx1"/>
                </a:solidFill>
              </a:rPr>
              <a:t>container</a:t>
            </a:r>
            <a:endParaRPr lang="en-US" sz="1050" dirty="0"/>
          </a:p>
        </p:txBody>
      </p:sp>
      <p:sp>
        <p:nvSpPr>
          <p:cNvPr id="20" name="NodeManager 2 Reduce task"/>
          <p:cNvSpPr txBox="1"/>
          <p:nvPr/>
        </p:nvSpPr>
        <p:spPr>
          <a:xfrm>
            <a:off x="2377440" y="3529584"/>
            <a:ext cx="1417320" cy="475488"/>
          </a:xfrm>
          <a:prstGeom prst="roundRect">
            <a:avLst>
              <a:gd name="adj" fmla="val 961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50" b="1" dirty="0">
                <a:solidFill>
                  <a:schemeClr val="tx2"/>
                </a:solidFill>
              </a:rPr>
              <a:t>Reduce task</a:t>
            </a:r>
            <a:endParaRPr lang="en-US" sz="1050" dirty="0"/>
          </a:p>
          <a:p>
            <a:pPr algn="ctr" indent="0" marL="0">
              <a:buNone/>
            </a:pPr>
            <a:r>
              <a:rPr lang="en-US" sz="900" dirty="0">
                <a:solidFill>
                  <a:schemeClr val="tx1"/>
                </a:solidFill>
              </a:rPr>
              <a:t>container</a:t>
            </a:r>
            <a:endParaRPr lang="en-US" sz="1050" dirty="0"/>
          </a:p>
        </p:txBody>
      </p:sp>
      <p:sp>
        <p:nvSpPr>
          <p:cNvPr id="21" name="NodeManager 3"/>
          <p:cNvSpPr/>
          <p:nvPr/>
        </p:nvSpPr>
        <p:spPr>
          <a:xfrm>
            <a:off x="4005072" y="2651760"/>
            <a:ext cx="1600200" cy="1481328"/>
          </a:xfrm>
          <a:prstGeom prst="rect">
            <a:avLst/>
          </a:prstGeom>
          <a:solidFill>
            <a:schemeClr val="bg2"/>
          </a:solidFill>
          <a:ln w="12700">
            <a:solidFill>
              <a:schemeClr val="accent1"/>
            </a:solidFill>
            <a:prstDash val="solid"/>
          </a:ln>
        </p:spPr>
      </p:sp>
      <p:sp>
        <p:nvSpPr>
          <p:cNvPr id="22" name="NodeManager 3 label"/>
          <p:cNvSpPr txBox="1"/>
          <p:nvPr/>
        </p:nvSpPr>
        <p:spPr>
          <a:xfrm>
            <a:off x="4078224" y="2688336"/>
            <a:ext cx="1463040" cy="228600"/>
          </a:xfrm>
          <a:prstGeom prst="rect">
            <a:avLst/>
          </a:prstGeom>
          <a:noFill/>
          <a:ln/>
        </p:spPr>
        <p:txBody>
          <a:bodyPr wrap="square" lIns="0" tIns="0" rIns="0" bIns="0" rtlCol="0" anchor="ctr"/>
          <a:lstStyle/>
          <a:p>
            <a:pPr algn="l" indent="0" marL="0">
              <a:buNone/>
            </a:pPr>
            <a:r>
              <a:rPr lang="en-US" sz="1100" b="1" dirty="0">
                <a:solidFill>
                  <a:schemeClr val="tx2"/>
                </a:solidFill>
              </a:rPr>
              <a:t>NodeManager 3</a:t>
            </a:r>
            <a:endParaRPr lang="en-US" sz="1100" dirty="0"/>
          </a:p>
        </p:txBody>
      </p:sp>
      <p:sp>
        <p:nvSpPr>
          <p:cNvPr id="23" name="NodeManager 3 Spark AM"/>
          <p:cNvSpPr txBox="1"/>
          <p:nvPr/>
        </p:nvSpPr>
        <p:spPr>
          <a:xfrm>
            <a:off x="4096512" y="2962656"/>
            <a:ext cx="1417320" cy="475488"/>
          </a:xfrm>
          <a:prstGeom prst="roundRect">
            <a:avLst>
              <a:gd name="adj" fmla="val 9615"/>
            </a:avLst>
          </a:prstGeom>
          <a:solidFill>
            <a:schemeClr val="accent4"/>
          </a:solidFill>
          <a:ln w="12700">
            <a:solidFill>
              <a:schemeClr val="accent2"/>
            </a:solidFill>
          </a:ln>
        </p:spPr>
        <p:txBody>
          <a:bodyPr wrap="square" lIns="63500" tIns="25400" rIns="63500" bIns="25400" rtlCol="0" anchor="ctr"/>
          <a:lstStyle/>
          <a:p>
            <a:pPr algn="ctr" indent="0" marL="0">
              <a:buNone/>
            </a:pPr>
            <a:r>
              <a:rPr lang="en-US" sz="1050" b="1" dirty="0">
                <a:solidFill>
                  <a:schemeClr val="tx1"/>
                </a:solidFill>
              </a:rPr>
              <a:t>Spark AM</a:t>
            </a:r>
            <a:endParaRPr lang="en-US" sz="1050" dirty="0"/>
          </a:p>
          <a:p>
            <a:pPr algn="ctr" indent="0" marL="0">
              <a:buNone/>
            </a:pPr>
            <a:r>
              <a:rPr lang="en-US" sz="900" dirty="0">
                <a:solidFill>
                  <a:schemeClr val="tx1"/>
                </a:solidFill>
              </a:rPr>
              <a:t>container</a:t>
            </a:r>
            <a:endParaRPr lang="en-US" sz="1050" dirty="0"/>
          </a:p>
        </p:txBody>
      </p:sp>
      <p:sp>
        <p:nvSpPr>
          <p:cNvPr id="24" name="NodeManager 3 Spark executor"/>
          <p:cNvSpPr txBox="1"/>
          <p:nvPr/>
        </p:nvSpPr>
        <p:spPr>
          <a:xfrm>
            <a:off x="4096512" y="3529584"/>
            <a:ext cx="1417320" cy="475488"/>
          </a:xfrm>
          <a:prstGeom prst="roundRect">
            <a:avLst>
              <a:gd name="adj" fmla="val 9615"/>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50" b="1" dirty="0">
                <a:solidFill>
                  <a:schemeClr val="tx2"/>
                </a:solidFill>
              </a:rPr>
              <a:t>Spark executor</a:t>
            </a:r>
            <a:endParaRPr lang="en-US" sz="1050" dirty="0"/>
          </a:p>
          <a:p>
            <a:pPr algn="ctr" indent="0" marL="0">
              <a:buNone/>
            </a:pPr>
            <a:r>
              <a:rPr lang="en-US" sz="900" dirty="0">
                <a:solidFill>
                  <a:schemeClr val="tx1"/>
                </a:solidFill>
              </a:rPr>
              <a:t>container</a:t>
            </a:r>
            <a:endParaRPr lang="en-US" sz="1050" dirty="0"/>
          </a:p>
        </p:txBody>
      </p:sp>
      <p:sp>
        <p:nvSpPr>
          <p:cNvPr id="25" name="RM launches AM"/>
          <p:cNvSpPr/>
          <p:nvPr/>
        </p:nvSpPr>
        <p:spPr>
          <a:xfrm flipV="1">
            <a:off x="914400" y="1892808"/>
            <a:ext cx="1463040" cy="1069848"/>
          </a:xfrm>
          <a:prstGeom prst="line">
            <a:avLst/>
          </a:prstGeom>
          <a:noFill/>
          <a:ln w="19050">
            <a:solidFill>
              <a:schemeClr val="accent2"/>
            </a:solidFill>
            <a:prstDash val="dash"/>
            <a:headEnd type="triangle"/>
          </a:ln>
        </p:spPr>
      </p:sp>
      <p:sp>
        <p:nvSpPr>
          <p:cNvPr id="26" name="Link label: 2. launch AppMaster"/>
          <p:cNvSpPr txBox="1"/>
          <p:nvPr/>
        </p:nvSpPr>
        <p:spPr>
          <a:xfrm>
            <a:off x="457200" y="2011680"/>
            <a:ext cx="1325880" cy="182880"/>
          </a:xfrm>
          <a:prstGeom prst="rect">
            <a:avLst/>
          </a:prstGeom>
          <a:noFill/>
          <a:ln/>
        </p:spPr>
        <p:txBody>
          <a:bodyPr wrap="square" lIns="0" tIns="0" rIns="0" bIns="0" rtlCol="0" anchor="ctr"/>
          <a:lstStyle/>
          <a:p>
            <a:pPr algn="l" indent="0" marL="0">
              <a:buNone/>
            </a:pPr>
            <a:r>
              <a:rPr lang="en-US" sz="1000" i="1" dirty="0">
                <a:solidFill>
                  <a:schemeClr val="accent2"/>
                </a:solidFill>
              </a:rPr>
              <a:t>2. launch AppMaster</a:t>
            </a:r>
            <a:endParaRPr lang="en-US" sz="1000" dirty="0"/>
          </a:p>
        </p:txBody>
      </p:sp>
      <p:sp>
        <p:nvSpPr>
          <p:cNvPr id="27" name="Heartbeats"/>
          <p:cNvSpPr/>
          <p:nvPr/>
        </p:nvSpPr>
        <p:spPr>
          <a:xfrm>
            <a:off x="5486400" y="1892808"/>
            <a:ext cx="0" cy="758952"/>
          </a:xfrm>
          <a:prstGeom prst="line">
            <a:avLst/>
          </a:prstGeom>
          <a:noFill/>
          <a:ln w="19050">
            <a:solidFill>
              <a:schemeClr val="accent2"/>
            </a:solidFill>
            <a:prstDash val="dash"/>
            <a:headEnd type="triangle"/>
          </a:ln>
        </p:spPr>
      </p:sp>
      <p:sp>
        <p:nvSpPr>
          <p:cNvPr id="28" name="Link label: heartbeats"/>
          <p:cNvSpPr txBox="1"/>
          <p:nvPr/>
        </p:nvSpPr>
        <p:spPr>
          <a:xfrm>
            <a:off x="4526280" y="2029968"/>
            <a:ext cx="896112" cy="182880"/>
          </a:xfrm>
          <a:prstGeom prst="rect">
            <a:avLst/>
          </a:prstGeom>
          <a:noFill/>
          <a:ln/>
        </p:spPr>
        <p:txBody>
          <a:bodyPr wrap="square" lIns="0" tIns="0" rIns="0" bIns="0" rtlCol="0" anchor="ctr"/>
          <a:lstStyle/>
          <a:p>
            <a:pPr algn="r" indent="0" marL="0">
              <a:buNone/>
            </a:pPr>
            <a:r>
              <a:rPr lang="en-US" sz="1000" i="1" dirty="0">
                <a:solidFill>
                  <a:schemeClr val="accent2"/>
                </a:solidFill>
              </a:rPr>
              <a:t>heartbeats</a:t>
            </a:r>
            <a:endParaRPr lang="en-US" sz="1000" dirty="0"/>
          </a:p>
        </p:txBody>
      </p:sp>
      <p:sp>
        <p:nvSpPr>
          <p:cNvPr id="29" name="AM to tasks"/>
          <p:cNvSpPr/>
          <p:nvPr/>
        </p:nvSpPr>
        <p:spPr>
          <a:xfrm>
            <a:off x="2167128" y="3200400"/>
            <a:ext cx="118872" cy="0"/>
          </a:xfrm>
          <a:prstGeom prst="line">
            <a:avLst/>
          </a:prstGeom>
          <a:noFill/>
          <a:ln w="19050">
            <a:solidFill>
              <a:schemeClr val="accent2"/>
            </a:solidFill>
            <a:prstDash val="dash"/>
            <a:tailEnd type="triangle"/>
          </a:ln>
        </p:spPr>
      </p:sp>
      <p:sp>
        <p:nvSpPr>
          <p:cNvPr id="30" name="AM asks for containers"/>
          <p:cNvSpPr/>
          <p:nvPr/>
        </p:nvSpPr>
        <p:spPr>
          <a:xfrm flipV="1">
            <a:off x="1737360" y="1892808"/>
            <a:ext cx="1188720" cy="1069848"/>
          </a:xfrm>
          <a:prstGeom prst="line">
            <a:avLst/>
          </a:prstGeom>
          <a:noFill/>
          <a:ln w="19050">
            <a:solidFill>
              <a:schemeClr val="accent2"/>
            </a:solidFill>
            <a:prstDash val="dash"/>
            <a:tailEnd type="triangle"/>
          </a:ln>
        </p:spPr>
      </p:sp>
      <p:sp>
        <p:nvSpPr>
          <p:cNvPr id="31" name="Link label: 3. ask for containers"/>
          <p:cNvSpPr txBox="1"/>
          <p:nvPr/>
        </p:nvSpPr>
        <p:spPr>
          <a:xfrm>
            <a:off x="2926080" y="2029968"/>
            <a:ext cx="1463040" cy="182880"/>
          </a:xfrm>
          <a:prstGeom prst="rect">
            <a:avLst/>
          </a:prstGeom>
          <a:noFill/>
          <a:ln/>
        </p:spPr>
        <p:txBody>
          <a:bodyPr wrap="square" lIns="0" tIns="0" rIns="0" bIns="0" rtlCol="0" anchor="ctr"/>
          <a:lstStyle/>
          <a:p>
            <a:pPr algn="l" indent="0" marL="0">
              <a:buNone/>
            </a:pPr>
            <a:r>
              <a:rPr lang="en-US" sz="1000" i="1" dirty="0">
                <a:solidFill>
                  <a:schemeClr val="accent2"/>
                </a:solidFill>
              </a:rPr>
              <a:t>3. ask for containers</a:t>
            </a:r>
            <a:endParaRPr lang="en-US" sz="1000" dirty="0"/>
          </a:p>
        </p:txBody>
      </p:sp>
      <p:sp>
        <p:nvSpPr>
          <p:cNvPr id="32" name="YARN facts card"/>
          <p:cNvSpPr/>
          <p:nvPr/>
        </p:nvSpPr>
        <p:spPr>
          <a:xfrm>
            <a:off x="6035040" y="1097280"/>
            <a:ext cx="2651760" cy="3200400"/>
          </a:xfrm>
          <a:prstGeom prst="rect">
            <a:avLst/>
          </a:prstGeom>
          <a:solidFill>
            <a:schemeClr val="bg2"/>
          </a:solidFill>
          <a:ln w="12700">
            <a:solidFill>
              <a:schemeClr val="accent1"/>
            </a:solidFill>
            <a:prstDash val="solid"/>
          </a:ln>
        </p:spPr>
      </p:sp>
      <p:sp>
        <p:nvSpPr>
          <p:cNvPr id="33" name="YARN facts heading"/>
          <p:cNvSpPr txBox="1"/>
          <p:nvPr/>
        </p:nvSpPr>
        <p:spPr>
          <a:xfrm>
            <a:off x="6172200" y="1188720"/>
            <a:ext cx="2377440" cy="292608"/>
          </a:xfrm>
          <a:prstGeom prst="rect">
            <a:avLst/>
          </a:prstGeom>
          <a:noFill/>
          <a:ln/>
        </p:spPr>
        <p:txBody>
          <a:bodyPr wrap="square" lIns="0" tIns="0" rIns="0" bIns="0" rtlCol="0" anchor="t"/>
          <a:lstStyle/>
          <a:p>
            <a:pPr algn="l" indent="0" marL="0">
              <a:buNone/>
            </a:pPr>
            <a:r>
              <a:rPr lang="en-US" sz="1600" b="1" dirty="0">
                <a:solidFill>
                  <a:schemeClr val="accent1"/>
                </a:solidFill>
              </a:rPr>
              <a:t>At eBay</a:t>
            </a:r>
            <a:endParaRPr lang="en-US" sz="1600" dirty="0"/>
          </a:p>
        </p:txBody>
      </p:sp>
      <p:sp>
        <p:nvSpPr>
          <p:cNvPr id="34" name="YARN facts facts"/>
          <p:cNvSpPr txBox="1"/>
          <p:nvPr/>
        </p:nvSpPr>
        <p:spPr>
          <a:xfrm>
            <a:off x="6172200" y="1554480"/>
            <a:ext cx="2377440" cy="2651760"/>
          </a:xfrm>
          <a:prstGeom prst="rect">
            <a:avLst/>
          </a:prstGeom>
          <a:noFill/>
          <a:ln/>
        </p:spPr>
        <p:txBody>
          <a:bodyPr wrap="square" lIns="0" tIns="0" rIns="0" bIns="0" rtlCol="0" anchor="t"/>
          <a:lstStyle/>
          <a:p>
            <a:pPr algn="l" marL="152400" indent="-152400">
              <a:spcAft>
                <a:spcPts val="600"/>
              </a:spcAft>
              <a:buSzPct val="100000"/>
              <a:buChar char="•"/>
            </a:pPr>
            <a:r>
              <a:rPr lang="en-US" sz="1200" b="1" dirty="0">
                <a:solidFill>
                  <a:schemeClr val="tx2"/>
                </a:solidFill>
              </a:rPr>
              <a:t>Why: </a:t>
            </a:r>
            <a:pPr algn="l" indent="0" marL="0">
              <a:spcAft>
                <a:spcPts val="600"/>
              </a:spcAft>
              <a:buNone/>
            </a:pPr>
            <a:r>
              <a:rPr lang="en-US" sz="1200" dirty="0">
                <a:solidFill>
                  <a:schemeClr val="tx1"/>
                </a:solidFill>
              </a:rPr>
              <a:t>Hadoop 1's single JobTracker ran every job; YARN splits it into a ResourceManager + one AppMaster per job</a:t>
            </a:r>
            <a:endParaRPr lang="en-US" sz="1200" dirty="0"/>
          </a:p>
          <a:p>
            <a:pPr algn="l" marL="152400" indent="-152400">
              <a:spcAft>
                <a:spcPts val="600"/>
              </a:spcAft>
              <a:buSzPct val="100000"/>
              <a:buChar char="•"/>
            </a:pPr>
            <a:r>
              <a:rPr lang="en-US" sz="1200" b="1" dirty="0">
                <a:solidFill>
                  <a:schemeClr val="tx2"/>
                </a:solidFill>
              </a:rPr>
              <a:t>2014: </a:t>
            </a:r>
            <a:pPr algn="l" indent="0" marL="0">
              <a:spcAft>
                <a:spcPts val="600"/>
              </a:spcAft>
              <a:buNone/>
            </a:pPr>
            <a:r>
              <a:rPr lang="en-US" sz="1200" dirty="0">
                <a:solidFill>
                  <a:schemeClr val="tx1"/>
                </a:solidFill>
              </a:rPr>
              <a:t>eBay's production clusters move to Hadoop 2</a:t>
            </a:r>
            <a:endParaRPr lang="en-US" sz="1200" dirty="0"/>
          </a:p>
          <a:p>
            <a:pPr algn="l" marL="152400" indent="-152400">
              <a:spcAft>
                <a:spcPts val="600"/>
              </a:spcAft>
              <a:buSzPct val="100000"/>
              <a:buChar char="•"/>
            </a:pPr>
            <a:r>
              <a:rPr lang="en-US" sz="1200" b="1" dirty="0">
                <a:solidFill>
                  <a:schemeClr val="tx2"/>
                </a:solidFill>
              </a:rPr>
              <a:t>Shared: </a:t>
            </a:r>
            <a:pPr algn="l" indent="0" marL="0">
              <a:spcAft>
                <a:spcPts val="600"/>
              </a:spcAft>
              <a:buNone/>
            </a:pPr>
            <a:r>
              <a:rPr lang="en-US" sz="1200" dirty="0">
                <a:solidFill>
                  <a:schemeClr val="tx1"/>
                </a:solidFill>
              </a:rPr>
              <a:t>MapReduce, Hive, Pig, Spark, HBase on one cluster</a:t>
            </a:r>
            <a:endParaRPr lang="en-US" sz="1200" dirty="0"/>
          </a:p>
          <a:p>
            <a:pPr algn="l" marL="152400" indent="-152400">
              <a:spcAft>
                <a:spcPts val="600"/>
              </a:spcAft>
              <a:buSzPct val="100000"/>
              <a:buChar char="•"/>
            </a:pPr>
            <a:r>
              <a:rPr lang="en-US" sz="1200" b="1" dirty="0">
                <a:solidFill>
                  <a:schemeClr val="tx2"/>
                </a:solidFill>
              </a:rPr>
              <a:t>Scale: </a:t>
            </a:r>
            <a:pPr algn="l" indent="0" marL="0">
              <a:spcAft>
                <a:spcPts val="600"/>
              </a:spcAft>
              <a:buNone/>
            </a:pPr>
            <a:r>
              <a:rPr lang="en-US" sz="1200" dirty="0">
                <a:solidFill>
                  <a:schemeClr val="tx1"/>
                </a:solidFill>
              </a:rPr>
              <a:t>10+ clusters, 10,000+ nodes, 50,000+ jobs a day</a:t>
            </a:r>
            <a:endParaRPr lang="en-US" sz="1200" dirty="0"/>
          </a:p>
        </p:txBody>
      </p:sp>
      <p:sp>
        <p:nvSpPr>
          <p:cNvPr id="35" name="Legend data"/>
          <p:cNvSpPr/>
          <p:nvPr/>
        </p:nvSpPr>
        <p:spPr>
          <a:xfrm>
            <a:off x="457200" y="4498848"/>
            <a:ext cx="320040" cy="0"/>
          </a:xfrm>
          <a:prstGeom prst="line">
            <a:avLst/>
          </a:prstGeom>
          <a:noFill/>
          <a:ln w="19050">
            <a:solidFill>
              <a:schemeClr val="accent1"/>
            </a:solidFill>
            <a:prstDash val="solid"/>
            <a:tailEnd type="triangle"/>
          </a:ln>
        </p:spPr>
      </p:sp>
      <p:sp>
        <p:nvSpPr>
          <p:cNvPr id="36" name="Legend data label"/>
          <p:cNvSpPr txBox="1"/>
          <p:nvPr/>
        </p:nvSpPr>
        <p:spPr>
          <a:xfrm>
            <a:off x="841248" y="4407408"/>
            <a:ext cx="457200" cy="182880"/>
          </a:xfrm>
          <a:prstGeom prst="rect">
            <a:avLst/>
          </a:prstGeom>
          <a:noFill/>
          <a:ln/>
        </p:spPr>
        <p:txBody>
          <a:bodyPr wrap="square" lIns="0" tIns="0" rIns="0" bIns="0" rtlCol="0" anchor="ctr"/>
          <a:lstStyle/>
          <a:p>
            <a:pPr indent="0" marL="0">
              <a:buNone/>
            </a:pPr>
            <a:r>
              <a:rPr lang="en-US" sz="1000" dirty="0">
                <a:solidFill>
                  <a:schemeClr val="accent3"/>
                </a:solidFill>
              </a:rPr>
              <a:t>data</a:t>
            </a:r>
            <a:endParaRPr lang="en-US" sz="1000" dirty="0"/>
          </a:p>
        </p:txBody>
      </p:sp>
      <p:sp>
        <p:nvSpPr>
          <p:cNvPr id="37" name="Legend control"/>
          <p:cNvSpPr/>
          <p:nvPr/>
        </p:nvSpPr>
        <p:spPr>
          <a:xfrm>
            <a:off x="1325880" y="4498848"/>
            <a:ext cx="320040" cy="0"/>
          </a:xfrm>
          <a:prstGeom prst="line">
            <a:avLst/>
          </a:prstGeom>
          <a:noFill/>
          <a:ln w="19050">
            <a:solidFill>
              <a:schemeClr val="accent2"/>
            </a:solidFill>
            <a:prstDash val="dash"/>
            <a:tailEnd type="triangle"/>
          </a:ln>
        </p:spPr>
      </p:sp>
      <p:sp>
        <p:nvSpPr>
          <p:cNvPr id="38" name="Legend control label"/>
          <p:cNvSpPr txBox="1"/>
          <p:nvPr/>
        </p:nvSpPr>
        <p:spPr>
          <a:xfrm>
            <a:off x="1709928" y="4407408"/>
            <a:ext cx="1371600" cy="182880"/>
          </a:xfrm>
          <a:prstGeom prst="rect">
            <a:avLst/>
          </a:prstGeom>
          <a:noFill/>
          <a:ln/>
        </p:spPr>
        <p:txBody>
          <a:bodyPr wrap="square" lIns="0" tIns="0" rIns="0" bIns="0" rtlCol="0" anchor="ctr"/>
          <a:lstStyle/>
          <a:p>
            <a:pPr indent="0" marL="0">
              <a:buNone/>
            </a:pPr>
            <a:r>
              <a:rPr lang="en-US" sz="1000" dirty="0">
                <a:solidFill>
                  <a:schemeClr val="accent3"/>
                </a:solidFill>
              </a:rPr>
              <a:t>control / metadata</a:t>
            </a:r>
            <a:endParaRPr lang="en-US" sz="1000" dirty="0"/>
          </a:p>
        </p:txBody>
      </p:sp>
      <p:sp>
        <p:nvSpPr>
          <p:cNvPr id="39"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Container layout is the standard YARN design. Sources: Hennig (2013); Hortonworks (2014); eBay (2015).</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MapReduce at eBay: building the Cassini search index from HBase</a:t>
            </a:r>
            <a:endParaRPr lang="en-US" sz="2400" dirty="0"/>
          </a:p>
        </p:txBody>
      </p:sp>
      <p:sp>
        <p:nvSpPr>
          <p:cNvPr id="4" name="Listing DB"/>
          <p:cNvSpPr txBox="1"/>
          <p:nvPr/>
        </p:nvSpPr>
        <p:spPr>
          <a:xfrm>
            <a:off x="457200" y="1051560"/>
            <a:ext cx="1188720" cy="685800"/>
          </a:xfrm>
          <a:prstGeom prst="roundRect">
            <a:avLst>
              <a:gd name="adj" fmla="val 6667"/>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50" b="1" dirty="0">
                <a:solidFill>
                  <a:schemeClr val="tx2"/>
                </a:solidFill>
              </a:rPr>
              <a:t>Listing database</a:t>
            </a:r>
            <a:endParaRPr lang="en-US" sz="1150" dirty="0"/>
          </a:p>
          <a:p>
            <a:pPr algn="ctr" indent="0" marL="0">
              <a:buNone/>
            </a:pPr>
            <a:r>
              <a:rPr lang="en-US" sz="1000" dirty="0">
                <a:solidFill>
                  <a:schemeClr val="accent3"/>
                </a:solidFill>
              </a:rPr>
              <a:t>Oracle</a:t>
            </a:r>
            <a:endParaRPr lang="en-US" sz="1150" dirty="0"/>
          </a:p>
        </p:txBody>
      </p:sp>
      <p:sp>
        <p:nvSpPr>
          <p:cNvPr id="5" name="Bulk loader"/>
          <p:cNvSpPr txBox="1"/>
          <p:nvPr/>
        </p:nvSpPr>
        <p:spPr>
          <a:xfrm>
            <a:off x="1965960" y="1005840"/>
            <a:ext cx="1417320" cy="347472"/>
          </a:xfrm>
          <a:prstGeom prst="roundRect">
            <a:avLst>
              <a:gd name="adj" fmla="val 13158"/>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Bulk load</a:t>
            </a:r>
            <a:endParaRPr lang="en-US" sz="1100" dirty="0"/>
          </a:p>
        </p:txBody>
      </p:sp>
      <p:sp>
        <p:nvSpPr>
          <p:cNvPr id="6" name="Event agents"/>
          <p:cNvSpPr txBox="1"/>
          <p:nvPr/>
        </p:nvSpPr>
        <p:spPr>
          <a:xfrm>
            <a:off x="1965960" y="1417320"/>
            <a:ext cx="1417320" cy="347472"/>
          </a:xfrm>
          <a:prstGeom prst="roundRect">
            <a:avLst>
              <a:gd name="adj" fmla="val 13158"/>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Event updates</a:t>
            </a:r>
            <a:endParaRPr lang="en-US" sz="1100" dirty="0"/>
          </a:p>
        </p:txBody>
      </p:sp>
      <p:sp>
        <p:nvSpPr>
          <p:cNvPr id="7" name="DB to bulk"/>
          <p:cNvSpPr/>
          <p:nvPr/>
        </p:nvSpPr>
        <p:spPr>
          <a:xfrm flipV="1">
            <a:off x="1645920" y="1179576"/>
            <a:ext cx="320040" cy="100584"/>
          </a:xfrm>
          <a:prstGeom prst="line">
            <a:avLst/>
          </a:prstGeom>
          <a:noFill/>
          <a:ln w="19050">
            <a:solidFill>
              <a:schemeClr val="accent1"/>
            </a:solidFill>
            <a:prstDash val="solid"/>
            <a:tailEnd type="triangle"/>
          </a:ln>
        </p:spPr>
      </p:sp>
      <p:sp>
        <p:nvSpPr>
          <p:cNvPr id="8" name="DB to events"/>
          <p:cNvSpPr/>
          <p:nvPr/>
        </p:nvSpPr>
        <p:spPr>
          <a:xfrm>
            <a:off x="1645920" y="1508760"/>
            <a:ext cx="320040" cy="82296"/>
          </a:xfrm>
          <a:prstGeom prst="line">
            <a:avLst/>
          </a:prstGeom>
          <a:noFill/>
          <a:ln w="19050">
            <a:solidFill>
              <a:schemeClr val="accent1"/>
            </a:solidFill>
            <a:prstDash val="solid"/>
            <a:tailEnd type="triangle"/>
          </a:ln>
        </p:spPr>
      </p:sp>
      <p:sp>
        <p:nvSpPr>
          <p:cNvPr id="9" name="HBase tables"/>
          <p:cNvSpPr txBox="1"/>
          <p:nvPr/>
        </p:nvSpPr>
        <p:spPr>
          <a:xfrm>
            <a:off x="3703320" y="1005840"/>
            <a:ext cx="2011680" cy="758952"/>
          </a:xfrm>
          <a:prstGeom prst="roundRect">
            <a:avLst>
              <a:gd name="adj" fmla="val 6024"/>
            </a:avLst>
          </a:prstGeom>
          <a:solidFill>
            <a:schemeClr val="tx2"/>
          </a:solidFill>
          <a:ln w="12700">
            <a:solidFill>
              <a:schemeClr val="tx2"/>
            </a:solidFill>
          </a:ln>
        </p:spPr>
        <p:txBody>
          <a:bodyPr wrap="square" lIns="63500" tIns="25400" rIns="63500" bIns="25400" rtlCol="0" anchor="ctr"/>
          <a:lstStyle/>
          <a:p>
            <a:pPr algn="ctr" indent="0" marL="0">
              <a:buNone/>
            </a:pPr>
            <a:r>
              <a:rPr lang="en-US" sz="1200" b="1" dirty="0">
                <a:solidFill>
                  <a:schemeClr val="bg1"/>
                </a:solidFill>
              </a:rPr>
              <a:t>HBase</a:t>
            </a:r>
            <a:endParaRPr lang="en-US" sz="1200" dirty="0"/>
          </a:p>
          <a:p>
            <a:pPr algn="ctr" indent="0" marL="0">
              <a:buNone/>
            </a:pPr>
            <a:r>
              <a:rPr lang="en-US" sz="1050" dirty="0">
                <a:solidFill>
                  <a:schemeClr val="bg2"/>
                </a:solidFill>
              </a:rPr>
              <a:t>item + seller tables, 3,600 regions</a:t>
            </a:r>
            <a:endParaRPr lang="en-US" sz="1200" dirty="0"/>
          </a:p>
        </p:txBody>
      </p:sp>
      <p:sp>
        <p:nvSpPr>
          <p:cNvPr id="10" name="Bulk to HBase"/>
          <p:cNvSpPr/>
          <p:nvPr/>
        </p:nvSpPr>
        <p:spPr>
          <a:xfrm>
            <a:off x="3383280" y="1179576"/>
            <a:ext cx="320040" cy="0"/>
          </a:xfrm>
          <a:prstGeom prst="line">
            <a:avLst/>
          </a:prstGeom>
          <a:noFill/>
          <a:ln w="19050">
            <a:solidFill>
              <a:schemeClr val="accent1"/>
            </a:solidFill>
            <a:prstDash val="solid"/>
            <a:tailEnd type="triangle"/>
          </a:ln>
        </p:spPr>
      </p:sp>
      <p:sp>
        <p:nvSpPr>
          <p:cNvPr id="11" name="Events to HBase"/>
          <p:cNvSpPr/>
          <p:nvPr/>
        </p:nvSpPr>
        <p:spPr>
          <a:xfrm>
            <a:off x="3383280" y="1591056"/>
            <a:ext cx="320040" cy="0"/>
          </a:xfrm>
          <a:prstGeom prst="line">
            <a:avLst/>
          </a:prstGeom>
          <a:noFill/>
          <a:ln w="19050">
            <a:solidFill>
              <a:schemeClr val="accent1"/>
            </a:solidFill>
            <a:prstDash val="solid"/>
            <a:tailEnd type="triangle"/>
          </a:ln>
        </p:spPr>
      </p:sp>
      <p:sp>
        <p:nvSpPr>
          <p:cNvPr id="12" name="MR job zone"/>
          <p:cNvSpPr/>
          <p:nvPr/>
        </p:nvSpPr>
        <p:spPr>
          <a:xfrm>
            <a:off x="457200" y="1993392"/>
            <a:ext cx="5257800" cy="1481328"/>
          </a:xfrm>
          <a:prstGeom prst="rect">
            <a:avLst/>
          </a:prstGeom>
          <a:solidFill>
            <a:schemeClr val="bg1"/>
          </a:solidFill>
          <a:ln w="12700">
            <a:solidFill>
              <a:schemeClr val="accent6"/>
            </a:solidFill>
            <a:prstDash val="dash"/>
          </a:ln>
        </p:spPr>
      </p:sp>
      <p:sp>
        <p:nvSpPr>
          <p:cNvPr id="13" name="MR job zone label"/>
          <p:cNvSpPr txBox="1"/>
          <p:nvPr/>
        </p:nvSpPr>
        <p:spPr>
          <a:xfrm>
            <a:off x="530352" y="2029968"/>
            <a:ext cx="5111496" cy="182880"/>
          </a:xfrm>
          <a:prstGeom prst="rect">
            <a:avLst/>
          </a:prstGeom>
          <a:noFill/>
          <a:ln/>
        </p:spPr>
        <p:txBody>
          <a:bodyPr wrap="square" lIns="0" tIns="0" rIns="0" bIns="0" rtlCol="0" anchor="t"/>
          <a:lstStyle/>
          <a:p>
            <a:pPr algn="l" indent="0" marL="0">
              <a:buNone/>
            </a:pPr>
            <a:r>
              <a:rPr lang="en-US" sz="1000" b="1" spc="100" kern="0" dirty="0">
                <a:solidFill>
                  <a:schemeClr val="accent3"/>
                </a:solidFill>
              </a:rPr>
              <a:t>MAPREDUCE JOB · DEDICATED INDEX CLUSTER</a:t>
            </a:r>
            <a:endParaRPr lang="en-US" sz="1000" dirty="0"/>
          </a:p>
        </p:txBody>
      </p:sp>
      <p:sp>
        <p:nvSpPr>
          <p:cNvPr id="14" name="HBase to maps"/>
          <p:cNvSpPr/>
          <p:nvPr/>
        </p:nvSpPr>
        <p:spPr>
          <a:xfrm>
            <a:off x="5074920" y="1764792"/>
            <a:ext cx="0" cy="502920"/>
          </a:xfrm>
          <a:prstGeom prst="line">
            <a:avLst/>
          </a:prstGeom>
          <a:noFill/>
          <a:ln w="19050">
            <a:solidFill>
              <a:schemeClr val="accent1"/>
            </a:solidFill>
            <a:prstDash val="solid"/>
            <a:tailEnd type="triangle"/>
          </a:ln>
        </p:spPr>
      </p:sp>
      <p:sp>
        <p:nvSpPr>
          <p:cNvPr id="15" name="Link label: scan"/>
          <p:cNvSpPr txBox="1"/>
          <p:nvPr/>
        </p:nvSpPr>
        <p:spPr>
          <a:xfrm>
            <a:off x="5138928" y="1828800"/>
            <a:ext cx="457200" cy="182880"/>
          </a:xfrm>
          <a:prstGeom prst="rect">
            <a:avLst/>
          </a:prstGeom>
          <a:noFill/>
          <a:ln/>
        </p:spPr>
        <p:txBody>
          <a:bodyPr wrap="square" lIns="0" tIns="0" rIns="0" bIns="0" rtlCol="0" anchor="ctr"/>
          <a:lstStyle/>
          <a:p>
            <a:pPr algn="l" indent="0" marL="0">
              <a:buNone/>
            </a:pPr>
            <a:r>
              <a:rPr lang="en-US" sz="1000" i="1" dirty="0">
                <a:solidFill>
                  <a:schemeClr val="accent1"/>
                </a:solidFill>
              </a:rPr>
              <a:t>scan</a:t>
            </a:r>
            <a:endParaRPr lang="en-US" sz="1000" dirty="0"/>
          </a:p>
        </p:txBody>
      </p:sp>
      <p:sp>
        <p:nvSpPr>
          <p:cNvPr id="16" name="Map task 1"/>
          <p:cNvSpPr txBox="1"/>
          <p:nvPr/>
        </p:nvSpPr>
        <p:spPr>
          <a:xfrm>
            <a:off x="4434840" y="2267712"/>
            <a:ext cx="1188720" cy="329184"/>
          </a:xfrm>
          <a:prstGeom prst="roundRect">
            <a:avLst>
              <a:gd name="adj" fmla="val 13889"/>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00" b="1" dirty="0">
                <a:solidFill>
                  <a:schemeClr val="tx2"/>
                </a:solidFill>
              </a:rPr>
              <a:t>Map · region 1</a:t>
            </a:r>
            <a:endParaRPr lang="en-US" sz="1000" dirty="0"/>
          </a:p>
        </p:txBody>
      </p:sp>
      <p:sp>
        <p:nvSpPr>
          <p:cNvPr id="17" name="Map to shuffle 1"/>
          <p:cNvSpPr/>
          <p:nvPr/>
        </p:nvSpPr>
        <p:spPr>
          <a:xfrm>
            <a:off x="4114800" y="2432304"/>
            <a:ext cx="320040" cy="0"/>
          </a:xfrm>
          <a:prstGeom prst="line">
            <a:avLst/>
          </a:prstGeom>
          <a:noFill/>
          <a:ln w="19050">
            <a:solidFill>
              <a:schemeClr val="accent1"/>
            </a:solidFill>
            <a:prstDash val="solid"/>
            <a:headEnd type="triangle"/>
          </a:ln>
        </p:spPr>
      </p:sp>
      <p:sp>
        <p:nvSpPr>
          <p:cNvPr id="18" name="Map task 2"/>
          <p:cNvSpPr txBox="1"/>
          <p:nvPr/>
        </p:nvSpPr>
        <p:spPr>
          <a:xfrm>
            <a:off x="4434840" y="2660904"/>
            <a:ext cx="1188720" cy="329184"/>
          </a:xfrm>
          <a:prstGeom prst="roundRect">
            <a:avLst>
              <a:gd name="adj" fmla="val 13889"/>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00" b="1" dirty="0">
                <a:solidFill>
                  <a:schemeClr val="tx2"/>
                </a:solidFill>
              </a:rPr>
              <a:t>Map · region 2</a:t>
            </a:r>
            <a:endParaRPr lang="en-US" sz="1000" dirty="0"/>
          </a:p>
        </p:txBody>
      </p:sp>
      <p:sp>
        <p:nvSpPr>
          <p:cNvPr id="19" name="Map to shuffle 2"/>
          <p:cNvSpPr/>
          <p:nvPr/>
        </p:nvSpPr>
        <p:spPr>
          <a:xfrm>
            <a:off x="4114800" y="2825496"/>
            <a:ext cx="320040" cy="0"/>
          </a:xfrm>
          <a:prstGeom prst="line">
            <a:avLst/>
          </a:prstGeom>
          <a:noFill/>
          <a:ln w="19050">
            <a:solidFill>
              <a:schemeClr val="accent1"/>
            </a:solidFill>
            <a:prstDash val="solid"/>
            <a:headEnd type="triangle"/>
          </a:ln>
        </p:spPr>
      </p:sp>
      <p:sp>
        <p:nvSpPr>
          <p:cNvPr id="20" name="Map task 3"/>
          <p:cNvSpPr txBox="1"/>
          <p:nvPr/>
        </p:nvSpPr>
        <p:spPr>
          <a:xfrm>
            <a:off x="4434840" y="3054096"/>
            <a:ext cx="1188720" cy="329184"/>
          </a:xfrm>
          <a:prstGeom prst="roundRect">
            <a:avLst>
              <a:gd name="adj" fmla="val 13889"/>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000" b="1" dirty="0">
                <a:solidFill>
                  <a:schemeClr val="tx2"/>
                </a:solidFill>
              </a:rPr>
              <a:t>Map · region n</a:t>
            </a:r>
            <a:endParaRPr lang="en-US" sz="1000" dirty="0"/>
          </a:p>
        </p:txBody>
      </p:sp>
      <p:sp>
        <p:nvSpPr>
          <p:cNvPr id="21" name="Map to shuffle 3"/>
          <p:cNvSpPr/>
          <p:nvPr/>
        </p:nvSpPr>
        <p:spPr>
          <a:xfrm>
            <a:off x="4114800" y="3218688"/>
            <a:ext cx="320040" cy="0"/>
          </a:xfrm>
          <a:prstGeom prst="line">
            <a:avLst/>
          </a:prstGeom>
          <a:noFill/>
          <a:ln w="19050">
            <a:solidFill>
              <a:schemeClr val="accent1"/>
            </a:solidFill>
            <a:prstDash val="solid"/>
            <a:headEnd type="triangle"/>
          </a:ln>
        </p:spPr>
      </p:sp>
      <p:sp>
        <p:nvSpPr>
          <p:cNvPr id="22" name="Shuffle"/>
          <p:cNvSpPr txBox="1"/>
          <p:nvPr/>
        </p:nvSpPr>
        <p:spPr>
          <a:xfrm>
            <a:off x="2697480" y="2267712"/>
            <a:ext cx="1417320" cy="1115568"/>
          </a:xfrm>
          <a:prstGeom prst="roundRect">
            <a:avLst>
              <a:gd name="adj" fmla="val 4098"/>
            </a:avLst>
          </a:prstGeom>
          <a:solidFill>
            <a:schemeClr val="accent4"/>
          </a:solidFill>
          <a:ln w="12700">
            <a:solidFill>
              <a:schemeClr val="accent2"/>
            </a:solidFill>
          </a:ln>
        </p:spPr>
        <p:txBody>
          <a:bodyPr wrap="square" lIns="63500" tIns="25400" rIns="63500" bIns="25400" rtlCol="0" anchor="ctr"/>
          <a:lstStyle/>
          <a:p>
            <a:pPr algn="ctr" indent="0" marL="0">
              <a:buNone/>
            </a:pPr>
            <a:r>
              <a:rPr lang="en-US" sz="1150" b="1" dirty="0">
                <a:solidFill>
                  <a:schemeClr val="tx1"/>
                </a:solidFill>
              </a:rPr>
              <a:t>Shuffle + sort</a:t>
            </a:r>
            <a:endParaRPr lang="en-US" sz="1150" dirty="0"/>
          </a:p>
          <a:p>
            <a:pPr algn="ctr" indent="0" marL="0">
              <a:buNone/>
            </a:pPr>
            <a:r>
              <a:rPr lang="en-US" sz="1000" dirty="0">
                <a:solidFill>
                  <a:schemeClr val="tx1"/>
                </a:solidFill>
              </a:rPr>
              <a:t>group item records by index shard</a:t>
            </a:r>
            <a:endParaRPr lang="en-US" sz="1150" dirty="0"/>
          </a:p>
        </p:txBody>
      </p:sp>
      <p:sp>
        <p:nvSpPr>
          <p:cNvPr id="23" name="Reduce 1"/>
          <p:cNvSpPr txBox="1"/>
          <p:nvPr/>
        </p:nvSpPr>
        <p:spPr>
          <a:xfrm>
            <a:off x="566928" y="2331720"/>
            <a:ext cx="1783080" cy="438912"/>
          </a:xfrm>
          <a:prstGeom prst="roundRect">
            <a:avLst>
              <a:gd name="adj" fmla="val 10417"/>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Reduce</a:t>
            </a:r>
            <a:endParaRPr lang="en-US" sz="1100" dirty="0"/>
          </a:p>
          <a:p>
            <a:pPr algn="ctr" indent="0" marL="0">
              <a:buNone/>
            </a:pPr>
            <a:r>
              <a:rPr lang="en-US" sz="950" dirty="0">
                <a:solidFill>
                  <a:schemeClr val="tx1"/>
                </a:solidFill>
              </a:rPr>
              <a:t>write index shard 1</a:t>
            </a:r>
            <a:endParaRPr lang="en-US" sz="1100" dirty="0"/>
          </a:p>
        </p:txBody>
      </p:sp>
      <p:sp>
        <p:nvSpPr>
          <p:cNvPr id="24" name="Shuffle to reduce 1"/>
          <p:cNvSpPr/>
          <p:nvPr/>
        </p:nvSpPr>
        <p:spPr>
          <a:xfrm>
            <a:off x="2350008" y="2551176"/>
            <a:ext cx="347472" cy="0"/>
          </a:xfrm>
          <a:prstGeom prst="line">
            <a:avLst/>
          </a:prstGeom>
          <a:noFill/>
          <a:ln w="19050">
            <a:solidFill>
              <a:schemeClr val="accent1"/>
            </a:solidFill>
            <a:prstDash val="solid"/>
            <a:headEnd type="triangle"/>
          </a:ln>
        </p:spPr>
      </p:sp>
      <p:sp>
        <p:nvSpPr>
          <p:cNvPr id="25" name="Reduce 2"/>
          <p:cNvSpPr txBox="1"/>
          <p:nvPr/>
        </p:nvSpPr>
        <p:spPr>
          <a:xfrm>
            <a:off x="566928" y="2880360"/>
            <a:ext cx="1783080" cy="438912"/>
          </a:xfrm>
          <a:prstGeom prst="roundRect">
            <a:avLst>
              <a:gd name="adj" fmla="val 10417"/>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00" b="1" dirty="0">
                <a:solidFill>
                  <a:schemeClr val="tx2"/>
                </a:solidFill>
              </a:rPr>
              <a:t>Reduce</a:t>
            </a:r>
            <a:endParaRPr lang="en-US" sz="1100" dirty="0"/>
          </a:p>
          <a:p>
            <a:pPr algn="ctr" indent="0" marL="0">
              <a:buNone/>
            </a:pPr>
            <a:r>
              <a:rPr lang="en-US" sz="950" dirty="0">
                <a:solidFill>
                  <a:schemeClr val="tx1"/>
                </a:solidFill>
              </a:rPr>
              <a:t>write index shard 2</a:t>
            </a:r>
            <a:endParaRPr lang="en-US" sz="1100" dirty="0"/>
          </a:p>
        </p:txBody>
      </p:sp>
      <p:sp>
        <p:nvSpPr>
          <p:cNvPr id="26" name="Shuffle to reduce 2"/>
          <p:cNvSpPr/>
          <p:nvPr/>
        </p:nvSpPr>
        <p:spPr>
          <a:xfrm>
            <a:off x="2350008" y="3099816"/>
            <a:ext cx="347472" cy="0"/>
          </a:xfrm>
          <a:prstGeom prst="line">
            <a:avLst/>
          </a:prstGeom>
          <a:noFill/>
          <a:ln w="19050">
            <a:solidFill>
              <a:schemeClr val="accent1"/>
            </a:solidFill>
            <a:prstDash val="solid"/>
            <a:headEnd type="triangle"/>
          </a:ln>
        </p:spPr>
      </p:sp>
      <p:sp>
        <p:nvSpPr>
          <p:cNvPr id="27" name="Reduce to HDFS"/>
          <p:cNvSpPr/>
          <p:nvPr/>
        </p:nvSpPr>
        <p:spPr>
          <a:xfrm>
            <a:off x="1463040" y="3319272"/>
            <a:ext cx="0" cy="384048"/>
          </a:xfrm>
          <a:prstGeom prst="line">
            <a:avLst/>
          </a:prstGeom>
          <a:noFill/>
          <a:ln w="19050">
            <a:solidFill>
              <a:schemeClr val="accent1"/>
            </a:solidFill>
            <a:prstDash val="solid"/>
            <a:tailEnd type="triangle"/>
          </a:ln>
        </p:spPr>
      </p:sp>
      <p:sp>
        <p:nvSpPr>
          <p:cNvPr id="28" name="HDFS index files"/>
          <p:cNvSpPr txBox="1"/>
          <p:nvPr/>
        </p:nvSpPr>
        <p:spPr>
          <a:xfrm>
            <a:off x="457200" y="3703320"/>
            <a:ext cx="1828800" cy="548640"/>
          </a:xfrm>
          <a:prstGeom prst="roundRect">
            <a:avLst>
              <a:gd name="adj" fmla="val 8333"/>
            </a:avLst>
          </a:prstGeom>
          <a:solidFill>
            <a:schemeClr val="tx2"/>
          </a:solidFill>
          <a:ln w="12700">
            <a:solidFill>
              <a:schemeClr val="tx2"/>
            </a:solidFill>
          </a:ln>
        </p:spPr>
        <p:txBody>
          <a:bodyPr wrap="square" lIns="63500" tIns="25400" rIns="63500" bIns="25400" rtlCol="0" anchor="ctr"/>
          <a:lstStyle/>
          <a:p>
            <a:pPr algn="ctr" indent="0" marL="0">
              <a:buNone/>
            </a:pPr>
            <a:r>
              <a:rPr lang="en-US" sz="1200" b="1" dirty="0">
                <a:solidFill>
                  <a:schemeClr val="bg1"/>
                </a:solidFill>
              </a:rPr>
              <a:t>HDFS</a:t>
            </a:r>
            <a:endParaRPr lang="en-US" sz="1200" dirty="0"/>
          </a:p>
          <a:p>
            <a:pPr algn="ctr" indent="0" marL="0">
              <a:buNone/>
            </a:pPr>
            <a:r>
              <a:rPr lang="en-US" sz="1050" dirty="0">
                <a:solidFill>
                  <a:schemeClr val="bg2"/>
                </a:solidFill>
              </a:rPr>
              <a:t>index files</a:t>
            </a:r>
            <a:endParaRPr lang="en-US" sz="1200" dirty="0"/>
          </a:p>
        </p:txBody>
      </p:sp>
      <p:sp>
        <p:nvSpPr>
          <p:cNvPr id="29" name="Query nodes"/>
          <p:cNvSpPr txBox="1"/>
          <p:nvPr/>
        </p:nvSpPr>
        <p:spPr>
          <a:xfrm>
            <a:off x="2606040" y="3703320"/>
            <a:ext cx="1737360" cy="548640"/>
          </a:xfrm>
          <a:prstGeom prst="roundRect">
            <a:avLst>
              <a:gd name="adj" fmla="val 8333"/>
            </a:avLst>
          </a:prstGeom>
          <a:solidFill>
            <a:schemeClr val="bg2"/>
          </a:solidFill>
          <a:ln w="12700">
            <a:solidFill>
              <a:schemeClr val="accent1"/>
            </a:solidFill>
          </a:ln>
        </p:spPr>
        <p:txBody>
          <a:bodyPr wrap="square" lIns="63500" tIns="25400" rIns="63500" bIns="25400" rtlCol="0" anchor="ctr"/>
          <a:lstStyle/>
          <a:p>
            <a:pPr algn="ctr" indent="0" marL="0">
              <a:buNone/>
            </a:pPr>
            <a:r>
              <a:rPr lang="en-US" sz="1150" b="1" dirty="0">
                <a:solidFill>
                  <a:schemeClr val="tx2"/>
                </a:solidFill>
              </a:rPr>
              <a:t>Cassini query nodes</a:t>
            </a:r>
            <a:endParaRPr lang="en-US" sz="1150" dirty="0"/>
          </a:p>
          <a:p>
            <a:pPr algn="ctr" indent="0" marL="0">
              <a:buNone/>
            </a:pPr>
            <a:r>
              <a:rPr lang="en-US" sz="1000" dirty="0">
                <a:solidFill>
                  <a:schemeClr val="tx1"/>
                </a:solidFill>
              </a:rPr>
              <a:t>serve the index</a:t>
            </a:r>
            <a:endParaRPr lang="en-US" sz="1150" dirty="0"/>
          </a:p>
        </p:txBody>
      </p:sp>
      <p:sp>
        <p:nvSpPr>
          <p:cNvPr id="30" name="Shoppers"/>
          <p:cNvSpPr txBox="1"/>
          <p:nvPr/>
        </p:nvSpPr>
        <p:spPr>
          <a:xfrm>
            <a:off x="4663440" y="3703320"/>
            <a:ext cx="1051560" cy="548640"/>
          </a:xfrm>
          <a:prstGeom prst="roundRect">
            <a:avLst>
              <a:gd name="adj" fmla="val 8333"/>
            </a:avLst>
          </a:prstGeom>
          <a:solidFill>
            <a:schemeClr val="bg1"/>
          </a:solidFill>
          <a:ln w="12700">
            <a:solidFill>
              <a:schemeClr val="accent3"/>
            </a:solidFill>
          </a:ln>
        </p:spPr>
        <p:txBody>
          <a:bodyPr wrap="square" lIns="63500" tIns="25400" rIns="63500" bIns="25400" rtlCol="0" anchor="ctr"/>
          <a:lstStyle/>
          <a:p>
            <a:pPr algn="ctr" indent="0" marL="0">
              <a:buNone/>
            </a:pPr>
            <a:r>
              <a:rPr lang="en-US" sz="1150" b="1" dirty="0">
                <a:solidFill>
                  <a:schemeClr val="tx2"/>
                </a:solidFill>
              </a:rPr>
              <a:t>Shoppers</a:t>
            </a:r>
            <a:endParaRPr lang="en-US" sz="1150" dirty="0"/>
          </a:p>
          <a:p>
            <a:pPr algn="ctr" indent="0" marL="0">
              <a:buNone/>
            </a:pPr>
            <a:r>
              <a:rPr lang="en-US" sz="1000" dirty="0">
                <a:solidFill>
                  <a:schemeClr val="accent3"/>
                </a:solidFill>
              </a:rPr>
              <a:t>search results</a:t>
            </a:r>
            <a:endParaRPr lang="en-US" sz="1150" dirty="0"/>
          </a:p>
        </p:txBody>
      </p:sp>
      <p:sp>
        <p:nvSpPr>
          <p:cNvPr id="31" name="HDFS to query"/>
          <p:cNvSpPr/>
          <p:nvPr/>
        </p:nvSpPr>
        <p:spPr>
          <a:xfrm>
            <a:off x="2286000" y="3977640"/>
            <a:ext cx="320040" cy="0"/>
          </a:xfrm>
          <a:prstGeom prst="line">
            <a:avLst/>
          </a:prstGeom>
          <a:noFill/>
          <a:ln w="19050">
            <a:solidFill>
              <a:schemeClr val="accent1"/>
            </a:solidFill>
            <a:prstDash val="solid"/>
            <a:tailEnd type="triangle"/>
          </a:ln>
        </p:spPr>
      </p:sp>
      <p:sp>
        <p:nvSpPr>
          <p:cNvPr id="32" name="Query to shoppers"/>
          <p:cNvSpPr/>
          <p:nvPr/>
        </p:nvSpPr>
        <p:spPr>
          <a:xfrm>
            <a:off x="4343400" y="3977640"/>
            <a:ext cx="320040" cy="0"/>
          </a:xfrm>
          <a:prstGeom prst="line">
            <a:avLst/>
          </a:prstGeom>
          <a:noFill/>
          <a:ln w="19050">
            <a:solidFill>
              <a:schemeClr val="accent1"/>
            </a:solidFill>
            <a:prstDash val="solid"/>
            <a:tailEnd type="triangle"/>
          </a:ln>
        </p:spPr>
      </p:sp>
      <p:sp>
        <p:nvSpPr>
          <p:cNvPr id="33" name="MapReduce facts card"/>
          <p:cNvSpPr/>
          <p:nvPr/>
        </p:nvSpPr>
        <p:spPr>
          <a:xfrm>
            <a:off x="6035040" y="1051560"/>
            <a:ext cx="2651760" cy="3200400"/>
          </a:xfrm>
          <a:prstGeom prst="rect">
            <a:avLst/>
          </a:prstGeom>
          <a:solidFill>
            <a:schemeClr val="bg2"/>
          </a:solidFill>
          <a:ln w="12700">
            <a:solidFill>
              <a:schemeClr val="accent1"/>
            </a:solidFill>
            <a:prstDash val="solid"/>
          </a:ln>
        </p:spPr>
      </p:sp>
      <p:sp>
        <p:nvSpPr>
          <p:cNvPr id="34" name="MapReduce facts heading"/>
          <p:cNvSpPr txBox="1"/>
          <p:nvPr/>
        </p:nvSpPr>
        <p:spPr>
          <a:xfrm>
            <a:off x="6172200" y="1143000"/>
            <a:ext cx="2377440" cy="292608"/>
          </a:xfrm>
          <a:prstGeom prst="rect">
            <a:avLst/>
          </a:prstGeom>
          <a:noFill/>
          <a:ln/>
        </p:spPr>
        <p:txBody>
          <a:bodyPr wrap="square" lIns="0" tIns="0" rIns="0" bIns="0" rtlCol="0" anchor="t"/>
          <a:lstStyle/>
          <a:p>
            <a:pPr algn="l" indent="0" marL="0">
              <a:buNone/>
            </a:pPr>
            <a:r>
              <a:rPr lang="en-US" sz="1600" b="1" dirty="0">
                <a:solidFill>
                  <a:schemeClr val="accent1"/>
                </a:solidFill>
              </a:rPr>
              <a:t>At eBay</a:t>
            </a:r>
            <a:endParaRPr lang="en-US" sz="1600" dirty="0"/>
          </a:p>
        </p:txBody>
      </p:sp>
      <p:sp>
        <p:nvSpPr>
          <p:cNvPr id="35" name="MapReduce facts facts"/>
          <p:cNvSpPr txBox="1"/>
          <p:nvPr/>
        </p:nvSpPr>
        <p:spPr>
          <a:xfrm>
            <a:off x="6172200" y="1508760"/>
            <a:ext cx="2377440" cy="2651760"/>
          </a:xfrm>
          <a:prstGeom prst="rect">
            <a:avLst/>
          </a:prstGeom>
          <a:noFill/>
          <a:ln/>
        </p:spPr>
        <p:txBody>
          <a:bodyPr wrap="square" lIns="0" tIns="0" rIns="0" bIns="0" rtlCol="0" anchor="t"/>
          <a:lstStyle/>
          <a:p>
            <a:pPr algn="l" marL="152400" indent="-152400">
              <a:spcAft>
                <a:spcPts val="600"/>
              </a:spcAft>
              <a:buSzPct val="100000"/>
              <a:buChar char="•"/>
            </a:pPr>
            <a:r>
              <a:rPr lang="en-US" sz="1200" b="1" dirty="0">
                <a:solidFill>
                  <a:schemeClr val="tx2"/>
                </a:solidFill>
              </a:rPr>
              <a:t>Input: </a:t>
            </a:r>
            <a:pPr algn="l" indent="0" marL="0">
              <a:spcAft>
                <a:spcPts val="600"/>
              </a:spcAft>
              <a:buNone/>
            </a:pPr>
            <a:r>
              <a:rPr lang="en-US" sz="1200" dirty="0">
                <a:solidFill>
                  <a:schemeClr val="tx1"/>
                </a:solidFill>
              </a:rPr>
              <a:t>whole site inventory in HBase: ~15 TB, 1.2 TB imported a day</a:t>
            </a:r>
            <a:endParaRPr lang="en-US" sz="1200" dirty="0"/>
          </a:p>
          <a:p>
            <a:pPr algn="l" marL="152400" indent="-152400">
              <a:spcAft>
                <a:spcPts val="600"/>
              </a:spcAft>
              <a:buSzPct val="100000"/>
              <a:buChar char="•"/>
            </a:pPr>
            <a:r>
              <a:rPr lang="en-US" sz="1200" b="1" dirty="0">
                <a:solidFill>
                  <a:schemeClr val="tx2"/>
                </a:solidFill>
              </a:rPr>
              <a:t>Full index: </a:t>
            </a:r>
            <a:pPr algn="l" indent="0" marL="0">
              <a:spcAft>
                <a:spcPts val="600"/>
              </a:spcAft>
              <a:buNone/>
            </a:pPr>
            <a:r>
              <a:rPr lang="en-US" sz="1200" dirty="0">
                <a:solidFill>
                  <a:schemeClr val="tx1"/>
                </a:solidFill>
              </a:rPr>
              <a:t>rebuilt every 6 hours</a:t>
            </a:r>
            <a:endParaRPr lang="en-US" sz="1200" dirty="0"/>
          </a:p>
          <a:p>
            <a:pPr algn="l" marL="152400" indent="-152400">
              <a:spcAft>
                <a:spcPts val="600"/>
              </a:spcAft>
              <a:buSzPct val="100000"/>
              <a:buChar char="•"/>
            </a:pPr>
            <a:r>
              <a:rPr lang="en-US" sz="1200" b="1" dirty="0">
                <a:solidFill>
                  <a:schemeClr val="tx2"/>
                </a:solidFill>
              </a:rPr>
              <a:t>Mini index: </a:t>
            </a:r>
            <a:pPr algn="l" indent="0" marL="0">
              <a:spcAft>
                <a:spcPts val="600"/>
              </a:spcAft>
              <a:buNone/>
            </a:pPr>
            <a:r>
              <a:rPr lang="en-US" sz="1200" dirty="0">
                <a:solidFill>
                  <a:schemeClr val="tx1"/>
                </a:solidFill>
              </a:rPr>
              <a:t>every few minutes, for new listings</a:t>
            </a:r>
            <a:endParaRPr lang="en-US" sz="1200" dirty="0"/>
          </a:p>
          <a:p>
            <a:pPr algn="l" marL="152400" indent="-152400">
              <a:spcAft>
                <a:spcPts val="600"/>
              </a:spcAft>
              <a:buSzPct val="100000"/>
              <a:buChar char="•"/>
            </a:pPr>
            <a:r>
              <a:rPr lang="en-US" sz="1200" b="1" dirty="0">
                <a:solidFill>
                  <a:schemeClr val="tx2"/>
                </a:solidFill>
              </a:rPr>
              <a:t>Target: </a:t>
            </a:r>
            <a:pPr algn="l" indent="0" marL="0">
              <a:spcAft>
                <a:spcPts val="600"/>
              </a:spcAft>
              <a:buNone/>
            </a:pPr>
            <a:r>
              <a:rPr lang="en-US" sz="1200" dirty="0">
                <a:solidFill>
                  <a:schemeClr val="tx1"/>
                </a:solidFill>
              </a:rPr>
              <a:t>SLA under 10 minutes</a:t>
            </a:r>
            <a:endParaRPr lang="en-US" sz="1200" dirty="0"/>
          </a:p>
          <a:p>
            <a:pPr algn="l" marL="152400" indent="-152400">
              <a:spcAft>
                <a:spcPts val="600"/>
              </a:spcAft>
              <a:buSzPct val="100000"/>
              <a:buChar char="•"/>
            </a:pPr>
            <a:r>
              <a:rPr lang="en-US" sz="1200" b="1" dirty="0">
                <a:solidFill>
                  <a:schemeClr val="tx2"/>
                </a:solidFill>
              </a:rPr>
              <a:t>Where: </a:t>
            </a:r>
            <a:pPr algn="l" indent="0" marL="0">
              <a:spcAft>
                <a:spcPts val="600"/>
              </a:spcAft>
              <a:buNone/>
            </a:pPr>
            <a:r>
              <a:rPr lang="en-US" sz="1200" dirty="0">
                <a:solidFill>
                  <a:schemeClr val="tx1"/>
                </a:solidFill>
              </a:rPr>
              <a:t>dedicated index-building clusters</a:t>
            </a:r>
            <a:endParaRPr lang="en-US" sz="1200" dirty="0"/>
          </a:p>
        </p:txBody>
      </p:sp>
      <p:sp>
        <p:nvSpPr>
          <p:cNvPr id="36"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Cassini HBase (eBay, 2012); Hadoop and HBase @ eBay (c. 2013); Hadoop at eBay (c. 2015).</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For the live site, eBay matched each feature to the NoSQL store built for it</a:t>
            </a:r>
            <a:endParaRPr lang="en-US" sz="2400" dirty="0"/>
          </a:p>
        </p:txBody>
      </p:sp>
      <p:graphicFrame>
        <p:nvGraphicFramePr>
          <p:cNvPr id="12" name="NoSQL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234440"/>
                <a:gridCol w="1600200"/>
                <a:gridCol w="3200400"/>
                <a:gridCol w="2194560"/>
              </a:tblGrid>
              <a:tr h="365760">
                <a:tc>
                  <a:txBody>
                    <a:bodyPr/>
                    <a:lstStyle/>
                    <a:p>
                      <a:pPr indent="0" marL="0">
                        <a:buNone/>
                      </a:pPr>
                      <a:r>
                        <a:rPr lang="en-US" sz="1500" b="1" dirty="0">
                          <a:solidFill>
                            <a:schemeClr val="bg1"/>
                          </a:solidFill>
                        </a:rPr>
                        <a:t>Database</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Type</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eBay use, and at what scale</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Why it fits</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r>
              <a:tr h="749808">
                <a:tc>
                  <a:txBody>
                    <a:bodyPr/>
                    <a:lstStyle/>
                    <a:p>
                      <a:pPr indent="0" marL="0">
                        <a:buNone/>
                      </a:pPr>
                      <a:r>
                        <a:rPr lang="en-US" sz="1500" b="1" dirty="0">
                          <a:solidFill>
                            <a:schemeClr val="tx2"/>
                          </a:solidFill>
                        </a:rPr>
                        <a:t>HBase</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Wide-column store on HDFS</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Whole site inventory for Cassini search (~15 TB); Kylin OLAP cubes</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Fast random reads and writes; MapReduce bulk-loads it</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749808">
                <a:tc>
                  <a:txBody>
                    <a:bodyPr/>
                    <a:lstStyle/>
                    <a:p>
                      <a:pPr indent="0" marL="0">
                        <a:buNone/>
                      </a:pPr>
                      <a:r>
                        <a:rPr lang="en-US" sz="1500" b="1" dirty="0">
                          <a:solidFill>
                            <a:schemeClr val="tx2"/>
                          </a:solidFill>
                        </a:rPr>
                        <a:t>Cassandra</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Wide-column, write-heavy</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Social signals, fraud time series, order tracking; 200 TB+, 400M+ writes a day</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Very fast writes; scalable counters</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566928">
                <a:tc>
                  <a:txBody>
                    <a:bodyPr/>
                    <a:lstStyle/>
                    <a:p>
                      <a:pPr indent="0" marL="0">
                        <a:buNone/>
                      </a:pPr>
                      <a:r>
                        <a:rPr lang="en-US" sz="1500" b="1" dirty="0">
                          <a:solidFill>
                            <a:schemeClr val="tx2"/>
                          </a:solidFill>
                        </a:rPr>
                        <a:t>MongoDB</a:t>
                      </a:r>
                      <a:endParaRPr lang="en-US" sz="15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Document store</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Product metadata with varied fields, loaded daily from Hadoop</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400" dirty="0">
                          <a:solidFill>
                            <a:schemeClr val="tx1"/>
                          </a:solidFill>
                        </a:rPr>
                        <a:t>Flexible schema</a:t>
                      </a:r>
                      <a:endParaRPr lang="en-US" sz="1400" dirty="0"/>
                    </a:p>
                  </a:txBody>
                  <a:tcPr marL="91440" marR="91440" marT="36576" marB="36576"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5" name="Recommendation callout"/>
          <p:cNvSpPr txBox="1"/>
          <p:nvPr/>
        </p:nvSpPr>
        <p:spPr>
          <a:xfrm>
            <a:off x="457200" y="3749040"/>
            <a:ext cx="8229600" cy="777240"/>
          </a:xfrm>
          <a:prstGeom prst="roundRect">
            <a:avLst>
              <a:gd name="adj" fmla="val 7059"/>
            </a:avLst>
          </a:prstGeom>
          <a:solidFill>
            <a:schemeClr val="accent4"/>
          </a:solidFill>
          <a:ln w="12700">
            <a:solidFill>
              <a:schemeClr val="accent2"/>
            </a:solidFill>
          </a:ln>
        </p:spPr>
        <p:txBody>
          <a:bodyPr wrap="square" lIns="76200" tIns="76200" rIns="76200" bIns="76200" rtlCol="0" anchor="ctr"/>
          <a:lstStyle/>
          <a:p>
            <a:pPr algn="l" indent="0" marL="0">
              <a:buNone/>
            </a:pPr>
            <a:r>
              <a:rPr lang="en-US" sz="1600" b="1" dirty="0">
                <a:solidFill>
                  <a:schemeClr val="tx1"/>
                </a:solidFill>
              </a:rPr>
              <a:t>Our pick: HBase for Hadoop-linked work, because it runs on HDFS; MongoDB for the product catalogue.</a:t>
            </a:r>
            <a:endParaRPr lang="en-US" sz="1600" dirty="0"/>
          </a:p>
        </p:txBody>
      </p:sp>
      <p:sp>
        <p:nvSpPr>
          <p:cNvPr id="6"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Cassini HBase (eBay, 2012); Kylin (eBay, 2014); Patel (2012); MongoDB at eBay (n.d.).</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eBay's Big Data system at a glance</a:t>
            </a:r>
            <a:endParaRPr lang="en-US" sz="2400" dirty="0"/>
          </a:p>
        </p:txBody>
      </p:sp>
      <p:sp>
        <p:nvSpPr>
          <p:cNvPr id="4" name="Left trunk"/>
          <p:cNvSpPr/>
          <p:nvPr/>
        </p:nvSpPr>
        <p:spPr>
          <a:xfrm>
            <a:off x="3611880" y="1325880"/>
            <a:ext cx="0" cy="2834640"/>
          </a:xfrm>
          <a:prstGeom prst="line">
            <a:avLst/>
          </a:prstGeom>
          <a:noFill/>
          <a:ln w="15875">
            <a:solidFill>
              <a:schemeClr val="tx2"/>
            </a:solidFill>
            <a:prstDash val="solid"/>
          </a:ln>
        </p:spPr>
      </p:sp>
      <p:sp>
        <p:nvSpPr>
          <p:cNvPr id="5" name="Right trunk"/>
          <p:cNvSpPr/>
          <p:nvPr/>
        </p:nvSpPr>
        <p:spPr>
          <a:xfrm>
            <a:off x="5532120" y="1325880"/>
            <a:ext cx="0" cy="2834640"/>
          </a:xfrm>
          <a:prstGeom prst="line">
            <a:avLst/>
          </a:prstGeom>
          <a:noFill/>
          <a:ln w="15875">
            <a:solidFill>
              <a:schemeClr val="tx2"/>
            </a:solidFill>
            <a:prstDash val="solid"/>
          </a:ln>
        </p:spPr>
      </p:sp>
      <p:sp>
        <p:nvSpPr>
          <p:cNvPr id="6" name="Left root link"/>
          <p:cNvSpPr/>
          <p:nvPr/>
        </p:nvSpPr>
        <p:spPr>
          <a:xfrm>
            <a:off x="3611880" y="2743200"/>
            <a:ext cx="228600" cy="0"/>
          </a:xfrm>
          <a:prstGeom prst="line">
            <a:avLst/>
          </a:prstGeom>
          <a:noFill/>
          <a:ln w="15875">
            <a:solidFill>
              <a:schemeClr val="tx2"/>
            </a:solidFill>
            <a:prstDash val="solid"/>
          </a:ln>
        </p:spPr>
      </p:sp>
      <p:sp>
        <p:nvSpPr>
          <p:cNvPr id="7" name="Right root link"/>
          <p:cNvSpPr/>
          <p:nvPr/>
        </p:nvSpPr>
        <p:spPr>
          <a:xfrm>
            <a:off x="5303520" y="2743200"/>
            <a:ext cx="228600" cy="0"/>
          </a:xfrm>
          <a:prstGeom prst="line">
            <a:avLst/>
          </a:prstGeom>
          <a:noFill/>
          <a:ln w="15875">
            <a:solidFill>
              <a:schemeClr val="tx2"/>
            </a:solidFill>
            <a:prstDash val="solid"/>
          </a:ln>
        </p:spPr>
      </p:sp>
      <p:sp>
        <p:nvSpPr>
          <p:cNvPr id="8" name="THE DATA bar"/>
          <p:cNvSpPr/>
          <p:nvPr/>
        </p:nvSpPr>
        <p:spPr>
          <a:xfrm>
            <a:off x="2176272" y="813816"/>
            <a:ext cx="0" cy="1024128"/>
          </a:xfrm>
          <a:prstGeom prst="line">
            <a:avLst/>
          </a:prstGeom>
          <a:noFill/>
          <a:ln w="15875">
            <a:solidFill>
              <a:schemeClr val="accent1"/>
            </a:solidFill>
            <a:prstDash val="solid"/>
          </a:ln>
        </p:spPr>
      </p:sp>
      <p:sp>
        <p:nvSpPr>
          <p:cNvPr id="9" name="THE DATA bar link"/>
          <p:cNvSpPr/>
          <p:nvPr/>
        </p:nvSpPr>
        <p:spPr>
          <a:xfrm>
            <a:off x="2176272" y="1325880"/>
            <a:ext cx="109728" cy="0"/>
          </a:xfrm>
          <a:prstGeom prst="line">
            <a:avLst/>
          </a:prstGeom>
          <a:noFill/>
          <a:ln w="15875">
            <a:solidFill>
              <a:schemeClr val="accent1"/>
            </a:solidFill>
            <a:prstDash val="solid"/>
          </a:ln>
        </p:spPr>
      </p:sp>
      <p:sp>
        <p:nvSpPr>
          <p:cNvPr id="10" name="THE DATA trunk link"/>
          <p:cNvSpPr/>
          <p:nvPr/>
        </p:nvSpPr>
        <p:spPr>
          <a:xfrm>
            <a:off x="3474720" y="1325880"/>
            <a:ext cx="137160" cy="0"/>
          </a:xfrm>
          <a:prstGeom prst="line">
            <a:avLst/>
          </a:prstGeom>
          <a:noFill/>
          <a:ln w="15875">
            <a:solidFill>
              <a:schemeClr val="accent1"/>
            </a:solidFill>
            <a:prstDash val="solid"/>
          </a:ln>
        </p:spPr>
      </p:sp>
      <p:sp>
        <p:nvSpPr>
          <p:cNvPr id="11" name="Leaf stub"/>
          <p:cNvSpPr/>
          <p:nvPr/>
        </p:nvSpPr>
        <p:spPr>
          <a:xfrm>
            <a:off x="2103120" y="813816"/>
            <a:ext cx="73152" cy="0"/>
          </a:xfrm>
          <a:prstGeom prst="line">
            <a:avLst/>
          </a:prstGeom>
          <a:noFill/>
          <a:ln w="12700">
            <a:solidFill>
              <a:schemeClr val="accent1"/>
            </a:solidFill>
            <a:prstDash val="solid"/>
          </a:ln>
        </p:spPr>
      </p:sp>
      <p:sp>
        <p:nvSpPr>
          <p:cNvPr id="12" name="Leaf: Volume · 8–10 TB a day"/>
          <p:cNvSpPr txBox="1"/>
          <p:nvPr/>
        </p:nvSpPr>
        <p:spPr>
          <a:xfrm>
            <a:off x="228600" y="704088"/>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Volume · 8–10 TB a day</a:t>
            </a:r>
            <a:endParaRPr lang="en-US" sz="1050" dirty="0"/>
          </a:p>
        </p:txBody>
      </p:sp>
      <p:sp>
        <p:nvSpPr>
          <p:cNvPr id="13" name="Leaf stub"/>
          <p:cNvSpPr/>
          <p:nvPr/>
        </p:nvSpPr>
        <p:spPr>
          <a:xfrm>
            <a:off x="2103120" y="1069848"/>
            <a:ext cx="73152" cy="0"/>
          </a:xfrm>
          <a:prstGeom prst="line">
            <a:avLst/>
          </a:prstGeom>
          <a:noFill/>
          <a:ln w="12700">
            <a:solidFill>
              <a:schemeClr val="accent1"/>
            </a:solidFill>
            <a:prstDash val="solid"/>
          </a:ln>
        </p:spPr>
      </p:sp>
      <p:sp>
        <p:nvSpPr>
          <p:cNvPr id="14" name="Leaf: Velocity · 150 bn logs a day"/>
          <p:cNvSpPr txBox="1"/>
          <p:nvPr/>
        </p:nvSpPr>
        <p:spPr>
          <a:xfrm>
            <a:off x="228600" y="960120"/>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Velocity · 150 bn logs a day</a:t>
            </a:r>
            <a:endParaRPr lang="en-US" sz="1050" dirty="0"/>
          </a:p>
        </p:txBody>
      </p:sp>
      <p:sp>
        <p:nvSpPr>
          <p:cNvPr id="15" name="Leaf stub"/>
          <p:cNvSpPr/>
          <p:nvPr/>
        </p:nvSpPr>
        <p:spPr>
          <a:xfrm>
            <a:off x="2103120" y="1325880"/>
            <a:ext cx="73152" cy="0"/>
          </a:xfrm>
          <a:prstGeom prst="line">
            <a:avLst/>
          </a:prstGeom>
          <a:noFill/>
          <a:ln w="12700">
            <a:solidFill>
              <a:schemeClr val="accent1"/>
            </a:solidFill>
            <a:prstDash val="solid"/>
          </a:ln>
        </p:spPr>
      </p:sp>
      <p:sp>
        <p:nvSpPr>
          <p:cNvPr id="16" name="Leaf: Variety · logs, images"/>
          <p:cNvSpPr txBox="1"/>
          <p:nvPr/>
        </p:nvSpPr>
        <p:spPr>
          <a:xfrm>
            <a:off x="228600" y="1216152"/>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Variety · logs, images</a:t>
            </a:r>
            <a:endParaRPr lang="en-US" sz="1050" dirty="0"/>
          </a:p>
        </p:txBody>
      </p:sp>
      <p:sp>
        <p:nvSpPr>
          <p:cNvPr id="17" name="Leaf stub"/>
          <p:cNvSpPr/>
          <p:nvPr/>
        </p:nvSpPr>
        <p:spPr>
          <a:xfrm>
            <a:off x="2103120" y="1581912"/>
            <a:ext cx="73152" cy="0"/>
          </a:xfrm>
          <a:prstGeom prst="line">
            <a:avLst/>
          </a:prstGeom>
          <a:noFill/>
          <a:ln w="12700">
            <a:solidFill>
              <a:schemeClr val="accent1"/>
            </a:solidFill>
            <a:prstDash val="solid"/>
          </a:ln>
        </p:spPr>
      </p:sp>
      <p:sp>
        <p:nvSpPr>
          <p:cNvPr id="18" name="Leaf: Veracity · fraud signals"/>
          <p:cNvSpPr txBox="1"/>
          <p:nvPr/>
        </p:nvSpPr>
        <p:spPr>
          <a:xfrm>
            <a:off x="228600" y="1472184"/>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Veracity · fraud signals</a:t>
            </a:r>
            <a:endParaRPr lang="en-US" sz="1050" dirty="0"/>
          </a:p>
        </p:txBody>
      </p:sp>
      <p:sp>
        <p:nvSpPr>
          <p:cNvPr id="19" name="Leaf stub"/>
          <p:cNvSpPr/>
          <p:nvPr/>
        </p:nvSpPr>
        <p:spPr>
          <a:xfrm>
            <a:off x="2103120" y="1837944"/>
            <a:ext cx="73152" cy="0"/>
          </a:xfrm>
          <a:prstGeom prst="line">
            <a:avLst/>
          </a:prstGeom>
          <a:noFill/>
          <a:ln w="12700">
            <a:solidFill>
              <a:schemeClr val="accent1"/>
            </a:solidFill>
            <a:prstDash val="solid"/>
          </a:ln>
        </p:spPr>
      </p:sp>
      <p:sp>
        <p:nvSpPr>
          <p:cNvPr id="20" name="Leaf: Value · search to sales"/>
          <p:cNvSpPr txBox="1"/>
          <p:nvPr/>
        </p:nvSpPr>
        <p:spPr>
          <a:xfrm>
            <a:off x="228600" y="1728216"/>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Value · search to sales</a:t>
            </a:r>
            <a:endParaRPr lang="en-US" sz="1050" dirty="0"/>
          </a:p>
        </p:txBody>
      </p:sp>
      <p:sp>
        <p:nvSpPr>
          <p:cNvPr id="21" name="Branch: THE DATA"/>
          <p:cNvSpPr txBox="1"/>
          <p:nvPr/>
        </p:nvSpPr>
        <p:spPr>
          <a:xfrm>
            <a:off x="2286000" y="1170432"/>
            <a:ext cx="1188720" cy="310896"/>
          </a:xfrm>
          <a:prstGeom prst="roundRect">
            <a:avLst>
              <a:gd name="adj" fmla="val 50000"/>
            </a:avLst>
          </a:prstGeom>
          <a:solidFill>
            <a:schemeClr val="accent1"/>
          </a:solidFill>
          <a:ln w="12700">
            <a:solidFill>
              <a:schemeClr val="accent1"/>
            </a:solidFill>
          </a:ln>
        </p:spPr>
        <p:txBody>
          <a:bodyPr wrap="square" lIns="25400" tIns="12700" rIns="25400" bIns="12700" rtlCol="0" anchor="ctr"/>
          <a:lstStyle/>
          <a:p>
            <a:pPr algn="ctr" indent="0" marL="0">
              <a:buNone/>
            </a:pPr>
            <a:r>
              <a:rPr lang="en-US" sz="1050" b="1" spc="50" kern="0" dirty="0">
                <a:solidFill>
                  <a:schemeClr val="bg1"/>
                </a:solidFill>
              </a:rPr>
              <a:t>THE DATA</a:t>
            </a:r>
            <a:endParaRPr lang="en-US" sz="1050" dirty="0"/>
          </a:p>
        </p:txBody>
      </p:sp>
      <p:sp>
        <p:nvSpPr>
          <p:cNvPr id="22" name="SQL LIMITS bar"/>
          <p:cNvSpPr/>
          <p:nvPr/>
        </p:nvSpPr>
        <p:spPr>
          <a:xfrm>
            <a:off x="2176272" y="2231136"/>
            <a:ext cx="0" cy="1024128"/>
          </a:xfrm>
          <a:prstGeom prst="line">
            <a:avLst/>
          </a:prstGeom>
          <a:noFill/>
          <a:ln w="15875">
            <a:solidFill>
              <a:schemeClr val="accent1"/>
            </a:solidFill>
            <a:prstDash val="solid"/>
          </a:ln>
        </p:spPr>
      </p:sp>
      <p:sp>
        <p:nvSpPr>
          <p:cNvPr id="23" name="SQL LIMITS bar link"/>
          <p:cNvSpPr/>
          <p:nvPr/>
        </p:nvSpPr>
        <p:spPr>
          <a:xfrm>
            <a:off x="2176272" y="2743200"/>
            <a:ext cx="109728" cy="0"/>
          </a:xfrm>
          <a:prstGeom prst="line">
            <a:avLst/>
          </a:prstGeom>
          <a:noFill/>
          <a:ln w="15875">
            <a:solidFill>
              <a:schemeClr val="accent1"/>
            </a:solidFill>
            <a:prstDash val="solid"/>
          </a:ln>
        </p:spPr>
      </p:sp>
      <p:sp>
        <p:nvSpPr>
          <p:cNvPr id="24" name="SQL LIMITS trunk link"/>
          <p:cNvSpPr/>
          <p:nvPr/>
        </p:nvSpPr>
        <p:spPr>
          <a:xfrm>
            <a:off x="3474720" y="2743200"/>
            <a:ext cx="137160" cy="0"/>
          </a:xfrm>
          <a:prstGeom prst="line">
            <a:avLst/>
          </a:prstGeom>
          <a:noFill/>
          <a:ln w="15875">
            <a:solidFill>
              <a:schemeClr val="accent1"/>
            </a:solidFill>
            <a:prstDash val="solid"/>
          </a:ln>
        </p:spPr>
      </p:sp>
      <p:sp>
        <p:nvSpPr>
          <p:cNvPr id="25" name="Leaf stub"/>
          <p:cNvSpPr/>
          <p:nvPr/>
        </p:nvSpPr>
        <p:spPr>
          <a:xfrm>
            <a:off x="2103120" y="2231136"/>
            <a:ext cx="73152" cy="0"/>
          </a:xfrm>
          <a:prstGeom prst="line">
            <a:avLst/>
          </a:prstGeom>
          <a:noFill/>
          <a:ln w="12700">
            <a:solidFill>
              <a:schemeClr val="accent1"/>
            </a:solidFill>
            <a:prstDash val="solid"/>
          </a:ln>
        </p:spPr>
      </p:sp>
      <p:sp>
        <p:nvSpPr>
          <p:cNvPr id="26" name="Leaf: Teradata · 10+ PB"/>
          <p:cNvSpPr txBox="1"/>
          <p:nvPr/>
        </p:nvSpPr>
        <p:spPr>
          <a:xfrm>
            <a:off x="228600" y="2121408"/>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Teradata · 10+ PB</a:t>
            </a:r>
            <a:endParaRPr lang="en-US" sz="1050" dirty="0"/>
          </a:p>
        </p:txBody>
      </p:sp>
      <p:sp>
        <p:nvSpPr>
          <p:cNvPr id="27" name="Leaf stub"/>
          <p:cNvSpPr/>
          <p:nvPr/>
        </p:nvSpPr>
        <p:spPr>
          <a:xfrm>
            <a:off x="2103120" y="2487168"/>
            <a:ext cx="73152" cy="0"/>
          </a:xfrm>
          <a:prstGeom prst="line">
            <a:avLst/>
          </a:prstGeom>
          <a:noFill/>
          <a:ln w="12700">
            <a:solidFill>
              <a:schemeClr val="accent1"/>
            </a:solidFill>
            <a:prstDash val="solid"/>
          </a:ln>
        </p:spPr>
      </p:sp>
      <p:sp>
        <p:nvSpPr>
          <p:cNvPr id="28" name="Leaf: Greenplum · 6.5 PB"/>
          <p:cNvSpPr txBox="1"/>
          <p:nvPr/>
        </p:nvSpPr>
        <p:spPr>
          <a:xfrm>
            <a:off x="228600" y="2377440"/>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Greenplum · 6.5 PB</a:t>
            </a:r>
            <a:endParaRPr lang="en-US" sz="1050" dirty="0"/>
          </a:p>
        </p:txBody>
      </p:sp>
      <p:sp>
        <p:nvSpPr>
          <p:cNvPr id="29" name="Leaf stub"/>
          <p:cNvSpPr/>
          <p:nvPr/>
        </p:nvSpPr>
        <p:spPr>
          <a:xfrm>
            <a:off x="2103120" y="2743200"/>
            <a:ext cx="73152" cy="0"/>
          </a:xfrm>
          <a:prstGeom prst="line">
            <a:avLst/>
          </a:prstGeom>
          <a:noFill/>
          <a:ln w="12700">
            <a:solidFill>
              <a:schemeClr val="accent1"/>
            </a:solidFill>
            <a:prstDash val="solid"/>
          </a:ln>
        </p:spPr>
      </p:sp>
      <p:sp>
        <p:nvSpPr>
          <p:cNvPr id="30" name="Leaf: Fixed-schema workaround"/>
          <p:cNvSpPr txBox="1"/>
          <p:nvPr/>
        </p:nvSpPr>
        <p:spPr>
          <a:xfrm>
            <a:off x="228600" y="2633472"/>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Fixed-schema workaround</a:t>
            </a:r>
            <a:endParaRPr lang="en-US" sz="1050" dirty="0"/>
          </a:p>
        </p:txBody>
      </p:sp>
      <p:sp>
        <p:nvSpPr>
          <p:cNvPr id="31" name="Leaf stub"/>
          <p:cNvSpPr/>
          <p:nvPr/>
        </p:nvSpPr>
        <p:spPr>
          <a:xfrm>
            <a:off x="2103120" y="2999232"/>
            <a:ext cx="73152" cy="0"/>
          </a:xfrm>
          <a:prstGeom prst="line">
            <a:avLst/>
          </a:prstGeom>
          <a:noFill/>
          <a:ln w="12700">
            <a:solidFill>
              <a:schemeClr val="accent1"/>
            </a:solidFill>
            <a:prstDash val="solid"/>
          </a:ln>
        </p:spPr>
      </p:sp>
      <p:sp>
        <p:nvSpPr>
          <p:cNvPr id="32" name="Leaf: Fix · scale out, not up"/>
          <p:cNvSpPr txBox="1"/>
          <p:nvPr/>
        </p:nvSpPr>
        <p:spPr>
          <a:xfrm>
            <a:off x="228600" y="2889504"/>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Fix · scale out, not up</a:t>
            </a:r>
            <a:endParaRPr lang="en-US" sz="1050" dirty="0"/>
          </a:p>
        </p:txBody>
      </p:sp>
      <p:sp>
        <p:nvSpPr>
          <p:cNvPr id="33" name="Leaf stub"/>
          <p:cNvSpPr/>
          <p:nvPr/>
        </p:nvSpPr>
        <p:spPr>
          <a:xfrm>
            <a:off x="2103120" y="3255264"/>
            <a:ext cx="73152" cy="0"/>
          </a:xfrm>
          <a:prstGeom prst="line">
            <a:avLst/>
          </a:prstGeom>
          <a:noFill/>
          <a:ln w="12700">
            <a:solidFill>
              <a:schemeClr val="accent1"/>
            </a:solidFill>
            <a:prstDash val="solid"/>
          </a:ln>
        </p:spPr>
      </p:sp>
      <p:sp>
        <p:nvSpPr>
          <p:cNvPr id="34" name="Leaf: Growth · 4 to 1000s nodes"/>
          <p:cNvSpPr txBox="1"/>
          <p:nvPr/>
        </p:nvSpPr>
        <p:spPr>
          <a:xfrm>
            <a:off x="228600" y="3145536"/>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Growth · 4 to 1000s nodes</a:t>
            </a:r>
            <a:endParaRPr lang="en-US" sz="1050" dirty="0"/>
          </a:p>
        </p:txBody>
      </p:sp>
      <p:sp>
        <p:nvSpPr>
          <p:cNvPr id="35" name="Branch: SQL LIMITS"/>
          <p:cNvSpPr txBox="1"/>
          <p:nvPr/>
        </p:nvSpPr>
        <p:spPr>
          <a:xfrm>
            <a:off x="2286000" y="2587752"/>
            <a:ext cx="1188720" cy="310896"/>
          </a:xfrm>
          <a:prstGeom prst="roundRect">
            <a:avLst>
              <a:gd name="adj" fmla="val 50000"/>
            </a:avLst>
          </a:prstGeom>
          <a:solidFill>
            <a:schemeClr val="accent1"/>
          </a:solidFill>
          <a:ln w="12700">
            <a:solidFill>
              <a:schemeClr val="accent1"/>
            </a:solidFill>
          </a:ln>
        </p:spPr>
        <p:txBody>
          <a:bodyPr wrap="square" lIns="25400" tIns="12700" rIns="25400" bIns="12700" rtlCol="0" anchor="ctr"/>
          <a:lstStyle/>
          <a:p>
            <a:pPr algn="ctr" indent="0" marL="0">
              <a:buNone/>
            </a:pPr>
            <a:r>
              <a:rPr lang="en-US" sz="1050" b="1" spc="50" kern="0" dirty="0">
                <a:solidFill>
                  <a:schemeClr val="bg1"/>
                </a:solidFill>
              </a:rPr>
              <a:t>SQL LIMITS</a:t>
            </a:r>
            <a:endParaRPr lang="en-US" sz="1050" dirty="0"/>
          </a:p>
        </p:txBody>
      </p:sp>
      <p:sp>
        <p:nvSpPr>
          <p:cNvPr id="36" name="HDFS bar"/>
          <p:cNvSpPr/>
          <p:nvPr/>
        </p:nvSpPr>
        <p:spPr>
          <a:xfrm>
            <a:off x="2176272" y="3648456"/>
            <a:ext cx="0" cy="1024128"/>
          </a:xfrm>
          <a:prstGeom prst="line">
            <a:avLst/>
          </a:prstGeom>
          <a:noFill/>
          <a:ln w="15875">
            <a:solidFill>
              <a:schemeClr val="accent1"/>
            </a:solidFill>
            <a:prstDash val="solid"/>
          </a:ln>
        </p:spPr>
      </p:sp>
      <p:sp>
        <p:nvSpPr>
          <p:cNvPr id="37" name="HDFS bar link"/>
          <p:cNvSpPr/>
          <p:nvPr/>
        </p:nvSpPr>
        <p:spPr>
          <a:xfrm>
            <a:off x="2176272" y="4160520"/>
            <a:ext cx="109728" cy="0"/>
          </a:xfrm>
          <a:prstGeom prst="line">
            <a:avLst/>
          </a:prstGeom>
          <a:noFill/>
          <a:ln w="15875">
            <a:solidFill>
              <a:schemeClr val="accent1"/>
            </a:solidFill>
            <a:prstDash val="solid"/>
          </a:ln>
        </p:spPr>
      </p:sp>
      <p:sp>
        <p:nvSpPr>
          <p:cNvPr id="38" name="HDFS trunk link"/>
          <p:cNvSpPr/>
          <p:nvPr/>
        </p:nvSpPr>
        <p:spPr>
          <a:xfrm>
            <a:off x="3474720" y="4160520"/>
            <a:ext cx="137160" cy="0"/>
          </a:xfrm>
          <a:prstGeom prst="line">
            <a:avLst/>
          </a:prstGeom>
          <a:noFill/>
          <a:ln w="15875">
            <a:solidFill>
              <a:schemeClr val="accent1"/>
            </a:solidFill>
            <a:prstDash val="solid"/>
          </a:ln>
        </p:spPr>
      </p:sp>
      <p:sp>
        <p:nvSpPr>
          <p:cNvPr id="39" name="Leaf stub"/>
          <p:cNvSpPr/>
          <p:nvPr/>
        </p:nvSpPr>
        <p:spPr>
          <a:xfrm>
            <a:off x="2103120" y="3648456"/>
            <a:ext cx="73152" cy="0"/>
          </a:xfrm>
          <a:prstGeom prst="line">
            <a:avLst/>
          </a:prstGeom>
          <a:noFill/>
          <a:ln w="12700">
            <a:solidFill>
              <a:schemeClr val="accent1"/>
            </a:solidFill>
            <a:prstDash val="solid"/>
          </a:ln>
        </p:spPr>
      </p:sp>
      <p:sp>
        <p:nvSpPr>
          <p:cNvPr id="40" name="Leaf: NameNode · file map"/>
          <p:cNvSpPr txBox="1"/>
          <p:nvPr/>
        </p:nvSpPr>
        <p:spPr>
          <a:xfrm>
            <a:off x="228600" y="3538728"/>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NameNode · file map</a:t>
            </a:r>
            <a:endParaRPr lang="en-US" sz="1050" dirty="0"/>
          </a:p>
        </p:txBody>
      </p:sp>
      <p:sp>
        <p:nvSpPr>
          <p:cNvPr id="41" name="Leaf stub"/>
          <p:cNvSpPr/>
          <p:nvPr/>
        </p:nvSpPr>
        <p:spPr>
          <a:xfrm>
            <a:off x="2103120" y="3904488"/>
            <a:ext cx="73152" cy="0"/>
          </a:xfrm>
          <a:prstGeom prst="line">
            <a:avLst/>
          </a:prstGeom>
          <a:noFill/>
          <a:ln w="12700">
            <a:solidFill>
              <a:schemeClr val="accent1"/>
            </a:solidFill>
            <a:prstDash val="solid"/>
          </a:ln>
        </p:spPr>
      </p:sp>
      <p:sp>
        <p:nvSpPr>
          <p:cNvPr id="42" name="Leaf: DataNodes · 128–256 MB"/>
          <p:cNvSpPr txBox="1"/>
          <p:nvPr/>
        </p:nvSpPr>
        <p:spPr>
          <a:xfrm>
            <a:off x="228600" y="3794760"/>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DataNodes · 128–256 MB</a:t>
            </a:r>
            <a:endParaRPr lang="en-US" sz="1050" dirty="0"/>
          </a:p>
        </p:txBody>
      </p:sp>
      <p:sp>
        <p:nvSpPr>
          <p:cNvPr id="43" name="Leaf stub"/>
          <p:cNvSpPr/>
          <p:nvPr/>
        </p:nvSpPr>
        <p:spPr>
          <a:xfrm>
            <a:off x="2103120" y="4160520"/>
            <a:ext cx="73152" cy="0"/>
          </a:xfrm>
          <a:prstGeom prst="line">
            <a:avLst/>
          </a:prstGeom>
          <a:noFill/>
          <a:ln w="12700">
            <a:solidFill>
              <a:schemeClr val="accent1"/>
            </a:solidFill>
            <a:prstDash val="solid"/>
          </a:ln>
        </p:spPr>
      </p:sp>
      <p:sp>
        <p:nvSpPr>
          <p:cNvPr id="44" name="Leaf: Replication · 3 copies"/>
          <p:cNvSpPr txBox="1"/>
          <p:nvPr/>
        </p:nvSpPr>
        <p:spPr>
          <a:xfrm>
            <a:off x="228600" y="4050792"/>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Replication · 3 copies</a:t>
            </a:r>
            <a:endParaRPr lang="en-US" sz="1050" dirty="0"/>
          </a:p>
        </p:txBody>
      </p:sp>
      <p:sp>
        <p:nvSpPr>
          <p:cNvPr id="45" name="Leaf stub"/>
          <p:cNvSpPr/>
          <p:nvPr/>
        </p:nvSpPr>
        <p:spPr>
          <a:xfrm>
            <a:off x="2103120" y="4416552"/>
            <a:ext cx="73152" cy="0"/>
          </a:xfrm>
          <a:prstGeom prst="line">
            <a:avLst/>
          </a:prstGeom>
          <a:noFill/>
          <a:ln w="12700">
            <a:solidFill>
              <a:schemeClr val="accent1"/>
            </a:solidFill>
            <a:prstDash val="solid"/>
          </a:ln>
        </p:spPr>
      </p:sp>
      <p:sp>
        <p:nvSpPr>
          <p:cNvPr id="46" name="Leaf: ARCHIVE tier · 4× cheaper"/>
          <p:cNvSpPr txBox="1"/>
          <p:nvPr/>
        </p:nvSpPr>
        <p:spPr>
          <a:xfrm>
            <a:off x="228600" y="4306824"/>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ARCHIVE tier · 4× cheaper</a:t>
            </a:r>
            <a:endParaRPr lang="en-US" sz="1050" dirty="0"/>
          </a:p>
        </p:txBody>
      </p:sp>
      <p:sp>
        <p:nvSpPr>
          <p:cNvPr id="47" name="Leaf stub"/>
          <p:cNvSpPr/>
          <p:nvPr/>
        </p:nvSpPr>
        <p:spPr>
          <a:xfrm>
            <a:off x="2103120" y="4672584"/>
            <a:ext cx="73152" cy="0"/>
          </a:xfrm>
          <a:prstGeom prst="line">
            <a:avLst/>
          </a:prstGeom>
          <a:noFill/>
          <a:ln w="12700">
            <a:solidFill>
              <a:schemeClr val="accent1"/>
            </a:solidFill>
            <a:prstDash val="solid"/>
          </a:ln>
        </p:spPr>
      </p:sp>
      <p:sp>
        <p:nvSpPr>
          <p:cNvPr id="48" name="Leaf: Scale · hundreds of PB"/>
          <p:cNvSpPr txBox="1"/>
          <p:nvPr/>
        </p:nvSpPr>
        <p:spPr>
          <a:xfrm>
            <a:off x="228600" y="4562856"/>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Scale · hundreds of PB</a:t>
            </a:r>
            <a:endParaRPr lang="en-US" sz="1050" dirty="0"/>
          </a:p>
        </p:txBody>
      </p:sp>
      <p:sp>
        <p:nvSpPr>
          <p:cNvPr id="49" name="Branch: HDFS"/>
          <p:cNvSpPr txBox="1"/>
          <p:nvPr/>
        </p:nvSpPr>
        <p:spPr>
          <a:xfrm>
            <a:off x="2286000" y="4005072"/>
            <a:ext cx="1188720" cy="310896"/>
          </a:xfrm>
          <a:prstGeom prst="roundRect">
            <a:avLst>
              <a:gd name="adj" fmla="val 50000"/>
            </a:avLst>
          </a:prstGeom>
          <a:solidFill>
            <a:schemeClr val="accent1"/>
          </a:solidFill>
          <a:ln w="12700">
            <a:solidFill>
              <a:schemeClr val="accent1"/>
            </a:solidFill>
          </a:ln>
        </p:spPr>
        <p:txBody>
          <a:bodyPr wrap="square" lIns="25400" tIns="12700" rIns="25400" bIns="12700" rtlCol="0" anchor="ctr"/>
          <a:lstStyle/>
          <a:p>
            <a:pPr algn="ctr" indent="0" marL="0">
              <a:buNone/>
            </a:pPr>
            <a:r>
              <a:rPr lang="en-US" sz="1050" b="1" spc="50" kern="0" dirty="0">
                <a:solidFill>
                  <a:schemeClr val="bg1"/>
                </a:solidFill>
              </a:rPr>
              <a:t>HDFS</a:t>
            </a:r>
            <a:endParaRPr lang="en-US" sz="1050" dirty="0"/>
          </a:p>
        </p:txBody>
      </p:sp>
      <p:sp>
        <p:nvSpPr>
          <p:cNvPr id="50" name="NOSQL bar"/>
          <p:cNvSpPr/>
          <p:nvPr/>
        </p:nvSpPr>
        <p:spPr>
          <a:xfrm>
            <a:off x="6967728" y="813816"/>
            <a:ext cx="0" cy="1024128"/>
          </a:xfrm>
          <a:prstGeom prst="line">
            <a:avLst/>
          </a:prstGeom>
          <a:noFill/>
          <a:ln w="15875">
            <a:solidFill>
              <a:schemeClr val="accent1"/>
            </a:solidFill>
            <a:prstDash val="solid"/>
          </a:ln>
        </p:spPr>
      </p:sp>
      <p:sp>
        <p:nvSpPr>
          <p:cNvPr id="51" name="NOSQL bar link"/>
          <p:cNvSpPr/>
          <p:nvPr/>
        </p:nvSpPr>
        <p:spPr>
          <a:xfrm>
            <a:off x="6858000" y="1325880"/>
            <a:ext cx="109728" cy="0"/>
          </a:xfrm>
          <a:prstGeom prst="line">
            <a:avLst/>
          </a:prstGeom>
          <a:noFill/>
          <a:ln w="15875">
            <a:solidFill>
              <a:schemeClr val="accent1"/>
            </a:solidFill>
            <a:prstDash val="solid"/>
          </a:ln>
        </p:spPr>
      </p:sp>
      <p:sp>
        <p:nvSpPr>
          <p:cNvPr id="52" name="NOSQL trunk link"/>
          <p:cNvSpPr/>
          <p:nvPr/>
        </p:nvSpPr>
        <p:spPr>
          <a:xfrm>
            <a:off x="5532120" y="1325880"/>
            <a:ext cx="137160" cy="0"/>
          </a:xfrm>
          <a:prstGeom prst="line">
            <a:avLst/>
          </a:prstGeom>
          <a:noFill/>
          <a:ln w="15875">
            <a:solidFill>
              <a:schemeClr val="accent1"/>
            </a:solidFill>
            <a:prstDash val="solid"/>
          </a:ln>
        </p:spPr>
      </p:sp>
      <p:sp>
        <p:nvSpPr>
          <p:cNvPr id="53" name="Leaf stub"/>
          <p:cNvSpPr/>
          <p:nvPr/>
        </p:nvSpPr>
        <p:spPr>
          <a:xfrm>
            <a:off x="6967728" y="813816"/>
            <a:ext cx="73152" cy="0"/>
          </a:xfrm>
          <a:prstGeom prst="line">
            <a:avLst/>
          </a:prstGeom>
          <a:noFill/>
          <a:ln w="12700">
            <a:solidFill>
              <a:schemeClr val="accent1"/>
            </a:solidFill>
            <a:prstDash val="solid"/>
          </a:ln>
        </p:spPr>
      </p:sp>
      <p:sp>
        <p:nvSpPr>
          <p:cNvPr id="54" name="Leaf: HBase · Cassini, Kylin"/>
          <p:cNvSpPr txBox="1"/>
          <p:nvPr/>
        </p:nvSpPr>
        <p:spPr>
          <a:xfrm>
            <a:off x="7040880" y="704088"/>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HBase · Cassini, Kylin</a:t>
            </a:r>
            <a:endParaRPr lang="en-US" sz="1050" dirty="0"/>
          </a:p>
        </p:txBody>
      </p:sp>
      <p:sp>
        <p:nvSpPr>
          <p:cNvPr id="55" name="Leaf stub"/>
          <p:cNvSpPr/>
          <p:nvPr/>
        </p:nvSpPr>
        <p:spPr>
          <a:xfrm>
            <a:off x="6967728" y="1069848"/>
            <a:ext cx="73152" cy="0"/>
          </a:xfrm>
          <a:prstGeom prst="line">
            <a:avLst/>
          </a:prstGeom>
          <a:noFill/>
          <a:ln w="12700">
            <a:solidFill>
              <a:schemeClr val="accent1"/>
            </a:solidFill>
            <a:prstDash val="solid"/>
          </a:ln>
        </p:spPr>
      </p:sp>
      <p:sp>
        <p:nvSpPr>
          <p:cNvPr id="56" name="Leaf: Cassandra · fraud, orders"/>
          <p:cNvSpPr txBox="1"/>
          <p:nvPr/>
        </p:nvSpPr>
        <p:spPr>
          <a:xfrm>
            <a:off x="7040880" y="960120"/>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Cassandra · fraud, orders</a:t>
            </a:r>
            <a:endParaRPr lang="en-US" sz="1050" dirty="0"/>
          </a:p>
        </p:txBody>
      </p:sp>
      <p:sp>
        <p:nvSpPr>
          <p:cNvPr id="57" name="Leaf stub"/>
          <p:cNvSpPr/>
          <p:nvPr/>
        </p:nvSpPr>
        <p:spPr>
          <a:xfrm>
            <a:off x="6967728" y="1325880"/>
            <a:ext cx="73152" cy="0"/>
          </a:xfrm>
          <a:prstGeom prst="line">
            <a:avLst/>
          </a:prstGeom>
          <a:noFill/>
          <a:ln w="12700">
            <a:solidFill>
              <a:schemeClr val="accent1"/>
            </a:solidFill>
            <a:prstDash val="solid"/>
          </a:ln>
        </p:spPr>
      </p:sp>
      <p:sp>
        <p:nvSpPr>
          <p:cNvPr id="58" name="Leaf: Cassandra · 400M+ writes"/>
          <p:cNvSpPr txBox="1"/>
          <p:nvPr/>
        </p:nvSpPr>
        <p:spPr>
          <a:xfrm>
            <a:off x="7040880" y="1216152"/>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Cassandra · 400M+ writes</a:t>
            </a:r>
            <a:endParaRPr lang="en-US" sz="1050" dirty="0"/>
          </a:p>
        </p:txBody>
      </p:sp>
      <p:sp>
        <p:nvSpPr>
          <p:cNvPr id="59" name="Leaf stub"/>
          <p:cNvSpPr/>
          <p:nvPr/>
        </p:nvSpPr>
        <p:spPr>
          <a:xfrm>
            <a:off x="6967728" y="1581912"/>
            <a:ext cx="73152" cy="0"/>
          </a:xfrm>
          <a:prstGeom prst="line">
            <a:avLst/>
          </a:prstGeom>
          <a:noFill/>
          <a:ln w="12700">
            <a:solidFill>
              <a:schemeClr val="accent1"/>
            </a:solidFill>
            <a:prstDash val="solid"/>
          </a:ln>
        </p:spPr>
      </p:sp>
      <p:sp>
        <p:nvSpPr>
          <p:cNvPr id="60" name="Leaf: MongoDB · product data"/>
          <p:cNvSpPr txBox="1"/>
          <p:nvPr/>
        </p:nvSpPr>
        <p:spPr>
          <a:xfrm>
            <a:off x="7040880" y="1472184"/>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MongoDB · product data</a:t>
            </a:r>
            <a:endParaRPr lang="en-US" sz="1050" dirty="0"/>
          </a:p>
        </p:txBody>
      </p:sp>
      <p:sp>
        <p:nvSpPr>
          <p:cNvPr id="61" name="Leaf stub"/>
          <p:cNvSpPr/>
          <p:nvPr/>
        </p:nvSpPr>
        <p:spPr>
          <a:xfrm>
            <a:off x="6967728" y="1837944"/>
            <a:ext cx="73152" cy="0"/>
          </a:xfrm>
          <a:prstGeom prst="line">
            <a:avLst/>
          </a:prstGeom>
          <a:noFill/>
          <a:ln w="12700">
            <a:solidFill>
              <a:schemeClr val="accent1"/>
            </a:solidFill>
            <a:prstDash val="solid"/>
          </a:ln>
        </p:spPr>
      </p:sp>
      <p:sp>
        <p:nvSpPr>
          <p:cNvPr id="62" name="Leaf: Pick · HBase on HDFS"/>
          <p:cNvSpPr txBox="1"/>
          <p:nvPr/>
        </p:nvSpPr>
        <p:spPr>
          <a:xfrm>
            <a:off x="7040880" y="1728216"/>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Pick · HBase on HDFS</a:t>
            </a:r>
            <a:endParaRPr lang="en-US" sz="1050" dirty="0"/>
          </a:p>
        </p:txBody>
      </p:sp>
      <p:sp>
        <p:nvSpPr>
          <p:cNvPr id="63" name="Branch: NOSQL"/>
          <p:cNvSpPr txBox="1"/>
          <p:nvPr/>
        </p:nvSpPr>
        <p:spPr>
          <a:xfrm>
            <a:off x="5669280" y="1170432"/>
            <a:ext cx="1188720" cy="310896"/>
          </a:xfrm>
          <a:prstGeom prst="roundRect">
            <a:avLst>
              <a:gd name="adj" fmla="val 50000"/>
            </a:avLst>
          </a:prstGeom>
          <a:solidFill>
            <a:schemeClr val="accent1"/>
          </a:solidFill>
          <a:ln w="12700">
            <a:solidFill>
              <a:schemeClr val="accent1"/>
            </a:solidFill>
          </a:ln>
        </p:spPr>
        <p:txBody>
          <a:bodyPr wrap="square" lIns="25400" tIns="12700" rIns="25400" bIns="12700" rtlCol="0" anchor="ctr"/>
          <a:lstStyle/>
          <a:p>
            <a:pPr algn="ctr" indent="0" marL="0">
              <a:buNone/>
            </a:pPr>
            <a:r>
              <a:rPr lang="en-US" sz="1050" b="1" spc="50" kern="0" dirty="0">
                <a:solidFill>
                  <a:schemeClr val="bg1"/>
                </a:solidFill>
              </a:rPr>
              <a:t>NOSQL</a:t>
            </a:r>
            <a:endParaRPr lang="en-US" sz="1050" dirty="0"/>
          </a:p>
        </p:txBody>
      </p:sp>
      <p:sp>
        <p:nvSpPr>
          <p:cNvPr id="64" name="MAPREDUCE bar"/>
          <p:cNvSpPr/>
          <p:nvPr/>
        </p:nvSpPr>
        <p:spPr>
          <a:xfrm>
            <a:off x="6967728" y="2231136"/>
            <a:ext cx="0" cy="1024128"/>
          </a:xfrm>
          <a:prstGeom prst="line">
            <a:avLst/>
          </a:prstGeom>
          <a:noFill/>
          <a:ln w="15875">
            <a:solidFill>
              <a:schemeClr val="accent1"/>
            </a:solidFill>
            <a:prstDash val="solid"/>
          </a:ln>
        </p:spPr>
      </p:sp>
      <p:sp>
        <p:nvSpPr>
          <p:cNvPr id="65" name="MAPREDUCE bar link"/>
          <p:cNvSpPr/>
          <p:nvPr/>
        </p:nvSpPr>
        <p:spPr>
          <a:xfrm>
            <a:off x="6858000" y="2743200"/>
            <a:ext cx="109728" cy="0"/>
          </a:xfrm>
          <a:prstGeom prst="line">
            <a:avLst/>
          </a:prstGeom>
          <a:noFill/>
          <a:ln w="15875">
            <a:solidFill>
              <a:schemeClr val="accent1"/>
            </a:solidFill>
            <a:prstDash val="solid"/>
          </a:ln>
        </p:spPr>
      </p:sp>
      <p:sp>
        <p:nvSpPr>
          <p:cNvPr id="66" name="MAPREDUCE trunk link"/>
          <p:cNvSpPr/>
          <p:nvPr/>
        </p:nvSpPr>
        <p:spPr>
          <a:xfrm>
            <a:off x="5532120" y="2743200"/>
            <a:ext cx="137160" cy="0"/>
          </a:xfrm>
          <a:prstGeom prst="line">
            <a:avLst/>
          </a:prstGeom>
          <a:noFill/>
          <a:ln w="15875">
            <a:solidFill>
              <a:schemeClr val="accent1"/>
            </a:solidFill>
            <a:prstDash val="solid"/>
          </a:ln>
        </p:spPr>
      </p:sp>
      <p:sp>
        <p:nvSpPr>
          <p:cNvPr id="67" name="Leaf stub"/>
          <p:cNvSpPr/>
          <p:nvPr/>
        </p:nvSpPr>
        <p:spPr>
          <a:xfrm>
            <a:off x="6967728" y="2231136"/>
            <a:ext cx="73152" cy="0"/>
          </a:xfrm>
          <a:prstGeom prst="line">
            <a:avLst/>
          </a:prstGeom>
          <a:noFill/>
          <a:ln w="12700">
            <a:solidFill>
              <a:schemeClr val="accent1"/>
            </a:solidFill>
            <a:prstDash val="solid"/>
          </a:ln>
        </p:spPr>
      </p:sp>
      <p:sp>
        <p:nvSpPr>
          <p:cNvPr id="68" name="Leaf: Map · split the work"/>
          <p:cNvSpPr txBox="1"/>
          <p:nvPr/>
        </p:nvSpPr>
        <p:spPr>
          <a:xfrm>
            <a:off x="7040880" y="2121408"/>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Map · split the work</a:t>
            </a:r>
            <a:endParaRPr lang="en-US" sz="1050" dirty="0"/>
          </a:p>
        </p:txBody>
      </p:sp>
      <p:sp>
        <p:nvSpPr>
          <p:cNvPr id="69" name="Leaf stub"/>
          <p:cNvSpPr/>
          <p:nvPr/>
        </p:nvSpPr>
        <p:spPr>
          <a:xfrm>
            <a:off x="6967728" y="2487168"/>
            <a:ext cx="73152" cy="0"/>
          </a:xfrm>
          <a:prstGeom prst="line">
            <a:avLst/>
          </a:prstGeom>
          <a:noFill/>
          <a:ln w="12700">
            <a:solidFill>
              <a:schemeClr val="accent1"/>
            </a:solidFill>
            <a:prstDash val="solid"/>
          </a:ln>
        </p:spPr>
      </p:sp>
      <p:sp>
        <p:nvSpPr>
          <p:cNvPr id="70" name="Leaf: Reduce · combine results"/>
          <p:cNvSpPr txBox="1"/>
          <p:nvPr/>
        </p:nvSpPr>
        <p:spPr>
          <a:xfrm>
            <a:off x="7040880" y="2377440"/>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Reduce · combine results</a:t>
            </a:r>
            <a:endParaRPr lang="en-US" sz="1050" dirty="0"/>
          </a:p>
        </p:txBody>
      </p:sp>
      <p:sp>
        <p:nvSpPr>
          <p:cNvPr id="71" name="Leaf stub"/>
          <p:cNvSpPr/>
          <p:nvPr/>
        </p:nvSpPr>
        <p:spPr>
          <a:xfrm>
            <a:off x="6967728" y="2743200"/>
            <a:ext cx="73152" cy="0"/>
          </a:xfrm>
          <a:prstGeom prst="line">
            <a:avLst/>
          </a:prstGeom>
          <a:noFill/>
          <a:ln w="12700">
            <a:solidFill>
              <a:schemeClr val="accent1"/>
            </a:solidFill>
            <a:prstDash val="solid"/>
          </a:ln>
        </p:spPr>
      </p:sp>
      <p:sp>
        <p:nvSpPr>
          <p:cNvPr id="72" name="Leaf: Cassini index builds"/>
          <p:cNvSpPr txBox="1"/>
          <p:nvPr/>
        </p:nvSpPr>
        <p:spPr>
          <a:xfrm>
            <a:off x="7040880" y="2633472"/>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Cassini index builds</a:t>
            </a:r>
            <a:endParaRPr lang="en-US" sz="1050" dirty="0"/>
          </a:p>
        </p:txBody>
      </p:sp>
      <p:sp>
        <p:nvSpPr>
          <p:cNvPr id="73" name="Leaf stub"/>
          <p:cNvSpPr/>
          <p:nvPr/>
        </p:nvSpPr>
        <p:spPr>
          <a:xfrm>
            <a:off x="6967728" y="2999232"/>
            <a:ext cx="73152" cy="0"/>
          </a:xfrm>
          <a:prstGeom prst="line">
            <a:avLst/>
          </a:prstGeom>
          <a:noFill/>
          <a:ln w="12700">
            <a:solidFill>
              <a:schemeClr val="accent1"/>
            </a:solidFill>
            <a:prstDash val="solid"/>
          </a:ln>
        </p:spPr>
      </p:sp>
      <p:sp>
        <p:nvSpPr>
          <p:cNvPr id="74" name="Leaf: Recommendation jobs"/>
          <p:cNvSpPr txBox="1"/>
          <p:nvPr/>
        </p:nvSpPr>
        <p:spPr>
          <a:xfrm>
            <a:off x="7040880" y="2889504"/>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Recommendation jobs</a:t>
            </a:r>
            <a:endParaRPr lang="en-US" sz="1050" dirty="0"/>
          </a:p>
        </p:txBody>
      </p:sp>
      <p:sp>
        <p:nvSpPr>
          <p:cNvPr id="75" name="Leaf stub"/>
          <p:cNvSpPr/>
          <p:nvPr/>
        </p:nvSpPr>
        <p:spPr>
          <a:xfrm>
            <a:off x="6967728" y="3255264"/>
            <a:ext cx="73152" cy="0"/>
          </a:xfrm>
          <a:prstGeom prst="line">
            <a:avLst/>
          </a:prstGeom>
          <a:noFill/>
          <a:ln w="12700">
            <a:solidFill>
              <a:schemeClr val="accent1"/>
            </a:solidFill>
            <a:prstDash val="solid"/>
          </a:ln>
        </p:spPr>
      </p:sp>
      <p:sp>
        <p:nvSpPr>
          <p:cNvPr id="76" name="Leaf: Clicks + orders joins"/>
          <p:cNvSpPr txBox="1"/>
          <p:nvPr/>
        </p:nvSpPr>
        <p:spPr>
          <a:xfrm>
            <a:off x="7040880" y="3145536"/>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Clicks + orders joins</a:t>
            </a:r>
            <a:endParaRPr lang="en-US" sz="1050" dirty="0"/>
          </a:p>
        </p:txBody>
      </p:sp>
      <p:sp>
        <p:nvSpPr>
          <p:cNvPr id="77" name="Branch: MAPREDUCE"/>
          <p:cNvSpPr txBox="1"/>
          <p:nvPr/>
        </p:nvSpPr>
        <p:spPr>
          <a:xfrm>
            <a:off x="5669280" y="2587752"/>
            <a:ext cx="1188720" cy="310896"/>
          </a:xfrm>
          <a:prstGeom prst="roundRect">
            <a:avLst>
              <a:gd name="adj" fmla="val 50000"/>
            </a:avLst>
          </a:prstGeom>
          <a:solidFill>
            <a:schemeClr val="accent1"/>
          </a:solidFill>
          <a:ln w="12700">
            <a:solidFill>
              <a:schemeClr val="accent1"/>
            </a:solidFill>
          </a:ln>
        </p:spPr>
        <p:txBody>
          <a:bodyPr wrap="square" lIns="25400" tIns="12700" rIns="25400" bIns="12700" rtlCol="0" anchor="ctr"/>
          <a:lstStyle/>
          <a:p>
            <a:pPr algn="ctr" indent="0" marL="0">
              <a:buNone/>
            </a:pPr>
            <a:r>
              <a:rPr lang="en-US" sz="1050" b="1" spc="50" kern="0" dirty="0">
                <a:solidFill>
                  <a:schemeClr val="bg1"/>
                </a:solidFill>
              </a:rPr>
              <a:t>MAPREDUCE</a:t>
            </a:r>
            <a:endParaRPr lang="en-US" sz="1050" dirty="0"/>
          </a:p>
        </p:txBody>
      </p:sp>
      <p:sp>
        <p:nvSpPr>
          <p:cNvPr id="78" name="YARN bar"/>
          <p:cNvSpPr/>
          <p:nvPr/>
        </p:nvSpPr>
        <p:spPr>
          <a:xfrm>
            <a:off x="6967728" y="3648456"/>
            <a:ext cx="0" cy="1024128"/>
          </a:xfrm>
          <a:prstGeom prst="line">
            <a:avLst/>
          </a:prstGeom>
          <a:noFill/>
          <a:ln w="15875">
            <a:solidFill>
              <a:schemeClr val="accent1"/>
            </a:solidFill>
            <a:prstDash val="solid"/>
          </a:ln>
        </p:spPr>
      </p:sp>
      <p:sp>
        <p:nvSpPr>
          <p:cNvPr id="79" name="YARN bar link"/>
          <p:cNvSpPr/>
          <p:nvPr/>
        </p:nvSpPr>
        <p:spPr>
          <a:xfrm>
            <a:off x="6858000" y="4160520"/>
            <a:ext cx="109728" cy="0"/>
          </a:xfrm>
          <a:prstGeom prst="line">
            <a:avLst/>
          </a:prstGeom>
          <a:noFill/>
          <a:ln w="15875">
            <a:solidFill>
              <a:schemeClr val="accent1"/>
            </a:solidFill>
            <a:prstDash val="solid"/>
          </a:ln>
        </p:spPr>
      </p:sp>
      <p:sp>
        <p:nvSpPr>
          <p:cNvPr id="80" name="YARN trunk link"/>
          <p:cNvSpPr/>
          <p:nvPr/>
        </p:nvSpPr>
        <p:spPr>
          <a:xfrm>
            <a:off x="5532120" y="4160520"/>
            <a:ext cx="137160" cy="0"/>
          </a:xfrm>
          <a:prstGeom prst="line">
            <a:avLst/>
          </a:prstGeom>
          <a:noFill/>
          <a:ln w="15875">
            <a:solidFill>
              <a:schemeClr val="accent1"/>
            </a:solidFill>
            <a:prstDash val="solid"/>
          </a:ln>
        </p:spPr>
      </p:sp>
      <p:sp>
        <p:nvSpPr>
          <p:cNvPr id="81" name="Leaf stub"/>
          <p:cNvSpPr/>
          <p:nvPr/>
        </p:nvSpPr>
        <p:spPr>
          <a:xfrm>
            <a:off x="6967728" y="3648456"/>
            <a:ext cx="73152" cy="0"/>
          </a:xfrm>
          <a:prstGeom prst="line">
            <a:avLst/>
          </a:prstGeom>
          <a:noFill/>
          <a:ln w="12700">
            <a:solidFill>
              <a:schemeClr val="accent1"/>
            </a:solidFill>
            <a:prstDash val="solid"/>
          </a:ln>
        </p:spPr>
      </p:sp>
      <p:sp>
        <p:nvSpPr>
          <p:cNvPr id="82" name="Leaf: Resource Manager"/>
          <p:cNvSpPr txBox="1"/>
          <p:nvPr/>
        </p:nvSpPr>
        <p:spPr>
          <a:xfrm>
            <a:off x="7040880" y="3538728"/>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Resource Manager</a:t>
            </a:r>
            <a:endParaRPr lang="en-US" sz="1050" dirty="0"/>
          </a:p>
        </p:txBody>
      </p:sp>
      <p:sp>
        <p:nvSpPr>
          <p:cNvPr id="83" name="Leaf stub"/>
          <p:cNvSpPr/>
          <p:nvPr/>
        </p:nvSpPr>
        <p:spPr>
          <a:xfrm>
            <a:off x="6967728" y="3904488"/>
            <a:ext cx="73152" cy="0"/>
          </a:xfrm>
          <a:prstGeom prst="line">
            <a:avLst/>
          </a:prstGeom>
          <a:noFill/>
          <a:ln w="12700">
            <a:solidFill>
              <a:schemeClr val="accent1"/>
            </a:solidFill>
            <a:prstDash val="solid"/>
          </a:ln>
        </p:spPr>
      </p:sp>
      <p:sp>
        <p:nvSpPr>
          <p:cNvPr id="84" name="Leaf: Node Managers"/>
          <p:cNvSpPr txBox="1"/>
          <p:nvPr/>
        </p:nvSpPr>
        <p:spPr>
          <a:xfrm>
            <a:off x="7040880" y="3794760"/>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Node Managers</a:t>
            </a:r>
            <a:endParaRPr lang="en-US" sz="1050" dirty="0"/>
          </a:p>
        </p:txBody>
      </p:sp>
      <p:sp>
        <p:nvSpPr>
          <p:cNvPr id="85" name="Leaf stub"/>
          <p:cNvSpPr/>
          <p:nvPr/>
        </p:nvSpPr>
        <p:spPr>
          <a:xfrm>
            <a:off x="6967728" y="4160520"/>
            <a:ext cx="73152" cy="0"/>
          </a:xfrm>
          <a:prstGeom prst="line">
            <a:avLst/>
          </a:prstGeom>
          <a:noFill/>
          <a:ln w="12700">
            <a:solidFill>
              <a:schemeClr val="accent1"/>
            </a:solidFill>
            <a:prstDash val="solid"/>
          </a:ln>
        </p:spPr>
      </p:sp>
      <p:sp>
        <p:nvSpPr>
          <p:cNvPr id="86" name="Leaf: Hadoop 2 · since 2014"/>
          <p:cNvSpPr txBox="1"/>
          <p:nvPr/>
        </p:nvSpPr>
        <p:spPr>
          <a:xfrm>
            <a:off x="7040880" y="4050792"/>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Hadoop 2 · since 2014</a:t>
            </a:r>
            <a:endParaRPr lang="en-US" sz="1050" dirty="0"/>
          </a:p>
        </p:txBody>
      </p:sp>
      <p:sp>
        <p:nvSpPr>
          <p:cNvPr id="87" name="Leaf stub"/>
          <p:cNvSpPr/>
          <p:nvPr/>
        </p:nvSpPr>
        <p:spPr>
          <a:xfrm>
            <a:off x="6967728" y="4416552"/>
            <a:ext cx="73152" cy="0"/>
          </a:xfrm>
          <a:prstGeom prst="line">
            <a:avLst/>
          </a:prstGeom>
          <a:noFill/>
          <a:ln w="12700">
            <a:solidFill>
              <a:schemeClr val="accent1"/>
            </a:solidFill>
            <a:prstDash val="solid"/>
          </a:ln>
        </p:spPr>
      </p:sp>
      <p:sp>
        <p:nvSpPr>
          <p:cNvPr id="88" name="Leaf: Runs Hive, Pig, Spark"/>
          <p:cNvSpPr txBox="1"/>
          <p:nvPr/>
        </p:nvSpPr>
        <p:spPr>
          <a:xfrm>
            <a:off x="7040880" y="4306824"/>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Runs Hive, Pig, Spark</a:t>
            </a:r>
            <a:endParaRPr lang="en-US" sz="1050" dirty="0"/>
          </a:p>
        </p:txBody>
      </p:sp>
      <p:sp>
        <p:nvSpPr>
          <p:cNvPr id="89" name="Leaf stub"/>
          <p:cNvSpPr/>
          <p:nvPr/>
        </p:nvSpPr>
        <p:spPr>
          <a:xfrm>
            <a:off x="6967728" y="4672584"/>
            <a:ext cx="73152" cy="0"/>
          </a:xfrm>
          <a:prstGeom prst="line">
            <a:avLst/>
          </a:prstGeom>
          <a:noFill/>
          <a:ln w="12700">
            <a:solidFill>
              <a:schemeClr val="accent1"/>
            </a:solidFill>
            <a:prstDash val="solid"/>
          </a:ln>
        </p:spPr>
      </p:sp>
      <p:sp>
        <p:nvSpPr>
          <p:cNvPr id="90" name="Leaf: Hive · SQL on Hadoop"/>
          <p:cNvSpPr txBox="1"/>
          <p:nvPr/>
        </p:nvSpPr>
        <p:spPr>
          <a:xfrm>
            <a:off x="7040880" y="4562856"/>
            <a:ext cx="1874520" cy="219456"/>
          </a:xfrm>
          <a:prstGeom prst="roundRect">
            <a:avLst>
              <a:gd name="adj" fmla="val 25000"/>
            </a:avLst>
          </a:prstGeom>
          <a:solidFill>
            <a:schemeClr val="bg2"/>
          </a:solidFill>
          <a:ln w="9525">
            <a:solidFill>
              <a:schemeClr val="accent1"/>
            </a:solidFill>
          </a:ln>
        </p:spPr>
        <p:txBody>
          <a:bodyPr wrap="square" lIns="76200" tIns="12700" rIns="38100" bIns="12700" rtlCol="0" anchor="ctr"/>
          <a:lstStyle/>
          <a:p>
            <a:pPr algn="l" indent="0" marL="0">
              <a:buNone/>
            </a:pPr>
            <a:r>
              <a:rPr lang="en-US" sz="1050" dirty="0">
                <a:solidFill>
                  <a:schemeClr val="tx1"/>
                </a:solidFill>
              </a:rPr>
              <a:t>Hive · SQL on Hadoop</a:t>
            </a:r>
            <a:endParaRPr lang="en-US" sz="1050" dirty="0"/>
          </a:p>
        </p:txBody>
      </p:sp>
      <p:sp>
        <p:nvSpPr>
          <p:cNvPr id="91" name="Branch: YARN"/>
          <p:cNvSpPr txBox="1"/>
          <p:nvPr/>
        </p:nvSpPr>
        <p:spPr>
          <a:xfrm>
            <a:off x="5669280" y="4005072"/>
            <a:ext cx="1188720" cy="310896"/>
          </a:xfrm>
          <a:prstGeom prst="roundRect">
            <a:avLst>
              <a:gd name="adj" fmla="val 50000"/>
            </a:avLst>
          </a:prstGeom>
          <a:solidFill>
            <a:schemeClr val="accent1"/>
          </a:solidFill>
          <a:ln w="12700">
            <a:solidFill>
              <a:schemeClr val="accent1"/>
            </a:solidFill>
          </a:ln>
        </p:spPr>
        <p:txBody>
          <a:bodyPr wrap="square" lIns="25400" tIns="12700" rIns="25400" bIns="12700" rtlCol="0" anchor="ctr"/>
          <a:lstStyle/>
          <a:p>
            <a:pPr algn="ctr" indent="0" marL="0">
              <a:buNone/>
            </a:pPr>
            <a:r>
              <a:rPr lang="en-US" sz="1050" b="1" spc="50" kern="0" dirty="0">
                <a:solidFill>
                  <a:schemeClr val="bg1"/>
                </a:solidFill>
              </a:rPr>
              <a:t>YARN</a:t>
            </a:r>
            <a:endParaRPr lang="en-US" sz="1050" dirty="0"/>
          </a:p>
        </p:txBody>
      </p:sp>
      <p:sp>
        <p:nvSpPr>
          <p:cNvPr id="92" name="Flow outgrew"/>
          <p:cNvSpPr/>
          <p:nvPr/>
        </p:nvSpPr>
        <p:spPr>
          <a:xfrm>
            <a:off x="2880360" y="1499616"/>
            <a:ext cx="0" cy="1069848"/>
          </a:xfrm>
          <a:prstGeom prst="line">
            <a:avLst/>
          </a:prstGeom>
          <a:noFill/>
          <a:ln w="19050">
            <a:solidFill>
              <a:schemeClr val="accent2"/>
            </a:solidFill>
            <a:prstDash val="dash"/>
            <a:tailEnd type="triangle"/>
          </a:ln>
        </p:spPr>
      </p:sp>
      <p:sp>
        <p:nvSpPr>
          <p:cNvPr id="93" name="Flow label outgrew"/>
          <p:cNvSpPr txBox="1"/>
          <p:nvPr/>
        </p:nvSpPr>
        <p:spPr>
          <a:xfrm>
            <a:off x="2944368" y="1943100"/>
            <a:ext cx="685800" cy="182880"/>
          </a:xfrm>
          <a:prstGeom prst="rect">
            <a:avLst/>
          </a:prstGeom>
          <a:noFill/>
          <a:ln/>
        </p:spPr>
        <p:txBody>
          <a:bodyPr wrap="square" lIns="0" tIns="0" rIns="0" bIns="0" rtlCol="0" anchor="t"/>
          <a:lstStyle/>
          <a:p>
            <a:pPr indent="0" marL="0">
              <a:buNone/>
            </a:pPr>
            <a:r>
              <a:rPr lang="en-US" sz="1000" b="1" i="1" dirty="0">
                <a:solidFill>
                  <a:schemeClr val="accent2"/>
                </a:solidFill>
              </a:rPr>
              <a:t>outgrew</a:t>
            </a:r>
            <a:endParaRPr lang="en-US" sz="1000" dirty="0"/>
          </a:p>
        </p:txBody>
      </p:sp>
      <p:sp>
        <p:nvSpPr>
          <p:cNvPr id="94" name="Flow scale out"/>
          <p:cNvSpPr/>
          <p:nvPr/>
        </p:nvSpPr>
        <p:spPr>
          <a:xfrm>
            <a:off x="2880360" y="2916936"/>
            <a:ext cx="0" cy="1069848"/>
          </a:xfrm>
          <a:prstGeom prst="line">
            <a:avLst/>
          </a:prstGeom>
          <a:noFill/>
          <a:ln w="19050">
            <a:solidFill>
              <a:schemeClr val="accent2"/>
            </a:solidFill>
            <a:prstDash val="dash"/>
            <a:tailEnd type="triangle"/>
          </a:ln>
        </p:spPr>
      </p:sp>
      <p:sp>
        <p:nvSpPr>
          <p:cNvPr id="95" name="Flow label scale out"/>
          <p:cNvSpPr txBox="1"/>
          <p:nvPr/>
        </p:nvSpPr>
        <p:spPr>
          <a:xfrm>
            <a:off x="2944368" y="3360420"/>
            <a:ext cx="685800" cy="182880"/>
          </a:xfrm>
          <a:prstGeom prst="rect">
            <a:avLst/>
          </a:prstGeom>
          <a:noFill/>
          <a:ln/>
        </p:spPr>
        <p:txBody>
          <a:bodyPr wrap="square" lIns="0" tIns="0" rIns="0" bIns="0" rtlCol="0" anchor="t"/>
          <a:lstStyle/>
          <a:p>
            <a:pPr indent="0" marL="0">
              <a:buNone/>
            </a:pPr>
            <a:r>
              <a:rPr lang="en-US" sz="1000" b="1" i="1" dirty="0">
                <a:solidFill>
                  <a:schemeClr val="accent2"/>
                </a:solidFill>
              </a:rPr>
              <a:t>scale out</a:t>
            </a:r>
            <a:endParaRPr lang="en-US" sz="1000" dirty="0"/>
          </a:p>
        </p:txBody>
      </p:sp>
      <p:sp>
        <p:nvSpPr>
          <p:cNvPr id="96" name="Flow schedules"/>
          <p:cNvSpPr/>
          <p:nvPr/>
        </p:nvSpPr>
        <p:spPr>
          <a:xfrm>
            <a:off x="6263640" y="2916936"/>
            <a:ext cx="0" cy="1069848"/>
          </a:xfrm>
          <a:prstGeom prst="line">
            <a:avLst/>
          </a:prstGeom>
          <a:noFill/>
          <a:ln w="19050">
            <a:solidFill>
              <a:schemeClr val="accent2"/>
            </a:solidFill>
            <a:prstDash val="dash"/>
            <a:tailEnd type="triangle"/>
          </a:ln>
        </p:spPr>
      </p:sp>
      <p:sp>
        <p:nvSpPr>
          <p:cNvPr id="97" name="Flow label schedules"/>
          <p:cNvSpPr txBox="1"/>
          <p:nvPr/>
        </p:nvSpPr>
        <p:spPr>
          <a:xfrm>
            <a:off x="6327648" y="3360420"/>
            <a:ext cx="685800" cy="182880"/>
          </a:xfrm>
          <a:prstGeom prst="rect">
            <a:avLst/>
          </a:prstGeom>
          <a:noFill/>
          <a:ln/>
        </p:spPr>
        <p:txBody>
          <a:bodyPr wrap="square" lIns="0" tIns="0" rIns="0" bIns="0" rtlCol="0" anchor="t"/>
          <a:lstStyle/>
          <a:p>
            <a:pPr indent="0" marL="0">
              <a:buNone/>
            </a:pPr>
            <a:r>
              <a:rPr lang="en-US" sz="1000" b="1" i="1" dirty="0">
                <a:solidFill>
                  <a:schemeClr val="accent2"/>
                </a:solidFill>
              </a:rPr>
              <a:t>schedules</a:t>
            </a:r>
            <a:endParaRPr lang="en-US" sz="1000" dirty="0"/>
          </a:p>
        </p:txBody>
      </p:sp>
      <p:sp>
        <p:nvSpPr>
          <p:cNvPr id="98" name="Flow feeds"/>
          <p:cNvSpPr/>
          <p:nvPr/>
        </p:nvSpPr>
        <p:spPr>
          <a:xfrm>
            <a:off x="6263640" y="1499616"/>
            <a:ext cx="0" cy="1069848"/>
          </a:xfrm>
          <a:prstGeom prst="line">
            <a:avLst/>
          </a:prstGeom>
          <a:noFill/>
          <a:ln w="19050">
            <a:solidFill>
              <a:schemeClr val="accent2"/>
            </a:solidFill>
            <a:prstDash val="dash"/>
            <a:tailEnd type="triangle"/>
          </a:ln>
        </p:spPr>
      </p:sp>
      <p:sp>
        <p:nvSpPr>
          <p:cNvPr id="99" name="Flow label feeds"/>
          <p:cNvSpPr txBox="1"/>
          <p:nvPr/>
        </p:nvSpPr>
        <p:spPr>
          <a:xfrm>
            <a:off x="6327648" y="1943100"/>
            <a:ext cx="685800" cy="182880"/>
          </a:xfrm>
          <a:prstGeom prst="rect">
            <a:avLst/>
          </a:prstGeom>
          <a:noFill/>
          <a:ln/>
        </p:spPr>
        <p:txBody>
          <a:bodyPr wrap="square" lIns="0" tIns="0" rIns="0" bIns="0" rtlCol="0" anchor="t"/>
          <a:lstStyle/>
          <a:p>
            <a:pPr indent="0" marL="0">
              <a:buNone/>
            </a:pPr>
            <a:r>
              <a:rPr lang="en-US" sz="1000" b="1" i="1" dirty="0">
                <a:solidFill>
                  <a:schemeClr val="accent2"/>
                </a:solidFill>
              </a:rPr>
              <a:t>feeds</a:t>
            </a:r>
            <a:endParaRPr lang="en-US" sz="1000" dirty="0"/>
          </a:p>
        </p:txBody>
      </p:sp>
      <p:sp>
        <p:nvSpPr>
          <p:cNvPr id="100" name="Life cycle label"/>
          <p:cNvSpPr txBox="1"/>
          <p:nvPr/>
        </p:nvSpPr>
        <p:spPr>
          <a:xfrm>
            <a:off x="3611880" y="640080"/>
            <a:ext cx="1920240" cy="164592"/>
          </a:xfrm>
          <a:prstGeom prst="rect">
            <a:avLst/>
          </a:prstGeom>
          <a:noFill/>
          <a:ln/>
        </p:spPr>
        <p:txBody>
          <a:bodyPr wrap="square" lIns="0" tIns="0" rIns="0" bIns="0" rtlCol="0" anchor="t"/>
          <a:lstStyle/>
          <a:p>
            <a:pPr algn="ctr" indent="0" marL="0">
              <a:buNone/>
            </a:pPr>
            <a:r>
              <a:rPr lang="en-US" sz="900" b="1" spc="150" kern="0" dirty="0">
                <a:solidFill>
                  <a:schemeClr val="accent3"/>
                </a:solidFill>
              </a:rPr>
              <a:t>ANALYTICS LIFE CYCLE</a:t>
            </a:r>
            <a:endParaRPr lang="en-US" sz="900" dirty="0"/>
          </a:p>
        </p:txBody>
      </p:sp>
      <p:sp>
        <p:nvSpPr>
          <p:cNvPr id="101" name="Life cycle chip: Collect"/>
          <p:cNvSpPr txBox="1"/>
          <p:nvPr/>
        </p:nvSpPr>
        <p:spPr>
          <a:xfrm>
            <a:off x="3931920" y="841248"/>
            <a:ext cx="1280160" cy="219456"/>
          </a:xfrm>
          <a:prstGeom prst="roundRect">
            <a:avLst>
              <a:gd name="adj" fmla="val 25000"/>
            </a:avLst>
          </a:prstGeom>
          <a:solidFill>
            <a:schemeClr val="bg1"/>
          </a:solidFill>
          <a:ln w="9525">
            <a:solidFill>
              <a:schemeClr val="accent6"/>
            </a:solidFill>
          </a:ln>
        </p:spPr>
        <p:txBody>
          <a:bodyPr wrap="square" lIns="25400" tIns="12700" rIns="25400" bIns="12700" rtlCol="0" anchor="ctr"/>
          <a:lstStyle/>
          <a:p>
            <a:pPr algn="ctr" indent="0" marL="0">
              <a:buNone/>
            </a:pPr>
            <a:r>
              <a:rPr lang="en-US" sz="1050" dirty="0">
                <a:solidFill>
                  <a:schemeClr val="tx1"/>
                </a:solidFill>
              </a:rPr>
              <a:t>Collect</a:t>
            </a:r>
            <a:endParaRPr lang="en-US" sz="1050" dirty="0"/>
          </a:p>
        </p:txBody>
      </p:sp>
      <p:sp>
        <p:nvSpPr>
          <p:cNvPr id="102" name="Life cycle chip: Store"/>
          <p:cNvSpPr txBox="1"/>
          <p:nvPr/>
        </p:nvSpPr>
        <p:spPr>
          <a:xfrm>
            <a:off x="3931920" y="1097280"/>
            <a:ext cx="1280160" cy="219456"/>
          </a:xfrm>
          <a:prstGeom prst="roundRect">
            <a:avLst>
              <a:gd name="adj" fmla="val 25000"/>
            </a:avLst>
          </a:prstGeom>
          <a:solidFill>
            <a:schemeClr val="bg1"/>
          </a:solidFill>
          <a:ln w="9525">
            <a:solidFill>
              <a:schemeClr val="accent6"/>
            </a:solidFill>
          </a:ln>
        </p:spPr>
        <p:txBody>
          <a:bodyPr wrap="square" lIns="25400" tIns="12700" rIns="25400" bIns="12700" rtlCol="0" anchor="ctr"/>
          <a:lstStyle/>
          <a:p>
            <a:pPr algn="ctr" indent="0" marL="0">
              <a:buNone/>
            </a:pPr>
            <a:r>
              <a:rPr lang="en-US" sz="1050" dirty="0">
                <a:solidFill>
                  <a:schemeClr val="tx1"/>
                </a:solidFill>
              </a:rPr>
              <a:t>Store</a:t>
            </a:r>
            <a:endParaRPr lang="en-US" sz="1050" dirty="0"/>
          </a:p>
        </p:txBody>
      </p:sp>
      <p:sp>
        <p:nvSpPr>
          <p:cNvPr id="103" name="Life cycle chip: Process"/>
          <p:cNvSpPr txBox="1"/>
          <p:nvPr/>
        </p:nvSpPr>
        <p:spPr>
          <a:xfrm>
            <a:off x="3931920" y="1353312"/>
            <a:ext cx="1280160" cy="219456"/>
          </a:xfrm>
          <a:prstGeom prst="roundRect">
            <a:avLst>
              <a:gd name="adj" fmla="val 25000"/>
            </a:avLst>
          </a:prstGeom>
          <a:solidFill>
            <a:schemeClr val="bg1"/>
          </a:solidFill>
          <a:ln w="9525">
            <a:solidFill>
              <a:schemeClr val="accent6"/>
            </a:solidFill>
          </a:ln>
        </p:spPr>
        <p:txBody>
          <a:bodyPr wrap="square" lIns="25400" tIns="12700" rIns="25400" bIns="12700" rtlCol="0" anchor="ctr"/>
          <a:lstStyle/>
          <a:p>
            <a:pPr algn="ctr" indent="0" marL="0">
              <a:buNone/>
            </a:pPr>
            <a:r>
              <a:rPr lang="en-US" sz="1050" dirty="0">
                <a:solidFill>
                  <a:schemeClr val="tx1"/>
                </a:solidFill>
              </a:rPr>
              <a:t>Process</a:t>
            </a:r>
            <a:endParaRPr lang="en-US" sz="1050" dirty="0"/>
          </a:p>
        </p:txBody>
      </p:sp>
      <p:sp>
        <p:nvSpPr>
          <p:cNvPr id="104" name="Life cycle chip: Serve"/>
          <p:cNvSpPr txBox="1"/>
          <p:nvPr/>
        </p:nvSpPr>
        <p:spPr>
          <a:xfrm>
            <a:off x="3931920" y="1609344"/>
            <a:ext cx="1280160" cy="219456"/>
          </a:xfrm>
          <a:prstGeom prst="roundRect">
            <a:avLst>
              <a:gd name="adj" fmla="val 25000"/>
            </a:avLst>
          </a:prstGeom>
          <a:solidFill>
            <a:schemeClr val="bg1"/>
          </a:solidFill>
          <a:ln w="9525">
            <a:solidFill>
              <a:schemeClr val="accent6"/>
            </a:solidFill>
          </a:ln>
        </p:spPr>
        <p:txBody>
          <a:bodyPr wrap="square" lIns="25400" tIns="12700" rIns="25400" bIns="12700" rtlCol="0" anchor="ctr"/>
          <a:lstStyle/>
          <a:p>
            <a:pPr algn="ctr" indent="0" marL="0">
              <a:buNone/>
            </a:pPr>
            <a:r>
              <a:rPr lang="en-US" sz="1050" dirty="0">
                <a:solidFill>
                  <a:schemeClr val="tx1"/>
                </a:solidFill>
              </a:rPr>
              <a:t>Serve</a:t>
            </a:r>
            <a:endParaRPr lang="en-US" sz="1050" dirty="0"/>
          </a:p>
        </p:txBody>
      </p:sp>
      <p:sp>
        <p:nvSpPr>
          <p:cNvPr id="105" name="Life cycle chip: Act"/>
          <p:cNvSpPr txBox="1"/>
          <p:nvPr/>
        </p:nvSpPr>
        <p:spPr>
          <a:xfrm>
            <a:off x="3931920" y="1865376"/>
            <a:ext cx="1280160" cy="219456"/>
          </a:xfrm>
          <a:prstGeom prst="roundRect">
            <a:avLst>
              <a:gd name="adj" fmla="val 25000"/>
            </a:avLst>
          </a:prstGeom>
          <a:solidFill>
            <a:schemeClr val="bg1"/>
          </a:solidFill>
          <a:ln w="9525">
            <a:solidFill>
              <a:schemeClr val="accent6"/>
            </a:solidFill>
          </a:ln>
        </p:spPr>
        <p:txBody>
          <a:bodyPr wrap="square" lIns="25400" tIns="12700" rIns="25400" bIns="12700" rtlCol="0" anchor="ctr"/>
          <a:lstStyle/>
          <a:p>
            <a:pPr algn="ctr" indent="0" marL="0">
              <a:buNone/>
            </a:pPr>
            <a:r>
              <a:rPr lang="en-US" sz="1050" dirty="0">
                <a:solidFill>
                  <a:schemeClr val="tx1"/>
                </a:solidFill>
              </a:rPr>
              <a:t>Act</a:t>
            </a:r>
            <a:endParaRPr lang="en-US" sz="1050" dirty="0"/>
          </a:p>
        </p:txBody>
      </p:sp>
      <p:sp>
        <p:nvSpPr>
          <p:cNvPr id="106" name="Into system"/>
          <p:cNvSpPr/>
          <p:nvPr/>
        </p:nvSpPr>
        <p:spPr>
          <a:xfrm>
            <a:off x="4572000" y="2121408"/>
            <a:ext cx="0" cy="146304"/>
          </a:xfrm>
          <a:prstGeom prst="line">
            <a:avLst/>
          </a:prstGeom>
          <a:noFill/>
          <a:ln w="15875">
            <a:solidFill>
              <a:schemeClr val="accent3"/>
            </a:solidFill>
            <a:prstDash val="solid"/>
            <a:tailEnd type="triangle"/>
          </a:ln>
        </p:spPr>
      </p:sp>
      <p:sp>
        <p:nvSpPr>
          <p:cNvPr id="107" name="Centre node"/>
          <p:cNvSpPr txBox="1"/>
          <p:nvPr/>
        </p:nvSpPr>
        <p:spPr>
          <a:xfrm>
            <a:off x="3840480" y="2286000"/>
            <a:ext cx="1463040" cy="914400"/>
          </a:xfrm>
          <a:prstGeom prst="roundRect">
            <a:avLst>
              <a:gd name="adj" fmla="val 15000"/>
            </a:avLst>
          </a:prstGeom>
          <a:solidFill>
            <a:schemeClr val="tx2"/>
          </a:solidFill>
          <a:ln w="19050">
            <a:solidFill>
              <a:schemeClr val="tx2"/>
            </a:solidFill>
          </a:ln>
        </p:spPr>
        <p:txBody>
          <a:bodyPr wrap="square" lIns="50800" tIns="50800" rIns="50800" bIns="50800" rtlCol="0" anchor="ctr"/>
          <a:lstStyle/>
          <a:p>
            <a:pPr algn="ctr" indent="0" marL="0">
              <a:buNone/>
            </a:pPr>
            <a:r>
              <a:rPr lang="en-US" sz="2400" b="1" dirty="0">
                <a:solidFill>
                  <a:schemeClr val="bg1"/>
                </a:solidFill>
              </a:rPr>
              <a:t>eBay</a:t>
            </a:r>
            <a:endParaRPr lang="en-US" sz="2400" dirty="0"/>
          </a:p>
          <a:p>
            <a:pPr algn="ctr" indent="0" marL="0">
              <a:buNone/>
            </a:pPr>
            <a:r>
              <a:rPr lang="en-US" sz="1050" dirty="0">
                <a:solidFill>
                  <a:schemeClr val="bg2"/>
                </a:solidFill>
              </a:rPr>
              <a:t>Big Data system</a:t>
            </a:r>
            <a:endParaRPr lang="en-US" sz="2400" dirty="0"/>
          </a:p>
        </p:txBody>
      </p:sp>
      <p:sp>
        <p:nvSpPr>
          <p:cNvPr id="108" name="Out of system"/>
          <p:cNvSpPr/>
          <p:nvPr/>
        </p:nvSpPr>
        <p:spPr>
          <a:xfrm>
            <a:off x="4572000" y="3200400"/>
            <a:ext cx="0" cy="146304"/>
          </a:xfrm>
          <a:prstGeom prst="line">
            <a:avLst/>
          </a:prstGeom>
          <a:noFill/>
          <a:ln w="15875">
            <a:solidFill>
              <a:schemeClr val="accent3"/>
            </a:solidFill>
            <a:prstDash val="solid"/>
            <a:tailEnd type="triangle"/>
          </a:ln>
        </p:spPr>
      </p:sp>
      <p:sp>
        <p:nvSpPr>
          <p:cNvPr id="109" name="Outcomes label"/>
          <p:cNvSpPr txBox="1"/>
          <p:nvPr/>
        </p:nvSpPr>
        <p:spPr>
          <a:xfrm>
            <a:off x="3611880" y="3383280"/>
            <a:ext cx="1920240" cy="164592"/>
          </a:xfrm>
          <a:prstGeom prst="rect">
            <a:avLst/>
          </a:prstGeom>
          <a:noFill/>
          <a:ln/>
        </p:spPr>
        <p:txBody>
          <a:bodyPr wrap="square" lIns="0" tIns="0" rIns="0" bIns="0" rtlCol="0" anchor="t"/>
          <a:lstStyle/>
          <a:p>
            <a:pPr algn="ctr" indent="0" marL="0">
              <a:buNone/>
            </a:pPr>
            <a:r>
              <a:rPr lang="en-US" sz="900" b="1" spc="150" kern="0" dirty="0">
                <a:solidFill>
                  <a:schemeClr val="accent3"/>
                </a:solidFill>
              </a:rPr>
              <a:t>OUTCOMES</a:t>
            </a:r>
            <a:endParaRPr lang="en-US" sz="900" dirty="0"/>
          </a:p>
        </p:txBody>
      </p:sp>
      <p:sp>
        <p:nvSpPr>
          <p:cNvPr id="110" name="Outcome chip: Search"/>
          <p:cNvSpPr txBox="1"/>
          <p:nvPr/>
        </p:nvSpPr>
        <p:spPr>
          <a:xfrm>
            <a:off x="3931920" y="3584448"/>
            <a:ext cx="1280160" cy="219456"/>
          </a:xfrm>
          <a:prstGeom prst="roundRect">
            <a:avLst>
              <a:gd name="adj" fmla="val 25000"/>
            </a:avLst>
          </a:prstGeom>
          <a:solidFill>
            <a:schemeClr val="accent4"/>
          </a:solidFill>
          <a:ln w="9525">
            <a:solidFill>
              <a:schemeClr val="accent2"/>
            </a:solidFill>
          </a:ln>
        </p:spPr>
        <p:txBody>
          <a:bodyPr wrap="square" lIns="25400" tIns="12700" rIns="25400" bIns="12700" rtlCol="0" anchor="ctr"/>
          <a:lstStyle/>
          <a:p>
            <a:pPr algn="ctr" indent="0" marL="0">
              <a:buNone/>
            </a:pPr>
            <a:r>
              <a:rPr lang="en-US" sz="1050" dirty="0">
                <a:solidFill>
                  <a:schemeClr val="tx1"/>
                </a:solidFill>
              </a:rPr>
              <a:t>Search</a:t>
            </a:r>
            <a:endParaRPr lang="en-US" sz="1050" dirty="0"/>
          </a:p>
        </p:txBody>
      </p:sp>
      <p:sp>
        <p:nvSpPr>
          <p:cNvPr id="111" name="Outcome chip: Recommendations"/>
          <p:cNvSpPr txBox="1"/>
          <p:nvPr/>
        </p:nvSpPr>
        <p:spPr>
          <a:xfrm>
            <a:off x="3931920" y="3840480"/>
            <a:ext cx="1280160" cy="219456"/>
          </a:xfrm>
          <a:prstGeom prst="roundRect">
            <a:avLst>
              <a:gd name="adj" fmla="val 25000"/>
            </a:avLst>
          </a:prstGeom>
          <a:solidFill>
            <a:schemeClr val="accent4"/>
          </a:solidFill>
          <a:ln w="9525">
            <a:solidFill>
              <a:schemeClr val="accent2"/>
            </a:solidFill>
          </a:ln>
        </p:spPr>
        <p:txBody>
          <a:bodyPr wrap="square" lIns="25400" tIns="12700" rIns="25400" bIns="12700" rtlCol="0" anchor="ctr"/>
          <a:lstStyle/>
          <a:p>
            <a:pPr algn="ctr" indent="0" marL="0">
              <a:buNone/>
            </a:pPr>
            <a:r>
              <a:rPr lang="en-US" sz="1050" dirty="0">
                <a:solidFill>
                  <a:schemeClr val="tx1"/>
                </a:solidFill>
              </a:rPr>
              <a:t>Recommendations</a:t>
            </a:r>
            <a:endParaRPr lang="en-US" sz="1050" dirty="0"/>
          </a:p>
        </p:txBody>
      </p:sp>
      <p:sp>
        <p:nvSpPr>
          <p:cNvPr id="112" name="Outcome chip: Fraud checks"/>
          <p:cNvSpPr txBox="1"/>
          <p:nvPr/>
        </p:nvSpPr>
        <p:spPr>
          <a:xfrm>
            <a:off x="3931920" y="4096512"/>
            <a:ext cx="1280160" cy="219456"/>
          </a:xfrm>
          <a:prstGeom prst="roundRect">
            <a:avLst>
              <a:gd name="adj" fmla="val 25000"/>
            </a:avLst>
          </a:prstGeom>
          <a:solidFill>
            <a:schemeClr val="accent4"/>
          </a:solidFill>
          <a:ln w="9525">
            <a:solidFill>
              <a:schemeClr val="accent2"/>
            </a:solidFill>
          </a:ln>
        </p:spPr>
        <p:txBody>
          <a:bodyPr wrap="square" lIns="25400" tIns="12700" rIns="25400" bIns="12700" rtlCol="0" anchor="ctr"/>
          <a:lstStyle/>
          <a:p>
            <a:pPr algn="ctr" indent="0" marL="0">
              <a:buNone/>
            </a:pPr>
            <a:r>
              <a:rPr lang="en-US" sz="1050" dirty="0">
                <a:solidFill>
                  <a:schemeClr val="tx1"/>
                </a:solidFill>
              </a:rPr>
              <a:t>Fraud checks</a:t>
            </a:r>
            <a:endParaRPr lang="en-US" sz="1050" dirty="0"/>
          </a:p>
        </p:txBody>
      </p:sp>
      <p:sp>
        <p:nvSpPr>
          <p:cNvPr id="113" name="Outcome chip: Dashboards"/>
          <p:cNvSpPr txBox="1"/>
          <p:nvPr/>
        </p:nvSpPr>
        <p:spPr>
          <a:xfrm>
            <a:off x="3931920" y="4352544"/>
            <a:ext cx="1280160" cy="219456"/>
          </a:xfrm>
          <a:prstGeom prst="roundRect">
            <a:avLst>
              <a:gd name="adj" fmla="val 25000"/>
            </a:avLst>
          </a:prstGeom>
          <a:solidFill>
            <a:schemeClr val="accent4"/>
          </a:solidFill>
          <a:ln w="9525">
            <a:solidFill>
              <a:schemeClr val="accent2"/>
            </a:solidFill>
          </a:ln>
        </p:spPr>
        <p:txBody>
          <a:bodyPr wrap="square" lIns="25400" tIns="12700" rIns="25400" bIns="12700" rtlCol="0" anchor="ctr"/>
          <a:lstStyle/>
          <a:p>
            <a:pPr algn="ctr" indent="0" marL="0">
              <a:buNone/>
            </a:pPr>
            <a:r>
              <a:rPr lang="en-US" sz="1050" dirty="0">
                <a:solidFill>
                  <a:schemeClr val="tx1"/>
                </a:solidFill>
              </a:rPr>
              <a:t>Dashboards</a:t>
            </a:r>
            <a:endParaRPr lang="en-US" sz="105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r>
              <a:rPr lang="en-US" sz="2400" b="1" dirty="0">
                <a:solidFill>
                  <a:schemeClr val="tx2"/>
                </a:solidFill>
              </a:rPr>
              <a:t>Each problem in eBay's data is answered by one part of the system</a:t>
            </a:r>
            <a:endParaRPr lang="en-US" sz="2400" dirty="0"/>
          </a:p>
        </p:txBody>
      </p:sp>
      <p:graphicFrame>
        <p:nvGraphicFramePr>
          <p:cNvPr id="14" name="Problem answer table"/>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411480"/>
                <a:gridCol w="2514600"/>
                <a:gridCol w="2011680"/>
                <a:gridCol w="3291840"/>
              </a:tblGrid>
              <a:tr h="347472">
                <a:tc>
                  <a:txBody>
                    <a:bodyPr/>
                    <a:lstStyle/>
                    <a:p>
                      <a:pPr algn="ctr" indent="0" marL="0">
                        <a:buNone/>
                      </a:pPr>
                      <a:r>
                        <a:rPr lang="en-US" sz="1400" b="1" dirty="0">
                          <a:solidFill>
                            <a:schemeClr val="bg1"/>
                          </a:solidFill>
                        </a:rPr>
                        <a:t>#</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Problem</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Answered by</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eBay evidence</a:t>
                      </a:r>
                      <a:endParaRPr lang="en-US" sz="14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r>
              <a:tr h="411480">
                <a:tc>
                  <a:txBody>
                    <a:bodyPr/>
                    <a:lstStyle/>
                    <a:p>
                      <a:pPr algn="ctr" indent="0" marL="0">
                        <a:buNone/>
                      </a:pPr>
                      <a:r>
                        <a:rPr lang="en-US" sz="1300" b="1" dirty="0">
                          <a:solidFill>
                            <a:schemeClr val="accent2"/>
                          </a:solidFill>
                        </a:rPr>
                        <a:t>1</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One machine can't hold it all</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HDFS on cheap nodes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8–10 TB a day into Athena (2010)</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11480">
                <a:tc>
                  <a:txBody>
                    <a:bodyPr/>
                    <a:lstStyle/>
                    <a:p>
                      <a:pPr algn="ctr" indent="0" marL="0">
                        <a:buNone/>
                      </a:pPr>
                      <a:r>
                        <a:rPr lang="en-US" sz="1300" b="1" dirty="0">
                          <a:solidFill>
                            <a:schemeClr val="accent2"/>
                          </a:solidFill>
                        </a:rPr>
                        <a:t>2</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Machines fail</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3 copies per block</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A failed node loses no data</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11480">
                <a:tc>
                  <a:txBody>
                    <a:bodyPr/>
                    <a:lstStyle/>
                    <a:p>
                      <a:pPr algn="ctr" indent="0" marL="0">
                        <a:buNone/>
                      </a:pPr>
                      <a:r>
                        <a:rPr lang="en-US" sz="1300" b="1" dirty="0">
                          <a:solidFill>
                            <a:schemeClr val="accent2"/>
                          </a:solidFill>
                        </a:rPr>
                        <a:t>3</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Rigid schema, raw logs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Store raw files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Unstructured data lives only in Hadoop</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11480">
                <a:tc>
                  <a:txBody>
                    <a:bodyPr/>
                    <a:lstStyle/>
                    <a:p>
                      <a:pPr algn="ctr" indent="0" marL="0">
                        <a:buNone/>
                      </a:pPr>
                      <a:r>
                        <a:rPr lang="en-US" sz="1300" b="1" dirty="0">
                          <a:solidFill>
                            <a:schemeClr val="accent2"/>
                          </a:solidFill>
                        </a:rPr>
                        <a:t>4</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Many jobs, one cluster</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YARN</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MapReduce, Hive, Spark on one cluster</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11480">
                <a:tc>
                  <a:txBody>
                    <a:bodyPr/>
                    <a:lstStyle/>
                    <a:p>
                      <a:pPr algn="ctr" indent="0" marL="0">
                        <a:buNone/>
                      </a:pPr>
                      <a:r>
                        <a:rPr lang="en-US" sz="1300" b="1" dirty="0">
                          <a:solidFill>
                            <a:schemeClr val="accent2"/>
                          </a:solidFill>
                        </a:rPr>
                        <a:t>5</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Huge batch jobs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MapReduce</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Full Cassini index every 6 hours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11480">
                <a:tc>
                  <a:txBody>
                    <a:bodyPr/>
                    <a:lstStyle/>
                    <a:p>
                      <a:pPr algn="ctr" indent="0" marL="0">
                        <a:buNone/>
                      </a:pPr>
                      <a:r>
                        <a:rPr lang="en-US" sz="1300" b="1" dirty="0">
                          <a:solidFill>
                            <a:schemeClr val="accent2"/>
                          </a:solidFill>
                        </a:rPr>
                        <a:t>6</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Live site needs fast reads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NoSQL stores</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Whole inventory in HBase for search</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r h="411480">
                <a:tc>
                  <a:txBody>
                    <a:bodyPr/>
                    <a:lstStyle/>
                    <a:p>
                      <a:pPr algn="ctr" indent="0" marL="0">
                        <a:buNone/>
                      </a:pPr>
                      <a:r>
                        <a:rPr lang="en-US" sz="1300" b="1" dirty="0">
                          <a:solidFill>
                            <a:schemeClr val="accent2"/>
                          </a:solidFill>
                        </a:rPr>
                        <a:t>7</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Many users, structured data</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b="1" dirty="0">
                          <a:solidFill>
                            <a:schemeClr val="tx2"/>
                          </a:solidFill>
                        </a:rPr>
                        <a:t>Keep Teradata</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c>
                  <a:txBody>
                    <a:bodyPr/>
                    <a:lstStyle/>
                    <a:p>
                      <a:pPr indent="0" marL="0">
                        <a:buNone/>
                      </a:pPr>
                      <a:r>
                        <a:rPr lang="en-US" sz="1300" dirty="0">
                          <a:solidFill>
                            <a:schemeClr val="tx1"/>
                          </a:solidFill>
                        </a:rPr>
                        <a:t>5,000+ users; 7.5 PB EDW (2013)</a:t>
                      </a:r>
                      <a:endParaRPr lang="en-US" sz="1300" dirty="0"/>
                    </a:p>
                  </a:txBody>
                  <a:tcPr marL="91440" marR="91440" marT="27432" marB="27432"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tcPr>
                </a:tc>
              </a:tr>
            </a:tbl>
          </a:graphicData>
        </a:graphic>
      </p:graphicFrame>
      <p:sp>
        <p:nvSpPr>
          <p:cNvPr id="5" name="Source citation"/>
          <p:cNvSpPr txBox="1"/>
          <p:nvPr/>
        </p:nvSpPr>
        <p:spPr>
          <a:xfrm>
            <a:off x="457200" y="4681728"/>
            <a:ext cx="7680960" cy="274320"/>
          </a:xfrm>
          <a:prstGeom prst="rect">
            <a:avLst/>
          </a:prstGeom>
          <a:noFill/>
          <a:ln/>
        </p:spPr>
        <p:txBody>
          <a:bodyPr wrap="square" lIns="0" tIns="0" rIns="0" bIns="0" rtlCol="0" anchor="t"/>
          <a:lstStyle/>
          <a:p>
            <a:pPr algn="l" indent="0" marL="0">
              <a:buNone/>
            </a:pPr>
            <a:r>
              <a:rPr lang="en-US" sz="1200" dirty="0">
                <a:solidFill>
                  <a:schemeClr val="accent3"/>
                </a:solidFill>
              </a:rPr>
              <a:t>Sources: eBay HUG (2010); ODBMS.org (n.d.); Hadoop at eBay (c. 2015); Cassini HBase (2012); iTnews (2013).</a:t>
            </a:r>
            <a:endParaRPr lang="en-US" sz="12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1" type="title" hasCustomPrompt="1"/>
          </p:nvPr>
        </p:nvSpPr>
        <p:spPr>
          <a:xfrm>
            <a:off x="457200" y="228600"/>
            <a:ext cx="8229600" cy="777240"/>
          </a:xfrm>
          <a:prstGeom prst="rect">
            <a:avLst/>
          </a:prstGeom>
          <a:noFill/>
          <a:ln/>
        </p:spPr>
        <p:txBody>
          <a:bodyPr wrap="square" lIns="0" tIns="0" rIns="0" bIns="0" rtlCol="0" anchor="t"/>
          <a:lstStyle/>
          <a:p>
            <a:pPr algn="l" indent="0" marL="0">
              <a:buNone/>
            </a:pPr>
            <a:r>
              <a:rPr lang="en-US" sz="2400" b="1" dirty="0">
                <a:solidFill>
                  <a:schemeClr val="bg1"/>
                </a:solidFill>
              </a:rPr>
              <a:t>eBay's lesson: use each system for the job it does best</a:t>
            </a:r>
            <a:endParaRPr lang="en-US" sz="2400" dirty="0"/>
          </a:p>
        </p:txBody>
      </p:sp>
      <p:sp>
        <p:nvSpPr>
          <p:cNvPr id="4" name="Takeaways"/>
          <p:cNvSpPr txBox="1"/>
          <p:nvPr/>
        </p:nvSpPr>
        <p:spPr>
          <a:xfrm>
            <a:off x="457200" y="914400"/>
            <a:ext cx="8229600" cy="3246120"/>
          </a:xfrm>
          <a:prstGeom prst="rect">
            <a:avLst/>
          </a:prstGeom>
          <a:noFill/>
          <a:ln/>
        </p:spPr>
        <p:txBody>
          <a:bodyPr wrap="square" lIns="0" tIns="0" rIns="0" bIns="0" rtlCol="0" anchor="t"/>
          <a:lstStyle/>
          <a:p>
            <a:pPr algn="l" indent="0" marL="0">
              <a:spcAft>
                <a:spcPts val="1400"/>
              </a:spcAft>
              <a:buNone/>
            </a:pPr>
            <a:r>
              <a:rPr lang="en-US" sz="1800" b="1" dirty="0">
                <a:solidFill>
                  <a:schemeClr val="bg1"/>
                </a:solidFill>
              </a:rPr>
              <a:t>1. SQL warehouses strained: </a:t>
            </a:r>
            <a:pPr algn="l" indent="0" marL="0">
              <a:spcAft>
                <a:spcPts val="1400"/>
              </a:spcAft>
              <a:buNone/>
            </a:pPr>
            <a:r>
              <a:rPr lang="en-US" sz="1800" dirty="0">
                <a:solidFill>
                  <a:schemeClr val="bg1"/>
                </a:solidFill>
              </a:rPr>
              <a:t>data-mart copies, rigid schemas and semi-structured logs at 6.5 PB and 150 bn records a day.</a:t>
            </a:r>
            <a:endParaRPr lang="en-US" sz="1800" dirty="0"/>
          </a:p>
          <a:p>
            <a:pPr algn="l" indent="0" marL="0">
              <a:spcAft>
                <a:spcPts val="1400"/>
              </a:spcAft>
              <a:buNone/>
            </a:pPr>
            <a:r>
              <a:rPr lang="en-US" sz="1800" b="1" dirty="0">
                <a:solidFill>
                  <a:schemeClr val="bg1"/>
                </a:solidFill>
              </a:rPr>
              <a:t>2. eBay kept SQL and added Hadoop: </a:t>
            </a:r>
            <a:pPr algn="l" indent="0" marL="0">
              <a:spcAft>
                <a:spcPts val="1400"/>
              </a:spcAft>
              <a:buNone/>
            </a:pPr>
            <a:r>
              <a:rPr lang="en-US" sz="1800" dirty="0">
                <a:solidFill>
                  <a:schemeClr val="bg1"/>
                </a:solidFill>
              </a:rPr>
              <a:t>Teradata for structured, many-user analysis; Hadoop for the rest; ~90 PB in total (2013).</a:t>
            </a:r>
            <a:endParaRPr lang="en-US" sz="1800" dirty="0"/>
          </a:p>
          <a:p>
            <a:pPr algn="l" indent="0" marL="0">
              <a:spcAft>
                <a:spcPts val="1400"/>
              </a:spcAft>
              <a:buNone/>
            </a:pPr>
            <a:r>
              <a:rPr lang="en-US" sz="1800" b="1" dirty="0">
                <a:solidFill>
                  <a:schemeClr val="bg1"/>
                </a:solidFill>
              </a:rPr>
              <a:t>3. Inside Hadoop: </a:t>
            </a:r>
            <a:pPr algn="l" indent="0" marL="0">
              <a:spcAft>
                <a:spcPts val="1400"/>
              </a:spcAft>
              <a:buNone/>
            </a:pPr>
            <a:r>
              <a:rPr lang="en-US" sz="1800" dirty="0">
                <a:solidFill>
                  <a:schemeClr val="bg1"/>
                </a:solidFill>
              </a:rPr>
              <a:t>HDFS stores with 3 copies, YARN shares each cluster, MapReduce builds the search index.</a:t>
            </a:r>
            <a:endParaRPr lang="en-US" sz="1800" dirty="0"/>
          </a:p>
          <a:p>
            <a:pPr algn="l" indent="0" marL="0">
              <a:spcAft>
                <a:spcPts val="1400"/>
              </a:spcAft>
              <a:buNone/>
            </a:pPr>
            <a:r>
              <a:rPr lang="en-US" sz="1800" b="1" dirty="0">
                <a:solidFill>
                  <a:schemeClr val="bg1"/>
                </a:solidFill>
              </a:rPr>
              <a:t>4. NoSQL serves the live site: </a:t>
            </a:r>
            <a:pPr algn="l" indent="0" marL="0">
              <a:spcAft>
                <a:spcPts val="1400"/>
              </a:spcAft>
              <a:buNone/>
            </a:pPr>
            <a:r>
              <a:rPr lang="en-US" sz="1800" dirty="0">
                <a:solidFill>
                  <a:schemeClr val="bg1"/>
                </a:solidFill>
              </a:rPr>
              <a:t>HBase for search, Cassandra for fast writes, MongoDB for the catalogue.</a:t>
            </a:r>
            <a:endParaRPr lang="en-US" sz="1800" dirty="0"/>
          </a:p>
        </p:txBody>
      </p:sp>
      <p:sp>
        <p:nvSpPr>
          <p:cNvPr id="5" name="Contact"/>
          <p:cNvSpPr txBox="1"/>
          <p:nvPr/>
        </p:nvSpPr>
        <p:spPr>
          <a:xfrm>
            <a:off x="457200" y="4343400"/>
            <a:ext cx="8229600" cy="365760"/>
          </a:xfrm>
          <a:prstGeom prst="rect">
            <a:avLst/>
          </a:prstGeom>
          <a:noFill/>
          <a:ln/>
        </p:spPr>
        <p:txBody>
          <a:bodyPr wrap="square" lIns="0" tIns="0" rIns="0" bIns="0" rtlCol="0" anchor="t"/>
          <a:lstStyle/>
          <a:p>
            <a:pPr algn="l" indent="0" marL="0">
              <a:buNone/>
            </a:pPr>
            <a:r>
              <a:rPr lang="en-US" sz="1400" dirty="0">
                <a:solidFill>
                  <a:schemeClr val="bg2"/>
                </a:solidFill>
              </a:rPr>
              <a:t>Are there questions or feedback?   [Group members]  ·  PCCoE, B.Tech, Big Data Analytics  ·  FA1</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References heading"/>
          <p:cNvSpPr txBox="1"/>
          <p:nvPr/>
        </p:nvSpPr>
        <p:spPr>
          <a:xfrm>
            <a:off x="457200" y="182880"/>
            <a:ext cx="8229600" cy="457200"/>
          </a:xfrm>
          <a:prstGeom prst="rect">
            <a:avLst/>
          </a:prstGeom>
          <a:noFill/>
          <a:ln/>
        </p:spPr>
        <p:txBody>
          <a:bodyPr wrap="square" lIns="0" tIns="0" rIns="0" bIns="0" rtlCol="0" anchor="t"/>
          <a:lstStyle/>
          <a:p>
            <a:pPr algn="l" indent="0" marL="0">
              <a:buNone/>
            </a:pPr>
            <a:r>
              <a:rPr lang="en-US" sz="2400" b="1" dirty="0">
                <a:solidFill>
                  <a:schemeClr val="tx2"/>
                </a:solidFill>
              </a:rPr>
              <a:t>References</a:t>
            </a:r>
            <a:endParaRPr lang="en-US" sz="2400" dirty="0"/>
          </a:p>
        </p:txBody>
      </p:sp>
      <p:sp>
        <p:nvSpPr>
          <p:cNvPr id="4" name="Reference list 1"/>
          <p:cNvSpPr txBox="1"/>
          <p:nvPr/>
        </p:nvSpPr>
        <p:spPr>
          <a:xfrm>
            <a:off x="457200" y="731520"/>
            <a:ext cx="4023360" cy="4023360"/>
          </a:xfrm>
          <a:prstGeom prst="rect">
            <a:avLst/>
          </a:prstGeom>
          <a:noFill/>
          <a:ln/>
        </p:spPr>
        <p:txBody>
          <a:bodyPr wrap="square" lIns="0" tIns="0" rIns="0" bIns="0" rtlCol="0" anchor="t"/>
          <a:lstStyle/>
          <a:p>
            <a:pPr algn="l" indent="0" marL="0">
              <a:spcAft>
                <a:spcPts val="500"/>
              </a:spcAft>
              <a:buNone/>
            </a:pPr>
            <a:r>
              <a:rPr lang="en-US" sz="1000" dirty="0">
                <a:solidFill>
                  <a:schemeClr val="tx1"/>
                </a:solidFill>
              </a:rPr>
              <a:t>Monash, C. (2009). eBay's two enormous data warehouses. DBMS2.</a:t>
            </a:r>
            <a:endParaRPr lang="en-US" sz="1000" dirty="0"/>
          </a:p>
          <a:p>
            <a:pPr algn="l" indent="0" marL="0">
              <a:spcAft>
                <a:spcPts val="500"/>
              </a:spcAft>
              <a:buNone/>
            </a:pPr>
            <a:r>
              <a:rPr lang="en-US" sz="1000" dirty="0">
                <a:solidFill>
                  <a:schemeClr val="tx1"/>
                </a:solidFill>
              </a:rPr>
              <a:t>Monash, C. (2010). eBay followup: Greenplum out, Teradata &gt; 10 petabytes, Hadoop has some value, and more. DBMS2.</a:t>
            </a:r>
            <a:endParaRPr lang="en-US" sz="1000" dirty="0"/>
          </a:p>
          <a:p>
            <a:pPr algn="l" indent="0" marL="0">
              <a:spcAft>
                <a:spcPts val="500"/>
              </a:spcAft>
              <a:buNone/>
            </a:pPr>
            <a:r>
              <a:rPr lang="en-US" sz="1000" dirty="0">
                <a:solidFill>
                  <a:schemeClr val="tx1"/>
                </a:solidFill>
              </a:rPr>
              <a:t>Ratzesberger, O. (2010). Keynote slides. USENIX FAST '10. static.usenix.org/events/fast10/tech/slides/ratzesberger.pdf</a:t>
            </a:r>
            <a:endParaRPr lang="en-US" sz="1000" dirty="0"/>
          </a:p>
          <a:p>
            <a:pPr algn="l" indent="0" marL="0">
              <a:spcAft>
                <a:spcPts val="500"/>
              </a:spcAft>
              <a:buNone/>
            </a:pPr>
            <a:r>
              <a:rPr lang="en-US" sz="1000" dirty="0">
                <a:solidFill>
                  <a:schemeClr val="tx1"/>
                </a:solidFill>
              </a:rPr>
              <a:t>iTnews (2013). Inside eBay's 90PB data warehouse. itnews.com.au/news/inside-ebay8217s-90pb-data-warehouse-342615</a:t>
            </a:r>
            <a:endParaRPr lang="en-US" sz="1000" dirty="0"/>
          </a:p>
          <a:p>
            <a:pPr algn="l" indent="0" marL="0">
              <a:spcAft>
                <a:spcPts val="500"/>
              </a:spcAft>
              <a:buNone/>
            </a:pPr>
            <a:r>
              <a:rPr lang="en-US" sz="1000" dirty="0">
                <a:solidFill>
                  <a:schemeClr val="tx1"/>
                </a:solidFill>
              </a:rPr>
              <a:t>ODBMS.org (n.d.). Interview on eBay's analytics systems. odbms.org/blog/?p=1184</a:t>
            </a:r>
            <a:endParaRPr lang="en-US" sz="1000" dirty="0"/>
          </a:p>
          <a:p>
            <a:pPr algn="l" indent="0" marL="0">
              <a:spcAft>
                <a:spcPts val="500"/>
              </a:spcAft>
              <a:buNone/>
            </a:pPr>
            <a:r>
              <a:rPr lang="en-US" sz="1000" dirty="0">
                <a:solidFill>
                  <a:schemeClr val="tx1"/>
                </a:solidFill>
              </a:rPr>
              <a:t>eBay Inc. (2010). Hadoop at eBay [Slides]. Bay Area HUG. slideshare.net/slideshow/2-hadoope-bayhug20100721/4819530</a:t>
            </a:r>
            <a:endParaRPr lang="en-US" sz="1000" dirty="0"/>
          </a:p>
          <a:p>
            <a:pPr algn="l" indent="0" marL="0">
              <a:spcAft>
                <a:spcPts val="500"/>
              </a:spcAft>
              <a:buNone/>
            </a:pPr>
            <a:r>
              <a:rPr lang="en-US" sz="1000" dirty="0">
                <a:solidFill>
                  <a:schemeClr val="tx1"/>
                </a:solidFill>
              </a:rPr>
              <a:t>eBay Inc. (n.d.). Hadoop: The power of the elephant. eBay Tech Blog.</a:t>
            </a:r>
            <a:endParaRPr lang="en-US" sz="1000" dirty="0"/>
          </a:p>
          <a:p>
            <a:pPr algn="l" indent="0" marL="0">
              <a:spcAft>
                <a:spcPts val="500"/>
              </a:spcAft>
              <a:buNone/>
            </a:pPr>
            <a:r>
              <a:rPr lang="en-US" sz="1000" dirty="0">
                <a:solidFill>
                  <a:schemeClr val="tx1"/>
                </a:solidFill>
              </a:rPr>
              <a:t>Hennig (2013). Hadoop @ eBay: past, present and future [Slides]. slideshare.net/slideshow/hadoop-ebay-past-present-and-future/29371000</a:t>
            </a:r>
            <a:endParaRPr lang="en-US" sz="1000" dirty="0"/>
          </a:p>
          <a:p>
            <a:pPr algn="l" indent="0" marL="0">
              <a:spcAft>
                <a:spcPts val="500"/>
              </a:spcAft>
              <a:buNone/>
            </a:pPr>
            <a:r>
              <a:rPr lang="en-US" sz="1000" dirty="0">
                <a:solidFill>
                  <a:schemeClr val="tx1"/>
                </a:solidFill>
              </a:rPr>
              <a:t>eBay Inc. (c. 2013). Hadoop and HBase @ eBay [Slides]. slideshare.net/slideshow/ma-june27-140pmroom212v2/24108965</a:t>
            </a:r>
            <a:endParaRPr lang="en-US" sz="1000" dirty="0"/>
          </a:p>
        </p:txBody>
      </p:sp>
      <p:sp>
        <p:nvSpPr>
          <p:cNvPr id="5" name="Reference list 2"/>
          <p:cNvSpPr txBox="1"/>
          <p:nvPr/>
        </p:nvSpPr>
        <p:spPr>
          <a:xfrm>
            <a:off x="4663440" y="731520"/>
            <a:ext cx="4023360" cy="4023360"/>
          </a:xfrm>
          <a:prstGeom prst="rect">
            <a:avLst/>
          </a:prstGeom>
          <a:noFill/>
          <a:ln/>
        </p:spPr>
        <p:txBody>
          <a:bodyPr wrap="square" lIns="0" tIns="0" rIns="0" bIns="0" rtlCol="0" anchor="t"/>
          <a:lstStyle/>
          <a:p>
            <a:pPr algn="l" indent="0" marL="0">
              <a:spcAft>
                <a:spcPts val="500"/>
              </a:spcAft>
              <a:buNone/>
            </a:pPr>
            <a:r>
              <a:rPr lang="en-US" sz="1000" dirty="0">
                <a:solidFill>
                  <a:schemeClr val="tx1"/>
                </a:solidFill>
              </a:rPr>
              <a:t>Hortonworks (2014). Hadoop Summit talk on Hadoop 2 [Slides]. slideshare.net/slideshow/t-145p230avavilapalli-mac/35985135</a:t>
            </a:r>
            <a:endParaRPr lang="en-US" sz="1000" dirty="0"/>
          </a:p>
          <a:p>
            <a:pPr algn="l" indent="0" marL="0">
              <a:spcAft>
                <a:spcPts val="500"/>
              </a:spcAft>
              <a:buNone/>
            </a:pPr>
            <a:r>
              <a:rPr lang="en-US" sz="1000" dirty="0">
                <a:solidFill>
                  <a:schemeClr val="tx1"/>
                </a:solidFill>
              </a:rPr>
              <a:t>eBay Inc. (c. 2015). Hadoop at eBay [Slides]. slideshare.net/slideshow/hadoop-at-ebay-53095161/53095161</a:t>
            </a:r>
            <a:endParaRPr lang="en-US" sz="1000" dirty="0"/>
          </a:p>
          <a:p>
            <a:pPr algn="l" indent="0" marL="0">
              <a:spcAft>
                <a:spcPts val="500"/>
              </a:spcAft>
              <a:buNone/>
            </a:pPr>
            <a:r>
              <a:rPr lang="en-US" sz="1000" dirty="0">
                <a:solidFill>
                  <a:schemeClr val="tx1"/>
                </a:solidFill>
              </a:rPr>
              <a:t>eBay Inc. (2012). HBase: the use case in eBay Cassini [Slides]. slideshare.net/slideshow/8-h-base-the-use-case-in-e-bay-cassini/13138742</a:t>
            </a:r>
            <a:endParaRPr lang="en-US" sz="1000" dirty="0"/>
          </a:p>
          <a:p>
            <a:pPr algn="l" indent="0" marL="0">
              <a:spcAft>
                <a:spcPts val="500"/>
              </a:spcAft>
              <a:buNone/>
            </a:pPr>
            <a:r>
              <a:rPr lang="en-US" sz="1000" dirty="0">
                <a:solidFill>
                  <a:schemeClr val="tx1"/>
                </a:solidFill>
              </a:rPr>
              <a:t>eBay Inc. (n.d.). HDFS storage efficiency using tiered storage. eBay Tech Blog.</a:t>
            </a:r>
            <a:endParaRPr lang="en-US" sz="1000" dirty="0"/>
          </a:p>
          <a:p>
            <a:pPr algn="l" indent="0" marL="0">
              <a:spcAft>
                <a:spcPts val="500"/>
              </a:spcAft>
              <a:buNone/>
            </a:pPr>
            <a:r>
              <a:rPr lang="en-US" sz="1000" dirty="0">
                <a:solidFill>
                  <a:schemeClr val="tx1"/>
                </a:solidFill>
              </a:rPr>
              <a:t>eBay Inc. (n.d.). Enabling HDFS federation having 1B file system objects. eBay Tech Blog.</a:t>
            </a:r>
            <a:endParaRPr lang="en-US" sz="1000" dirty="0"/>
          </a:p>
          <a:p>
            <a:pPr algn="l" indent="0" marL="0">
              <a:spcAft>
                <a:spcPts val="500"/>
              </a:spcAft>
              <a:buNone/>
            </a:pPr>
            <a:r>
              <a:rPr lang="en-US" sz="1000" dirty="0">
                <a:solidFill>
                  <a:schemeClr val="tx1"/>
                </a:solidFill>
              </a:rPr>
              <a:t>eBay Inc. (2014). Announcing Kylin: Extreme OLAP engine for big data. eBay Tech Blog.</a:t>
            </a:r>
            <a:endParaRPr lang="en-US" sz="1000" dirty="0"/>
          </a:p>
          <a:p>
            <a:pPr algn="l" indent="0" marL="0">
              <a:spcAft>
                <a:spcPts val="500"/>
              </a:spcAft>
              <a:buNone/>
            </a:pPr>
            <a:r>
              <a:rPr lang="en-US" sz="1000" dirty="0">
                <a:solidFill>
                  <a:schemeClr val="tx1"/>
                </a:solidFill>
              </a:rPr>
              <a:t>Patel, J. (2012). Cassandra at eBay [Slides]. Cassandra Summit 2012.</a:t>
            </a:r>
            <a:endParaRPr lang="en-US" sz="1000" dirty="0"/>
          </a:p>
          <a:p>
            <a:pPr algn="l" indent="0" marL="0">
              <a:spcAft>
                <a:spcPts val="500"/>
              </a:spcAft>
              <a:buNone/>
            </a:pPr>
            <a:r>
              <a:rPr lang="en-US" sz="1000" dirty="0">
                <a:solidFill>
                  <a:schemeClr val="tx1"/>
                </a:solidFill>
              </a:rPr>
              <a:t>MongoDB Inc. (n.d.). MongoDB at eBay [Slides]. slideshare.net/mongodb/mongodb-at-ebay</a:t>
            </a:r>
            <a:endParaRPr lang="en-US" sz="1000" dirty="0"/>
          </a:p>
        </p:txBody>
      </p:sp>
      <p:sp>
        <p:nvSpPr>
          <p:cNvPr id="6" name="Text 0"/>
          <p:cNvSpPr/>
          <p:nvPr>
            <p:ph idx="100" type="title" hasCustomPrompt="1"/>
          </p:nvPr>
        </p:nvSpPr>
        <p:spPr>
          <a:xfrm>
            <a:off x="457200" y="182880"/>
            <a:ext cx="8229600" cy="777240"/>
          </a:xfrm>
          <a:prstGeom prst="rect">
            <a:avLst/>
          </a:prstGeom>
          <a:noFill/>
          <a:ln/>
        </p:spPr>
        <p:txBody>
          <a:bodyPr wrap="square" lIns="0" tIns="0" rIns="0" bIns="0" rtlCol="0" anchor="t"/>
          <a:lstStyle/>
          <a:p>
            <a:pPr algn="l" indent="0" marL="0">
              <a:buNone/>
            </a:pPr>
            <a:endParaRPr lang="en-US" sz="2400" dirty="0"/>
          </a:p>
        </p:txBody>
      </p:sp>
      <p:sp>
        <p:nvSpPr>
          <p:cNvPr id="25" name="Slide Number Placeholder 0"/>
          <p:cNvSpPr>
            <a:spLocks noGrp="1"/>
          </p:cNvSpPr>
          <p:nvPr>
            <p:ph type="sldNum" sz="quarter" idx="4294967295"/>
          </p:nvPr>
        </p:nvSpPr>
        <p:spPr>
          <a:xfrm>
            <a:off x="832104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cademic Navy">
  <a:themeElements>
    <a:clrScheme name="Academic Navy">
      <a:dk1>
        <a:srgbClr val="2D2D2D"/>
      </a:dk1>
      <a:lt1>
        <a:srgbClr val="FFFFFF"/>
      </a:lt1>
      <a:dk2>
        <a:srgbClr val="1F4E79"/>
      </a:dk2>
      <a:lt2>
        <a:srgbClr val="EBF3FA"/>
      </a:lt2>
      <a:accent1>
        <a:srgbClr val="2E75B6"/>
      </a:accent1>
      <a:accent2>
        <a:srgbClr val="C55A11"/>
      </a:accent2>
      <a:accent3>
        <a:srgbClr val="777777"/>
      </a:accent3>
      <a:accent4>
        <a:srgbClr val="FFF2CC"/>
      </a:accent4>
      <a:accent5>
        <a:srgbClr val="1A3A5C"/>
      </a:accent5>
      <a:accent6>
        <a:srgbClr val="CCCCCC"/>
      </a:accent6>
      <a:hlink>
        <a:srgbClr val="2E75B6"/>
      </a:hlink>
      <a:folHlink>
        <a:srgbClr val="777777"/>
      </a:folHlink>
    </a:clrScheme>
    <a:fontScheme name="Academic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eBay: from SQL warehouses to Hadoop and NoSQL</dc:title>
  <dc:subject>Big Data Analytics FA1 - eBay case study mapped to Unit 1 and Unit 2</dc:subject>
  <dc:creator>PptxGenJS</dc:creator>
  <cp:lastModifiedBy>PptxGenJS</cp:lastModifiedBy>
  <cp:revision>1</cp:revision>
  <dcterms:created xsi:type="dcterms:W3CDTF">2026-10-21T08:34:52Z</dcterms:created>
  <dcterms:modified xsi:type="dcterms:W3CDTF">2026-10-21T08:34:52Z</dcterms:modified>
</cp:coreProperties>
</file>