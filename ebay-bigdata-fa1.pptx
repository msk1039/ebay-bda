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6a362c7-9fe2-cf40-eeac-9acfaa33ea65}">
          <p14:sldIdLst>
            <p14:sldId id="256"/>
            <p14:sldId id="257"/>
          </p14:sldIdLst>
        </p14:section>
        <p14:section name="Unit 1: Big Data" id="{af906c50-96de-9c8f-6847-2f6d21b3ca17}">
          <p14:sldIdLst>
            <p14:sldId id="258"/>
            <p14:sldId id="259"/>
          </p14:sldIdLst>
        </p14:section>
        <p14:section name="Unit 2: Hadoop and NoSQL" id="{fe3dc58a-9ead-5f2b-dea1-4dd1162e27f7}">
          <p14:sldIdLst>
            <p14:sldId id="260"/>
            <p14:sldId id="261"/>
          </p14:sldIdLst>
        </p14:section>
        <p14:section name="Mind map" id="{5846ab3c-9892-596f-7082-3ef695132204}">
          <p14:sldIdLst>
            <p14:sldId id="262"/>
            <p14:sldId id="263"/>
          </p14:sldIdLst>
        </p14:section>
        <p14:section name="Close" id="{4a80252d-90d8-4df2-4aa4-db78d788b91e}">
          <p14:sldIdLst>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group and the case: eBay, an online marketplace, and how its data pipeline moved from relational warehouses to Hadoop and NoSQL. Case study for FA1 (Unit 1: Introduction to Big Data, Unit 2: Hadoop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2-MINUTE TALK (about 1.5 minutes spoken). Use slides 2, 7 and 9; the rest are backup for the viva.
Why Big Data matters: eBay's data outgrew one database. It has 300 million searches a day, and in 2009 its log warehouse took in 150 billion new records a day. That is Volume, Velocity and Variety together.
Why Hadoop is needed: relational warehouses like Teradata and Greenplum scale up and need a fixed schema. Hadoop scales out on cheap nodes and keeps three copies of every block.
Which Hadoop component stores data: HDFS. YARN schedules resources and MapReduce processes the data, for example building eBay's search indexes.
Which NoSQL we recommend: HBase for Hadoop-linked work, because it sits on HDFS and MapReduce can bulk-load it. eBay also uses Cassandra for fast writes and MongoDB for flexible product data.
Industry application: e-commerce - search, recommendations and fraud detection. The mind map shows how every Unit 1 and Unit 2 topic connects through eBay's pipeline, with seven cross-links.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VIVA - Explain the 5 Vs: Volume = how much data; Velocity = how fast it arrives and must be processed; Variety = many formats (structured, semi-structured, unstructured); Veracity = how trustworthy or clean it is; Value = the business benefit extracted from it. eBay example for each is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VIVA - Why can't RDBMS handle Big Data efficiently? (1) It scales up on bigger machines, which gets expensive and hits a ceiling; (2) it needs a fixed schema, so semi-structured logs and images fit badly - eBay packed name=value text into one SQL column; (3) heavy joins over huge tables are slow. A distributed system scales out by adding commodity nodes and tolerates node failure. Note: eBay did not drop SQL; in 2010 it ran Teradata (10+ PB) beside Hadoop, and one analyst reported eBay then saw Hadoop as limited for joins.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VIVA - Role of HDFS: distributed storage; a file is split into 128-256 MB blocks held on DataNodes, while the NameNode keeps the map of which blocks belong to which file. Why replication: each block has 3 copies on different machines, so a failed node loses no data and reads can be served from another copy. YARN: the cluster's resource manager - the Resource Manager hands out CPU and memory, Node Managers run the tasks - and it lets Spark, Storm and Tez share the cluster with MapReduce. MapReduce example from eBay: count searches per query - Map emits (query, 1) for every search, Reduce adds them up. eBay uses MapReduce to build its Cassini search indexes. How does eBay use Hadoop: store (HDFS, hundreds of PB), schedule (YARN), process (MapReduce, Hive, Spark) and feed HBase, Cassandra and MongoDB.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VIVA - HBase vs MongoDB: HBase is a wide-column store built on HDFS, with row-key lookups and range scans, strong consistency per row, and bulk loading from MapReduce - best for Hadoop-linked, huge, sparse tables. MongoDB is a document store (JSON-like documents) with a flexible schema and rich queries, with its own replication and sharding - best for varied catalogue-style data. Cassandra is a masterless wide-column store tuned for very fast writes across many nodes. Which would we recommend: HBase for Hadoop-linked workloads (eBay's Cassini search and Kylin OLAP both use it); the course's e-commerce hint points to MongoDB for the product catalogue. CAUTION: the MongoDB row comes from summaries of an eBay talk (MongoDB at eBay) that we have not read in full - check it before presenting.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mind map follows the FA1 syllabus tree: Big Data Analytics at the centre, Unit 1 on the left, Unit 2 on the right. The syllabus's 'Facebook Case Study' leaf is replaced by 'eBay Case Study'. Orange dashed lines 1-7 are the cross-links explained on the next slide. For the 'use an AI tool' criterion, recreate this map in Napkin AI, XMind, Canva or Miro from the same text and keep this slide as the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seven cross-links drawn on the mind map. The FA1 brief asks for at least five meaningful cross-links; each pairs a Unit 1 problem or concept with the Unit 2 component that answers it, with an eBay fact as proof. Example chain from the brief: 5 Vs -&gt; Need for Hadoop -&gt; Distributed Storage -&gt; HDFS -&gt; MapReduce -&gt; Analytics.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Stay on this slide during questions. Invite feedback: 'Are there questions or feedback?'. Likely viva: 5 Vs (slide 3), why RDBMS can't cope (slide 4), role of HDFS and replication, YARN, MapReduce example (slide 5), HBase vs MongoDB (slide 6), how eBay uses Hadoop (slides 2,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Dates marked n.d. were not shown on the pages we read. The MongoDB at eBay entry was found through search summaries; open it and confirm the claims before presenting. The 2013 and 2014 figures are from eBay conference slides and are not always consistent with each other (e.g. cluster sizes), so the slides use ranges and 'hundreds of PB' instead of single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chemeClr val="tx2"/>
          </a:solidFill>
          <a:ln/>
        </p:spPr>
      </p:sp>
      <p:sp>
        <p:nvSpPr>
          <p:cNvPr id="3" name="Text 1"/>
          <p:cNvSpPr/>
          <p:nvPr>
            <p:ph idx="101" type="title" hasCustomPrompt="1"/>
          </p:nvPr>
        </p:nvSpPr>
        <p:spPr>
          <a:xfrm>
            <a:off x="640080" y="1097280"/>
            <a:ext cx="7863840" cy="155448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spTree>
      <p:nvGrpSpPr>
        <p:cNvPr id="1" name=""/>
        <p:cNvGrpSpPr/>
        <p:nvPr/>
      </p:nvGrpSpPr>
      <p:grpSpPr>
        <a:xfrm>
          <a:off x="0" y="0"/>
          <a:ext cx="0" cy="0"/>
          <a:chOff x="0" y="0"/>
          <a:chExt cx="0" cy="0"/>
        </a:xfrm>
      </p:grpSpPr>
      <p:sp>
        <p:nvSpPr>
          <p:cNvPr id="2" name="Text 0"/>
          <p:cNvSpPr/>
          <p:nvPr>
            <p:ph idx="100" type="title" hasCustomPrompt="1"/>
          </p:nvPr>
        </p:nvSpPr>
        <p:spPr>
          <a:xfrm>
            <a:off x="457200" y="182880"/>
            <a:ext cx="8229600" cy="777240"/>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832104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E">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chemeClr val="tx2"/>
          </a:solidFill>
          <a:ln/>
        </p:spPr>
      </p:sp>
      <p:sp>
        <p:nvSpPr>
          <p:cNvPr id="3" name="Text 1"/>
          <p:cNvSpPr/>
          <p:nvPr>
            <p:ph idx="101" type="title" hasCustomPrompt="1"/>
          </p:nvPr>
        </p:nvSpPr>
        <p:spPr>
          <a:xfrm>
            <a:off x="457200" y="228600"/>
            <a:ext cx="8229600" cy="777240"/>
          </a:xfrm>
          <a:prstGeom prst="rect">
            <a:avLst/>
          </a:prstGeom>
          <a:noFill/>
          <a:ln/>
        </p:spPr>
        <p:txBody>
          <a:bodyPr wrap="square" rtlCol="0"/>
          <a:lstStyle>
            <a:lvl1pPr algn="l" indent="0" marL="0">
              <a:buNone/>
              <a:defRPr lang="en-US" sz="2400" b="1" dirty="0">
                <a:solidFill>
                  <a:schemeClr val="bg1"/>
                </a:solidFill>
              </a:defRPr>
            </a:lvl1pPr>
          </a:lstStyle>
          <a:p>
            <a:pPr algn="l" indent="0" marL="0">
              <a:buNone/>
            </a:pPr>
            <a:endParaRPr lang="en-US" sz="2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1"/>
          <p:cNvSpPr/>
          <p:nvPr>
            <p:ph idx="101" type="title" hasCustomPrompt="1"/>
          </p:nvPr>
        </p:nvSpPr>
        <p:spPr>
          <a:xfrm>
            <a:off x="640080" y="1097280"/>
            <a:ext cx="7863840" cy="1554480"/>
          </a:xfrm>
          <a:prstGeom prst="rect">
            <a:avLst/>
          </a:prstGeom>
          <a:noFill/>
          <a:ln/>
        </p:spPr>
        <p:txBody>
          <a:bodyPr wrap="square" lIns="0" tIns="0" rIns="0" bIns="0" rtlCol="0" anchor="t"/>
          <a:lstStyle/>
          <a:p>
            <a:pPr algn="l" indent="0" marL="0">
              <a:buNone/>
            </a:pPr>
            <a:r>
              <a:rPr lang="en-US" sz="3200" b="1" dirty="0">
                <a:solidFill>
                  <a:schemeClr val="bg1"/>
                </a:solidFill>
              </a:rPr>
              <a:t>eBay moved from SQL warehouses to Hadoop and NoSQL to handle Big Data</a:t>
            </a:r>
            <a:endParaRPr lang="en-US" sz="3200" dirty="0"/>
          </a:p>
        </p:txBody>
      </p:sp>
      <p:sp>
        <p:nvSpPr>
          <p:cNvPr id="4" name="Subtitle"/>
          <p:cNvSpPr txBox="1"/>
          <p:nvPr/>
        </p:nvSpPr>
        <p:spPr>
          <a:xfrm>
            <a:off x="640080" y="2926080"/>
            <a:ext cx="7863840" cy="365760"/>
          </a:xfrm>
          <a:prstGeom prst="rect">
            <a:avLst/>
          </a:prstGeom>
          <a:noFill/>
          <a:ln/>
        </p:spPr>
        <p:txBody>
          <a:bodyPr wrap="square" lIns="0" tIns="0" rIns="0" bIns="0" rtlCol="0" anchor="t"/>
          <a:lstStyle/>
          <a:p>
            <a:pPr algn="l" indent="0" marL="0">
              <a:buNone/>
            </a:pPr>
            <a:r>
              <a:rPr lang="en-US" sz="1600" dirty="0">
                <a:solidFill>
                  <a:schemeClr val="bg2"/>
                </a:solidFill>
              </a:rPr>
              <a:t>Big Data Analytics  ·  FA1 mind-map case study  ·  Units 1 and 2</a:t>
            </a:r>
            <a:endParaRPr lang="en-US" sz="1600" dirty="0"/>
          </a:p>
        </p:txBody>
      </p:sp>
      <p:sp>
        <p:nvSpPr>
          <p:cNvPr id="5" name="Authors"/>
          <p:cNvSpPr txBox="1"/>
          <p:nvPr/>
        </p:nvSpPr>
        <p:spPr>
          <a:xfrm>
            <a:off x="640080" y="3429000"/>
            <a:ext cx="7863840" cy="365760"/>
          </a:xfrm>
          <a:prstGeom prst="rect">
            <a:avLst/>
          </a:prstGeom>
          <a:noFill/>
          <a:ln/>
        </p:spPr>
        <p:txBody>
          <a:bodyPr wrap="square" lIns="0" tIns="0" rIns="0" bIns="0" rtlCol="0" anchor="t"/>
          <a:lstStyle/>
          <a:p>
            <a:pPr algn="l" indent="0" marL="0">
              <a:buNone/>
            </a:pPr>
            <a:r>
              <a:rPr lang="en-US" sz="1500" dirty="0">
                <a:solidFill>
                  <a:schemeClr val="bg2"/>
                </a:solidFill>
              </a:rPr>
              <a:t>[Group members]  ·  PCCoE, B.Tech  ·  October 2026</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p:nvPr>
            <p:ph idx="100" type="title" hasCustomPrompt="1"/>
          </p:nvPr>
        </p:nvSpPr>
        <p:spPr>
          <a:xfrm>
            <a:off x="457200" y="182880"/>
            <a:ext cx="8229600" cy="777240"/>
          </a:xfrm>
          <a:prstGeom prst="rect">
            <a:avLst/>
          </a:prstGeom>
          <a:noFill/>
          <a:ln/>
        </p:spPr>
        <p:txBody>
          <a:bodyPr wrap="square" lIns="0" tIns="0" rIns="0" bIns="0" rtlCol="0" anchor="t"/>
          <a:lstStyle/>
          <a:p>
            <a:pPr algn="l" indent="0" marL="0">
              <a:buNone/>
            </a:pPr>
            <a:r>
              <a:rPr lang="en-US" sz="2400" b="1" dirty="0">
                <a:solidFill>
                  <a:schemeClr val="tx2"/>
                </a:solidFill>
              </a:rPr>
              <a:t>This talk asks: how did eBay use Hadoop and NoSQL where relational databases fell short?</a:t>
            </a:r>
            <a:endParaRPr lang="en-US" sz="2400" dirty="0"/>
          </a:p>
        </p:txBody>
      </p:sp>
      <p:sp>
        <p:nvSpPr>
          <p:cNvPr id="4" name="Research question"/>
          <p:cNvSpPr txBox="1"/>
          <p:nvPr/>
        </p:nvSpPr>
        <p:spPr>
          <a:xfrm>
            <a:off x="914400" y="1188720"/>
            <a:ext cx="7315200" cy="1188720"/>
          </a:xfrm>
          <a:prstGeom prst="roundRect">
            <a:avLst>
              <a:gd name="adj" fmla="val 7692"/>
            </a:avLst>
          </a:prstGeom>
          <a:solidFill>
            <a:schemeClr val="bg2"/>
          </a:solidFill>
          <a:ln w="19050">
            <a:solidFill>
              <a:schemeClr val="accent1"/>
            </a:solidFill>
          </a:ln>
        </p:spPr>
        <p:txBody>
          <a:bodyPr wrap="square" lIns="152400" tIns="152400" rIns="152400" bIns="152400" rtlCol="0" anchor="ctr"/>
          <a:lstStyle/>
          <a:p>
            <a:pPr algn="ctr" indent="0" marL="0">
              <a:buNone/>
            </a:pPr>
            <a:r>
              <a:rPr lang="en-US" sz="2000" dirty="0">
                <a:solidFill>
                  <a:schemeClr val="tx2"/>
                </a:solidFill>
              </a:rPr>
              <a:t>Which Hadoop components store and process eBay's data, and which NoSQL databases serve it?</a:t>
            </a:r>
            <a:endParaRPr lang="en-US" sz="2000" dirty="0"/>
          </a:p>
        </p:txBody>
      </p:sp>
      <p:sp>
        <p:nvSpPr>
          <p:cNvPr id="5" name="Stat card 1"/>
          <p:cNvSpPr txBox="1"/>
          <p:nvPr/>
        </p:nvSpPr>
        <p:spPr>
          <a:xfrm>
            <a:off x="457200" y="2743200"/>
            <a:ext cx="2560320" cy="1417320"/>
          </a:xfrm>
          <a:prstGeom prst="rect">
            <a:avLst/>
          </a:prstGeom>
          <a:solidFill>
            <a:schemeClr val="bg1"/>
          </a:solidFill>
          <a:ln w="12700">
            <a:solidFill>
              <a:schemeClr val="accent6"/>
            </a:solidFill>
          </a:ln>
        </p:spPr>
        <p:txBody>
          <a:bodyPr wrap="square" lIns="127000" tIns="127000" rIns="127000" bIns="127000" rtlCol="0" anchor="ctr"/>
          <a:lstStyle/>
          <a:p>
            <a:pPr algn="l" indent="0" marL="0">
              <a:buNone/>
            </a:pPr>
            <a:r>
              <a:rPr lang="en-US" sz="3600" b="1" dirty="0">
                <a:solidFill>
                  <a:schemeClr val="tx2"/>
                </a:solidFill>
              </a:rPr>
              <a:t>120M+</a:t>
            </a:r>
            <a:endParaRPr lang="en-US" sz="3600" dirty="0"/>
          </a:p>
          <a:p>
            <a:pPr algn="l" indent="0" marL="0">
              <a:buNone/>
            </a:pPr>
            <a:r>
              <a:rPr lang="en-US" sz="1600" dirty="0">
                <a:solidFill>
                  <a:schemeClr val="tx1"/>
                </a:solidFill>
              </a:rPr>
              <a:t>active users</a:t>
            </a:r>
            <a:endParaRPr lang="en-US" sz="3600" dirty="0"/>
          </a:p>
        </p:txBody>
      </p:sp>
      <p:sp>
        <p:nvSpPr>
          <p:cNvPr id="6" name="Stat card 2"/>
          <p:cNvSpPr txBox="1"/>
          <p:nvPr/>
        </p:nvSpPr>
        <p:spPr>
          <a:xfrm>
            <a:off x="3291840" y="2743200"/>
            <a:ext cx="2560320" cy="1417320"/>
          </a:xfrm>
          <a:prstGeom prst="rect">
            <a:avLst/>
          </a:prstGeom>
          <a:solidFill>
            <a:schemeClr val="bg1"/>
          </a:solidFill>
          <a:ln w="12700">
            <a:solidFill>
              <a:schemeClr val="accent6"/>
            </a:solidFill>
          </a:ln>
        </p:spPr>
        <p:txBody>
          <a:bodyPr wrap="square" lIns="127000" tIns="127000" rIns="127000" bIns="127000" rtlCol="0" anchor="ctr"/>
          <a:lstStyle/>
          <a:p>
            <a:pPr algn="l" indent="0" marL="0">
              <a:buNone/>
            </a:pPr>
            <a:r>
              <a:rPr lang="en-US" sz="3600" b="1" dirty="0">
                <a:solidFill>
                  <a:schemeClr val="tx2"/>
                </a:solidFill>
              </a:rPr>
              <a:t>300M+</a:t>
            </a:r>
            <a:endParaRPr lang="en-US" sz="3600" dirty="0"/>
          </a:p>
          <a:p>
            <a:pPr algn="l" indent="0" marL="0">
              <a:buNone/>
            </a:pPr>
            <a:r>
              <a:rPr lang="en-US" sz="1600" dirty="0">
                <a:solidFill>
                  <a:schemeClr val="tx1"/>
                </a:solidFill>
              </a:rPr>
              <a:t>searches every day</a:t>
            </a:r>
            <a:endParaRPr lang="en-US" sz="3600" dirty="0"/>
          </a:p>
        </p:txBody>
      </p:sp>
      <p:sp>
        <p:nvSpPr>
          <p:cNvPr id="7" name="Stat card 3"/>
          <p:cNvSpPr txBox="1"/>
          <p:nvPr/>
        </p:nvSpPr>
        <p:spPr>
          <a:xfrm>
            <a:off x="6126480" y="2743200"/>
            <a:ext cx="2560320" cy="1417320"/>
          </a:xfrm>
          <a:prstGeom prst="rect">
            <a:avLst/>
          </a:prstGeom>
          <a:solidFill>
            <a:schemeClr val="bg1"/>
          </a:solidFill>
          <a:ln w="12700">
            <a:solidFill>
              <a:schemeClr val="accent6"/>
            </a:solidFill>
          </a:ln>
        </p:spPr>
        <p:txBody>
          <a:bodyPr wrap="square" lIns="127000" tIns="127000" rIns="127000" bIns="127000" rtlCol="0" anchor="ctr"/>
          <a:lstStyle/>
          <a:p>
            <a:pPr algn="l" indent="0" marL="0">
              <a:buNone/>
            </a:pPr>
            <a:r>
              <a:rPr lang="en-US" sz="3600" b="1" dirty="0">
                <a:solidFill>
                  <a:schemeClr val="tx2"/>
                </a:solidFill>
              </a:rPr>
              <a:t>350M+</a:t>
            </a:r>
            <a:endParaRPr lang="en-US" sz="3600" dirty="0"/>
          </a:p>
          <a:p>
            <a:pPr algn="l" indent="0" marL="0">
              <a:buNone/>
            </a:pPr>
            <a:r>
              <a:rPr lang="en-US" sz="1600" dirty="0">
                <a:solidFill>
                  <a:schemeClr val="tx1"/>
                </a:solidFill>
              </a:rPr>
              <a:t>items for sale</a:t>
            </a:r>
            <a:endParaRPr lang="en-US" sz="3600" dirty="0"/>
          </a:p>
        </p:txBody>
      </p:sp>
      <p:sp>
        <p:nvSpPr>
          <p:cNvPr id="8" name="Source citation"/>
          <p:cNvSpPr txBox="1"/>
          <p:nvPr/>
        </p:nvSpPr>
        <p:spPr>
          <a:xfrm>
            <a:off x="457200" y="4681728"/>
            <a:ext cx="7680960" cy="274320"/>
          </a:xfrm>
          <a:prstGeom prst="rect">
            <a:avLst/>
          </a:prstGeom>
          <a:noFill/>
          <a:ln/>
        </p:spPr>
        <p:txBody>
          <a:bodyPr wrap="square" lIns="0" tIns="0" rIns="0" bIns="0" rtlCol="0" anchor="t"/>
          <a:lstStyle/>
          <a:p>
            <a:pPr algn="l" indent="0" marL="0">
              <a:buNone/>
            </a:pPr>
            <a:r>
              <a:rPr lang="en-US" sz="1200" dirty="0">
                <a:solidFill>
                  <a:schemeClr val="accent3"/>
                </a:solidFill>
              </a:rPr>
              <a:t>eBay scale as reported in Hadoop and HBase @ eBay (c. 2013).</a:t>
            </a:r>
            <a:endParaRPr lang="en-US" sz="1200" dirty="0"/>
          </a:p>
        </p:txBody>
      </p:sp>
      <p:sp>
        <p:nvSpPr>
          <p:cNvPr id="25" name="Slide Number Placeholder 0"/>
          <p:cNvSpPr>
            <a:spLocks noGrp="1"/>
          </p:cNvSpPr>
          <p:nvPr>
            <p:ph type="sldNum" sz="quarter" idx="4294967295"/>
          </p:nvPr>
        </p:nvSpPr>
        <p:spPr>
          <a:xfrm>
            <a:off x="832104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0"/>
          <p:cNvSpPr/>
          <p:nvPr>
            <p:ph idx="100" type="title" hasCustomPrompt="1"/>
          </p:nvPr>
        </p:nvSpPr>
        <p:spPr>
          <a:xfrm>
            <a:off x="457200" y="182880"/>
            <a:ext cx="8229600" cy="777240"/>
          </a:xfrm>
          <a:prstGeom prst="rect">
            <a:avLst/>
          </a:prstGeom>
          <a:noFill/>
          <a:ln/>
        </p:spPr>
        <p:txBody>
          <a:bodyPr wrap="square" lIns="0" tIns="0" rIns="0" bIns="0" rtlCol="0" anchor="t"/>
          <a:lstStyle/>
          <a:p>
            <a:pPr algn="l" indent="0" marL="0">
              <a:buNone/>
            </a:pPr>
            <a:r>
              <a:rPr lang="en-US" sz="2400" b="1" dirty="0">
                <a:solidFill>
                  <a:schemeClr val="tx2"/>
                </a:solidFill>
              </a:rPr>
              <a:t>eBay's data shows all five Vs, so one relational warehouse could not cope</a:t>
            </a:r>
            <a:endParaRPr lang="en-US" sz="2400" dirty="0"/>
          </a:p>
        </p:txBody>
      </p:sp>
      <p:graphicFrame>
        <p:nvGraphicFramePr>
          <p:cNvPr id="4" name="5 Vs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463040"/>
                <a:gridCol w="6766560"/>
              </a:tblGrid>
              <a:tr h="365760">
                <a:tc>
                  <a:txBody>
                    <a:bodyPr/>
                    <a:lstStyle/>
                    <a:p>
                      <a:pPr indent="0" marL="0">
                        <a:buNone/>
                      </a:pPr>
                      <a:r>
                        <a:rPr lang="en-US" sz="1600" b="1" dirty="0">
                          <a:solidFill>
                            <a:schemeClr val="bg1"/>
                          </a:solidFill>
                        </a:rPr>
                        <a:t>V</a:t>
                      </a:r>
                      <a:endParaRPr lang="en-US" sz="1600" dirty="0"/>
                    </a:p>
                  </a:txBody>
                  <a:tcPr marL="91440" marR="91440" marT="36576" marB="36576" anchor="ctr">
                    <a:lnL w="9525" cap="flat" cmpd="sng" algn="ctr">
                      <a:solidFill>
                        <a:schemeClr val="accent6"/>
                      </a:solidFill>
                      <a:prstDash val="solid"/>
                      <a:round/>
                      <a:headEnd type="none" w="med" len="med"/>
                      <a:tailEnd type="none" w="med" len="med"/>
                    </a:lnL>
                    <a:lnR w="9525" cap="flat" cmpd="sng" algn="ctr">
                      <a:solidFill>
                        <a:schemeClr val="accent6"/>
                      </a:solidFill>
                      <a:prstDash val="solid"/>
                      <a:round/>
                      <a:headEnd type="none" w="med" len="med"/>
                      <a:tailEnd type="none" w="med" len="med"/>
                    </a:lnR>
                    <a:lnT w="9525" cap="flat" cmpd="sng" algn="ctr">
                      <a:solidFill>
                        <a:schemeClr val="accent6"/>
                      </a:solidFill>
                      <a:prstDash val="solid"/>
                      <a:round/>
                      <a:headEnd type="none" w="med" len="med"/>
                      <a:tailEnd type="none" w="med" len="med"/>
                    </a:lnT>
                    <a:lnB w="9525" cap="flat" cmpd="sng" algn="ctr">
                      <a:solidFill>
                        <a:schemeClr val="accent6"/>
                      </a:solidFill>
                      <a:prstDash val="solid"/>
                      <a:round/>
                      <a:headEnd type="none" w="med" len="med"/>
                      <a:tailEnd type="none" w="med" len="med"/>
                    </a:lnB>
                    <a:solidFill>
                      <a:schemeClr val="tx2"/>
                    </a:solidFill>
                  </a:tcPr>
                </a:tc>
                <a:tc>
                  <a:txBody>
                    <a:bodyPr/>
                    <a:lstStyle/>
                    <a:p>
                      <a:pPr indent="0" marL="0">
                        <a:buNone/>
                      </a:pPr>
                      <a:r>
                        <a:rPr lang="en-US" sz="1600" b="1" dirty="0">
                          <a:solidFill>
                            <a:schemeClr val="bg1"/>
                          </a:solidFill>
                        </a:rPr>
                        <a:t>eBay evidence</a:t>
                      </a:r>
                      <a:endParaRPr lang="en-US" sz="1600" dirty="0"/>
                    </a:p>
                  </a:txBody>
                  <a:tcPr marL="91440" marR="91440" marT="36576" marB="36576" anchor="ctr">
                    <a:lnL w="9525" cap="flat" cmpd="sng" algn="ctr">
                      <a:solidFill>
                        <a:schemeClr val="accent6"/>
                      </a:solidFill>
                      <a:prstDash val="solid"/>
                      <a:round/>
                      <a:headEnd type="none" w="med" len="med"/>
                      <a:tailEnd type="none" w="med" len="med"/>
                    </a:lnL>
                    <a:lnR w="9525" cap="flat" cmpd="sng" algn="ctr">
                      <a:solidFill>
                        <a:schemeClr val="accent6"/>
                      </a:solidFill>
                      <a:prstDash val="solid"/>
                      <a:round/>
                      <a:headEnd type="none" w="med" len="med"/>
                      <a:tailEnd type="none" w="med" len="med"/>
                    </a:lnR>
                    <a:lnT w="9525" cap="flat" cmpd="sng" algn="ctr">
                      <a:solidFill>
                        <a:schemeClr val="accent6"/>
                      </a:solidFill>
                      <a:prstDash val="solid"/>
                      <a:round/>
                      <a:headEnd type="none" w="med" len="med"/>
                      <a:tailEnd type="none" w="med" len="med"/>
                    </a:lnT>
                    <a:lnB w="9525" cap="flat" cmpd="sng" algn="ctr">
                      <a:solidFill>
                        <a:schemeClr val="accent6"/>
                      </a:solidFill>
                      <a:prstDash val="solid"/>
                      <a:round/>
                      <a:headEnd type="none" w="med" len="med"/>
                      <a:tailEnd type="none" w="med" len="med"/>
                    </a:lnB>
                    <a:solidFill>
                      <a:schemeClr val="tx2"/>
                    </a:solidFill>
                  </a:tcPr>
                </a:tc>
              </a:tr>
              <a:tr h="502920">
                <a:tc>
                  <a:txBody>
                    <a:bodyPr/>
                    <a:lstStyle/>
                    <a:p>
                      <a:pPr indent="0" marL="0">
                        <a:buNone/>
                      </a:pPr>
                      <a:r>
                        <a:rPr lang="en-US" sz="1600" b="1" dirty="0">
                          <a:solidFill>
                            <a:schemeClr val="tx2"/>
                          </a:solidFill>
                        </a:rPr>
                        <a:t>Volume</a:t>
                      </a:r>
                      <a:endParaRPr lang="en-US" sz="1600" dirty="0"/>
                    </a:p>
                  </a:txBody>
                  <a:tcPr marL="91440" marR="91440" marT="36576" marB="36576" anchor="ctr">
                    <a:lnL w="9525" cap="flat" cmpd="sng" algn="ctr">
                      <a:solidFill>
                        <a:schemeClr val="accent6"/>
                      </a:solidFill>
                      <a:prstDash val="solid"/>
                      <a:round/>
                      <a:headEnd type="none" w="med" len="med"/>
                      <a:tailEnd type="none" w="med" len="med"/>
                    </a:lnL>
                    <a:lnR w="9525" cap="flat" cmpd="sng" algn="ctr">
                      <a:solidFill>
                        <a:schemeClr val="accent6"/>
                      </a:solidFill>
                      <a:prstDash val="solid"/>
                      <a:round/>
                      <a:headEnd type="none" w="med" len="med"/>
                      <a:tailEnd type="none" w="med" len="med"/>
                    </a:lnR>
                    <a:lnT w="9525" cap="flat" cmpd="sng" algn="ctr">
                      <a:solidFill>
                        <a:schemeClr val="accent6"/>
                      </a:solidFill>
                      <a:prstDash val="solid"/>
                      <a:round/>
                      <a:headEnd type="none" w="med" len="med"/>
                      <a:tailEnd type="none" w="med" len="med"/>
                    </a:lnT>
                    <a:lnB w="9525" cap="flat" cmpd="sng" algn="ctr">
                      <a:solidFill>
                        <a:schemeClr val="accent6"/>
                      </a:solidFill>
                      <a:prstDash val="solid"/>
                      <a:round/>
                      <a:headEnd type="none" w="med" len="med"/>
                      <a:tailEnd type="none" w="med" len="med"/>
                    </a:lnB>
                    <a:solidFill>
                      <a:schemeClr val="accent4"/>
                    </a:solidFill>
                  </a:tcPr>
                </a:tc>
                <a:tc>
                  <a:txBody>
                    <a:bodyPr/>
                    <a:lstStyle/>
                    <a:p>
                      <a:pPr indent="0" marL="0">
                        <a:buNone/>
                      </a:pPr>
                      <a:r>
                        <a:rPr lang="en-US" sz="1600" dirty="0">
                          <a:solidFill>
                            <a:schemeClr val="tx1"/>
                          </a:solidFill>
                        </a:rPr>
                        <a:t>8–10 TB of new data a day into eBay's first large Hadoop cluster</a:t>
                      </a:r>
                      <a:endParaRPr lang="en-US" sz="1600" dirty="0"/>
                    </a:p>
                  </a:txBody>
                  <a:tcPr marL="91440" marR="91440" marT="36576" marB="36576" anchor="ctr">
                    <a:lnL w="9525" cap="flat" cmpd="sng" algn="ctr">
                      <a:solidFill>
                        <a:schemeClr val="accent6"/>
                      </a:solidFill>
                      <a:prstDash val="solid"/>
                      <a:round/>
                      <a:headEnd type="none" w="med" len="med"/>
                      <a:tailEnd type="none" w="med" len="med"/>
                    </a:lnL>
                    <a:lnR w="9525" cap="flat" cmpd="sng" algn="ctr">
                      <a:solidFill>
                        <a:schemeClr val="accent6"/>
                      </a:solidFill>
                      <a:prstDash val="solid"/>
                      <a:round/>
                      <a:headEnd type="none" w="med" len="med"/>
                      <a:tailEnd type="none" w="med" len="med"/>
                    </a:lnR>
                    <a:lnT w="9525" cap="flat" cmpd="sng" algn="ctr">
                      <a:solidFill>
                        <a:schemeClr val="accent6"/>
                      </a:solidFill>
                      <a:prstDash val="solid"/>
                      <a:round/>
                      <a:headEnd type="none" w="med" len="med"/>
                      <a:tailEnd type="none" w="med" len="med"/>
                    </a:lnT>
                    <a:lnB w="9525" cap="flat" cmpd="sng" algn="ctr">
                      <a:solidFill>
                        <a:schemeClr val="accent6"/>
                      </a:solidFill>
                      <a:prstDash val="solid"/>
                      <a:round/>
                      <a:headEnd type="none" w="med" len="med"/>
                      <a:tailEnd type="none" w="med" len="med"/>
                    </a:lnB>
                  </a:tcPr>
                </a:tc>
              </a:tr>
              <a:tr h="502920">
                <a:tc>
                  <a:txBody>
                    <a:bodyPr/>
                    <a:lstStyle/>
                    <a:p>
                      <a:pPr indent="0" marL="0">
                        <a:buNone/>
                      </a:pPr>
                      <a:r>
                        <a:rPr lang="en-US" sz="1600" b="1" dirty="0">
                          <a:solidFill>
                            <a:schemeClr val="tx2"/>
                          </a:solidFill>
                        </a:rPr>
                        <a:t>Velocity</a:t>
                      </a:r>
                      <a:endParaRPr lang="en-US" sz="1600" dirty="0"/>
                    </a:p>
                  </a:txBody>
                  <a:tcPr marL="91440" marR="91440" marT="36576" marB="36576" anchor="ctr">
                    <a:lnL w="9525" cap="flat" cmpd="sng" algn="ctr">
                      <a:solidFill>
                        <a:schemeClr val="accent6"/>
                      </a:solidFill>
                      <a:prstDash val="solid"/>
                      <a:round/>
                      <a:headEnd type="none" w="med" len="med"/>
                      <a:tailEnd type="none" w="med" len="med"/>
                    </a:lnL>
                    <a:lnR w="9525" cap="flat" cmpd="sng" algn="ctr">
                      <a:solidFill>
                        <a:schemeClr val="accent6"/>
                      </a:solidFill>
                      <a:prstDash val="solid"/>
                      <a:round/>
                      <a:headEnd type="none" w="med" len="med"/>
                      <a:tailEnd type="none" w="med" len="med"/>
                    </a:lnR>
                    <a:lnT w="9525" cap="flat" cmpd="sng" algn="ctr">
                      <a:solidFill>
                        <a:schemeClr val="accent6"/>
                      </a:solidFill>
                      <a:prstDash val="solid"/>
                      <a:round/>
                      <a:headEnd type="none" w="med" len="med"/>
                      <a:tailEnd type="none" w="med" len="med"/>
                    </a:lnT>
                    <a:lnB w="9525" cap="flat" cmpd="sng" algn="ctr">
                      <a:solidFill>
                        <a:schemeClr val="accent6"/>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150 billion new log records a day (2009); 400M+ Cassandra writes a day</a:t>
                      </a:r>
                      <a:endParaRPr lang="en-US" sz="1600" dirty="0"/>
                    </a:p>
                  </a:txBody>
                  <a:tcPr marL="91440" marR="91440" marT="36576" marB="36576" anchor="ctr">
                    <a:lnL w="9525" cap="flat" cmpd="sng" algn="ctr">
                      <a:solidFill>
                        <a:schemeClr val="accent6"/>
                      </a:solidFill>
                      <a:prstDash val="solid"/>
                      <a:round/>
                      <a:headEnd type="none" w="med" len="med"/>
                      <a:tailEnd type="none" w="med" len="med"/>
                    </a:lnL>
                    <a:lnR w="9525" cap="flat" cmpd="sng" algn="ctr">
                      <a:solidFill>
                        <a:schemeClr val="accent6"/>
                      </a:solidFill>
                      <a:prstDash val="solid"/>
                      <a:round/>
                      <a:headEnd type="none" w="med" len="med"/>
                      <a:tailEnd type="none" w="med" len="med"/>
                    </a:lnR>
                    <a:lnT w="9525" cap="flat" cmpd="sng" algn="ctr">
                      <a:solidFill>
                        <a:schemeClr val="accent6"/>
                      </a:solidFill>
                      <a:prstDash val="solid"/>
                      <a:round/>
                      <a:headEnd type="none" w="med" len="med"/>
                      <a:tailEnd type="none" w="med" len="med"/>
                    </a:lnT>
                    <a:lnB w="9525" cap="flat" cmpd="sng" algn="ctr">
                      <a:solidFill>
                        <a:schemeClr val="accent6"/>
                      </a:solidFill>
                      <a:prstDash val="solid"/>
                      <a:round/>
                      <a:headEnd type="none" w="med" len="med"/>
                      <a:tailEnd type="none" w="med" len="med"/>
                    </a:lnB>
                  </a:tcPr>
                </a:tc>
              </a:tr>
              <a:tr h="502920">
                <a:tc>
                  <a:txBody>
                    <a:bodyPr/>
                    <a:lstStyle/>
                    <a:p>
                      <a:pPr indent="0" marL="0">
                        <a:buNone/>
                      </a:pPr>
                      <a:r>
                        <a:rPr lang="en-US" sz="1600" b="1" dirty="0">
                          <a:solidFill>
                            <a:schemeClr val="tx2"/>
                          </a:solidFill>
                        </a:rPr>
                        <a:t>Variety</a:t>
                      </a:r>
                      <a:endParaRPr lang="en-US" sz="1600" dirty="0"/>
                    </a:p>
                  </a:txBody>
                  <a:tcPr marL="91440" marR="91440" marT="36576" marB="36576" anchor="ctr">
                    <a:lnL w="9525" cap="flat" cmpd="sng" algn="ctr">
                      <a:solidFill>
                        <a:schemeClr val="accent6"/>
                      </a:solidFill>
                      <a:prstDash val="solid"/>
                      <a:round/>
                      <a:headEnd type="none" w="med" len="med"/>
                      <a:tailEnd type="none" w="med" len="med"/>
                    </a:lnL>
                    <a:lnR w="9525" cap="flat" cmpd="sng" algn="ctr">
                      <a:solidFill>
                        <a:schemeClr val="accent6"/>
                      </a:solidFill>
                      <a:prstDash val="solid"/>
                      <a:round/>
                      <a:headEnd type="none" w="med" len="med"/>
                      <a:tailEnd type="none" w="med" len="med"/>
                    </a:lnR>
                    <a:lnT w="9525" cap="flat" cmpd="sng" algn="ctr">
                      <a:solidFill>
                        <a:schemeClr val="accent6"/>
                      </a:solidFill>
                      <a:prstDash val="solid"/>
                      <a:round/>
                      <a:headEnd type="none" w="med" len="med"/>
                      <a:tailEnd type="none" w="med" len="med"/>
                    </a:lnT>
                    <a:lnB w="9525" cap="flat" cmpd="sng" algn="ctr">
                      <a:solidFill>
                        <a:schemeClr val="accent6"/>
                      </a:solidFill>
                      <a:prstDash val="solid"/>
                      <a:round/>
                      <a:headEnd type="none" w="med" len="med"/>
                      <a:tailEnd type="none" w="med" len="med"/>
                    </a:lnB>
                    <a:solidFill>
                      <a:schemeClr val="accent4"/>
                    </a:solidFill>
                  </a:tcPr>
                </a:tc>
                <a:tc>
                  <a:txBody>
                    <a:bodyPr/>
                    <a:lstStyle/>
                    <a:p>
                      <a:pPr indent="0" marL="0">
                        <a:buNone/>
                      </a:pPr>
                      <a:r>
                        <a:rPr lang="en-US" sz="1600" dirty="0">
                          <a:solidFill>
                            <a:schemeClr val="tx1"/>
                          </a:solidFill>
                        </a:rPr>
                        <a:t>Logs, clicks, orders, images; SQL column packed with name=value text</a:t>
                      </a:r>
                      <a:endParaRPr lang="en-US" sz="1600" dirty="0"/>
                    </a:p>
                  </a:txBody>
                  <a:tcPr marL="91440" marR="91440" marT="36576" marB="36576" anchor="ctr">
                    <a:lnL w="9525" cap="flat" cmpd="sng" algn="ctr">
                      <a:solidFill>
                        <a:schemeClr val="accent6"/>
                      </a:solidFill>
                      <a:prstDash val="solid"/>
                      <a:round/>
                      <a:headEnd type="none" w="med" len="med"/>
                      <a:tailEnd type="none" w="med" len="med"/>
                    </a:lnL>
                    <a:lnR w="9525" cap="flat" cmpd="sng" algn="ctr">
                      <a:solidFill>
                        <a:schemeClr val="accent6"/>
                      </a:solidFill>
                      <a:prstDash val="solid"/>
                      <a:round/>
                      <a:headEnd type="none" w="med" len="med"/>
                      <a:tailEnd type="none" w="med" len="med"/>
                    </a:lnR>
                    <a:lnT w="9525" cap="flat" cmpd="sng" algn="ctr">
                      <a:solidFill>
                        <a:schemeClr val="accent6"/>
                      </a:solidFill>
                      <a:prstDash val="solid"/>
                      <a:round/>
                      <a:headEnd type="none" w="med" len="med"/>
                      <a:tailEnd type="none" w="med" len="med"/>
                    </a:lnT>
                    <a:lnB w="9525" cap="flat" cmpd="sng" algn="ctr">
                      <a:solidFill>
                        <a:schemeClr val="accent6"/>
                      </a:solidFill>
                      <a:prstDash val="solid"/>
                      <a:round/>
                      <a:headEnd type="none" w="med" len="med"/>
                      <a:tailEnd type="none" w="med" len="med"/>
                    </a:lnB>
                  </a:tcPr>
                </a:tc>
              </a:tr>
              <a:tr h="502920">
                <a:tc>
                  <a:txBody>
                    <a:bodyPr/>
                    <a:lstStyle/>
                    <a:p>
                      <a:pPr indent="0" marL="0">
                        <a:buNone/>
                      </a:pPr>
                      <a:r>
                        <a:rPr lang="en-US" sz="1600" b="1" dirty="0">
                          <a:solidFill>
                            <a:schemeClr val="tx2"/>
                          </a:solidFill>
                        </a:rPr>
                        <a:t>Veracity</a:t>
                      </a:r>
                      <a:endParaRPr lang="en-US" sz="1600" dirty="0"/>
                    </a:p>
                  </a:txBody>
                  <a:tcPr marL="91440" marR="91440" marT="36576" marB="36576" anchor="ctr">
                    <a:lnL w="9525" cap="flat" cmpd="sng" algn="ctr">
                      <a:solidFill>
                        <a:schemeClr val="accent6"/>
                      </a:solidFill>
                      <a:prstDash val="solid"/>
                      <a:round/>
                      <a:headEnd type="none" w="med" len="med"/>
                      <a:tailEnd type="none" w="med" len="med"/>
                    </a:lnL>
                    <a:lnR w="9525" cap="flat" cmpd="sng" algn="ctr">
                      <a:solidFill>
                        <a:schemeClr val="accent6"/>
                      </a:solidFill>
                      <a:prstDash val="solid"/>
                      <a:round/>
                      <a:headEnd type="none" w="med" len="med"/>
                      <a:tailEnd type="none" w="med" len="med"/>
                    </a:lnR>
                    <a:lnT w="9525" cap="flat" cmpd="sng" algn="ctr">
                      <a:solidFill>
                        <a:schemeClr val="accent6"/>
                      </a:solidFill>
                      <a:prstDash val="solid"/>
                      <a:round/>
                      <a:headEnd type="none" w="med" len="med"/>
                      <a:tailEnd type="none" w="med" len="med"/>
                    </a:lnT>
                    <a:lnB w="9525" cap="flat" cmpd="sng" algn="ctr">
                      <a:solidFill>
                        <a:schemeClr val="accent6"/>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Fraud-detection time series in Cassandra help flag fake activity</a:t>
                      </a:r>
                      <a:endParaRPr lang="en-US" sz="1600" dirty="0"/>
                    </a:p>
                  </a:txBody>
                  <a:tcPr marL="91440" marR="91440" marT="36576" marB="36576" anchor="ctr">
                    <a:lnL w="9525" cap="flat" cmpd="sng" algn="ctr">
                      <a:solidFill>
                        <a:schemeClr val="accent6"/>
                      </a:solidFill>
                      <a:prstDash val="solid"/>
                      <a:round/>
                      <a:headEnd type="none" w="med" len="med"/>
                      <a:tailEnd type="none" w="med" len="med"/>
                    </a:lnL>
                    <a:lnR w="9525" cap="flat" cmpd="sng" algn="ctr">
                      <a:solidFill>
                        <a:schemeClr val="accent6"/>
                      </a:solidFill>
                      <a:prstDash val="solid"/>
                      <a:round/>
                      <a:headEnd type="none" w="med" len="med"/>
                      <a:tailEnd type="none" w="med" len="med"/>
                    </a:lnR>
                    <a:lnT w="9525" cap="flat" cmpd="sng" algn="ctr">
                      <a:solidFill>
                        <a:schemeClr val="accent6"/>
                      </a:solidFill>
                      <a:prstDash val="solid"/>
                      <a:round/>
                      <a:headEnd type="none" w="med" len="med"/>
                      <a:tailEnd type="none" w="med" len="med"/>
                    </a:lnT>
                    <a:lnB w="9525" cap="flat" cmpd="sng" algn="ctr">
                      <a:solidFill>
                        <a:schemeClr val="accent6"/>
                      </a:solidFill>
                      <a:prstDash val="solid"/>
                      <a:round/>
                      <a:headEnd type="none" w="med" len="med"/>
                      <a:tailEnd type="none" w="med" len="med"/>
                    </a:lnB>
                  </a:tcPr>
                </a:tc>
              </a:tr>
              <a:tr h="502920">
                <a:tc>
                  <a:txBody>
                    <a:bodyPr/>
                    <a:lstStyle/>
                    <a:p>
                      <a:pPr indent="0" marL="0">
                        <a:buNone/>
                      </a:pPr>
                      <a:r>
                        <a:rPr lang="en-US" sz="1600" b="1" dirty="0">
                          <a:solidFill>
                            <a:schemeClr val="tx2"/>
                          </a:solidFill>
                        </a:rPr>
                        <a:t>Value</a:t>
                      </a:r>
                      <a:endParaRPr lang="en-US" sz="1600" dirty="0"/>
                    </a:p>
                  </a:txBody>
                  <a:tcPr marL="91440" marR="91440" marT="36576" marB="36576" anchor="ctr">
                    <a:lnL w="9525" cap="flat" cmpd="sng" algn="ctr">
                      <a:solidFill>
                        <a:schemeClr val="accent6"/>
                      </a:solidFill>
                      <a:prstDash val="solid"/>
                      <a:round/>
                      <a:headEnd type="none" w="med" len="med"/>
                      <a:tailEnd type="none" w="med" len="med"/>
                    </a:lnL>
                    <a:lnR w="9525" cap="flat" cmpd="sng" algn="ctr">
                      <a:solidFill>
                        <a:schemeClr val="accent6"/>
                      </a:solidFill>
                      <a:prstDash val="solid"/>
                      <a:round/>
                      <a:headEnd type="none" w="med" len="med"/>
                      <a:tailEnd type="none" w="med" len="med"/>
                    </a:lnR>
                    <a:lnT w="9525" cap="flat" cmpd="sng" algn="ctr">
                      <a:solidFill>
                        <a:schemeClr val="accent6"/>
                      </a:solidFill>
                      <a:prstDash val="solid"/>
                      <a:round/>
                      <a:headEnd type="none" w="med" len="med"/>
                      <a:tailEnd type="none" w="med" len="med"/>
                    </a:lnT>
                    <a:lnB w="9525" cap="flat" cmpd="sng" algn="ctr">
                      <a:solidFill>
                        <a:schemeClr val="accent6"/>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Search, recommendations and dashboards turn data into sales</a:t>
                      </a:r>
                      <a:endParaRPr lang="en-US" sz="1600" dirty="0"/>
                    </a:p>
                  </a:txBody>
                  <a:tcPr marL="91440" marR="91440" marT="36576" marB="36576" anchor="ctr">
                    <a:lnL w="9525" cap="flat" cmpd="sng" algn="ctr">
                      <a:solidFill>
                        <a:schemeClr val="accent6"/>
                      </a:solidFill>
                      <a:prstDash val="solid"/>
                      <a:round/>
                      <a:headEnd type="none" w="med" len="med"/>
                      <a:tailEnd type="none" w="med" len="med"/>
                    </a:lnL>
                    <a:lnR w="9525" cap="flat" cmpd="sng" algn="ctr">
                      <a:solidFill>
                        <a:schemeClr val="accent6"/>
                      </a:solidFill>
                      <a:prstDash val="solid"/>
                      <a:round/>
                      <a:headEnd type="none" w="med" len="med"/>
                      <a:tailEnd type="none" w="med" len="med"/>
                    </a:lnR>
                    <a:lnT w="9525" cap="flat" cmpd="sng" algn="ctr">
                      <a:solidFill>
                        <a:schemeClr val="accent6"/>
                      </a:solidFill>
                      <a:prstDash val="solid"/>
                      <a:round/>
                      <a:headEnd type="none" w="med" len="med"/>
                      <a:tailEnd type="none" w="med" len="med"/>
                    </a:lnT>
                    <a:lnB w="9525" cap="flat" cmpd="sng" algn="ctr">
                      <a:solidFill>
                        <a:schemeClr val="accent6"/>
                      </a:solidFill>
                      <a:prstDash val="solid"/>
                      <a:round/>
                      <a:headEnd type="none" w="med" len="med"/>
                      <a:tailEnd type="none" w="med" len="med"/>
                    </a:lnB>
                  </a:tcPr>
                </a:tc>
              </a:tr>
            </a:tbl>
          </a:graphicData>
        </a:graphic>
      </p:graphicFrame>
      <p:sp>
        <p:nvSpPr>
          <p:cNvPr id="5" name="So-what callout"/>
          <p:cNvSpPr txBox="1"/>
          <p:nvPr/>
        </p:nvSpPr>
        <p:spPr>
          <a:xfrm>
            <a:off x="457200" y="4114800"/>
            <a:ext cx="8229600" cy="457200"/>
          </a:xfrm>
          <a:prstGeom prst="roundRect">
            <a:avLst>
              <a:gd name="adj" fmla="val 12000"/>
            </a:avLst>
          </a:prstGeom>
          <a:solidFill>
            <a:schemeClr val="accent4"/>
          </a:solidFill>
          <a:ln w="12700">
            <a:solidFill>
              <a:schemeClr val="accent2"/>
            </a:solidFill>
          </a:ln>
        </p:spPr>
        <p:txBody>
          <a:bodyPr wrap="square" lIns="76200" tIns="76200" rIns="76200" bIns="76200" rtlCol="0" anchor="ctr"/>
          <a:lstStyle/>
          <a:p>
            <a:pPr algn="l" indent="0" marL="0">
              <a:buNone/>
            </a:pPr>
            <a:r>
              <a:rPr lang="en-US" sz="1600" b="1" dirty="0">
                <a:solidFill>
                  <a:schemeClr val="tx1"/>
                </a:solidFill>
              </a:rPr>
              <a:t>So what: Volume and Variety strain a fixed-schema SQL warehouse most.</a:t>
            </a:r>
            <a:endParaRPr lang="en-US" sz="1600" dirty="0"/>
          </a:p>
        </p:txBody>
      </p:sp>
      <p:sp>
        <p:nvSpPr>
          <p:cNvPr id="6" name="Source citation"/>
          <p:cNvSpPr txBox="1"/>
          <p:nvPr/>
        </p:nvSpPr>
        <p:spPr>
          <a:xfrm>
            <a:off x="457200" y="4681728"/>
            <a:ext cx="7680960" cy="274320"/>
          </a:xfrm>
          <a:prstGeom prst="rect">
            <a:avLst/>
          </a:prstGeom>
          <a:noFill/>
          <a:ln/>
        </p:spPr>
        <p:txBody>
          <a:bodyPr wrap="square" lIns="0" tIns="0" rIns="0" bIns="0" rtlCol="0" anchor="t"/>
          <a:lstStyle/>
          <a:p>
            <a:pPr algn="l" indent="0" marL="0">
              <a:buNone/>
            </a:pPr>
            <a:r>
              <a:rPr lang="en-US" sz="1200" dirty="0">
                <a:solidFill>
                  <a:schemeClr val="accent3"/>
                </a:solidFill>
              </a:rPr>
              <a:t>Sources: Monash (2009); Hadoop: The Power of the Elephant (eBay, n.d.); Cassandra at eBay (Patel, 2012).</a:t>
            </a:r>
            <a:endParaRPr lang="en-US" sz="1200" dirty="0"/>
          </a:p>
        </p:txBody>
      </p:sp>
      <p:sp>
        <p:nvSpPr>
          <p:cNvPr id="25" name="Slide Number Placeholder 0"/>
          <p:cNvSpPr>
            <a:spLocks noGrp="1"/>
          </p:cNvSpPr>
          <p:nvPr>
            <p:ph type="sldNum" sz="quarter" idx="4294967295"/>
          </p:nvPr>
        </p:nvSpPr>
        <p:spPr>
          <a:xfrm>
            <a:off x="832104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0"/>
          <p:cNvSpPr/>
          <p:nvPr>
            <p:ph idx="100" type="title" hasCustomPrompt="1"/>
          </p:nvPr>
        </p:nvSpPr>
        <p:spPr>
          <a:xfrm>
            <a:off x="457200" y="182880"/>
            <a:ext cx="8229600" cy="777240"/>
          </a:xfrm>
          <a:prstGeom prst="rect">
            <a:avLst/>
          </a:prstGeom>
          <a:noFill/>
          <a:ln/>
        </p:spPr>
        <p:txBody>
          <a:bodyPr wrap="square" lIns="0" tIns="0" rIns="0" bIns="0" rtlCol="0" anchor="t"/>
          <a:lstStyle/>
          <a:p>
            <a:pPr algn="l" indent="0" marL="0">
              <a:buNone/>
            </a:pPr>
            <a:r>
              <a:rPr lang="en-US" sz="2400" b="1" dirty="0">
                <a:solidFill>
                  <a:schemeClr val="tx2"/>
                </a:solidFill>
              </a:rPr>
              <a:t>Hadoop scaled out on cheap nodes where eBay's relational warehouses strained</a:t>
            </a:r>
            <a:endParaRPr lang="en-US" sz="2400" dirty="0"/>
          </a:p>
        </p:txBody>
      </p:sp>
      <p:sp>
        <p:nvSpPr>
          <p:cNvPr id="4" name="SQL card"/>
          <p:cNvSpPr/>
          <p:nvPr/>
        </p:nvSpPr>
        <p:spPr>
          <a:xfrm>
            <a:off x="457200" y="1188720"/>
            <a:ext cx="4023360" cy="2788920"/>
          </a:xfrm>
          <a:prstGeom prst="rect">
            <a:avLst/>
          </a:prstGeom>
          <a:solidFill>
            <a:schemeClr val="bg2"/>
          </a:solidFill>
          <a:ln w="12700">
            <a:solidFill>
              <a:schemeClr val="accent1"/>
            </a:solidFill>
            <a:prstDash val="solid"/>
          </a:ln>
        </p:spPr>
      </p:sp>
      <p:sp>
        <p:nvSpPr>
          <p:cNvPr id="5" name="SQL heading"/>
          <p:cNvSpPr txBox="1"/>
          <p:nvPr/>
        </p:nvSpPr>
        <p:spPr>
          <a:xfrm>
            <a:off x="640080" y="1298448"/>
            <a:ext cx="3657600" cy="365760"/>
          </a:xfrm>
          <a:prstGeom prst="rect">
            <a:avLst/>
          </a:prstGeom>
          <a:noFill/>
          <a:ln/>
        </p:spPr>
        <p:txBody>
          <a:bodyPr wrap="square" lIns="0" tIns="0" rIns="0" bIns="0" rtlCol="0" anchor="t"/>
          <a:lstStyle/>
          <a:p>
            <a:pPr algn="l" indent="0" marL="0">
              <a:buNone/>
            </a:pPr>
            <a:r>
              <a:rPr lang="en-US" sz="2000" b="1" dirty="0">
                <a:solidFill>
                  <a:schemeClr val="accent1"/>
                </a:solidFill>
              </a:rPr>
              <a:t>SQL warehouses</a:t>
            </a:r>
            <a:endParaRPr lang="en-US" sz="2000" dirty="0"/>
          </a:p>
        </p:txBody>
      </p:sp>
      <p:sp>
        <p:nvSpPr>
          <p:cNvPr id="6" name="SQL bullets"/>
          <p:cNvSpPr txBox="1"/>
          <p:nvPr/>
        </p:nvSpPr>
        <p:spPr>
          <a:xfrm>
            <a:off x="640080" y="1737360"/>
            <a:ext cx="3657600" cy="2148840"/>
          </a:xfrm>
          <a:prstGeom prst="rect">
            <a:avLst/>
          </a:prstGeom>
          <a:noFill/>
          <a:ln/>
        </p:spPr>
        <p:txBody>
          <a:bodyPr wrap="square" lIns="0" tIns="0" rIns="0" bIns="0" rtlCol="0" anchor="t"/>
          <a:lstStyle/>
          <a:p>
            <a:pPr algn="l" marL="228600" indent="-228600">
              <a:spcAft>
                <a:spcPts val="800"/>
              </a:spcAft>
              <a:buSzPct val="100000"/>
              <a:buChar char="•"/>
            </a:pPr>
            <a:r>
              <a:rPr lang="en-US" sz="2000" dirty="0">
                <a:solidFill>
                  <a:schemeClr val="tx1"/>
                </a:solidFill>
              </a:rPr>
              <a:t>Greenplum: 6.5 PB, 17 trillion records</a:t>
            </a:r>
            <a:endParaRPr lang="en-US" sz="2000" dirty="0"/>
          </a:p>
          <a:p>
            <a:pPr algn="l" marL="228600" indent="-228600">
              <a:spcAft>
                <a:spcPts val="800"/>
              </a:spcAft>
              <a:buSzPct val="100000"/>
              <a:buChar char="•"/>
            </a:pPr>
            <a:r>
              <a:rPr lang="en-US" sz="2000" dirty="0">
                <a:solidFill>
                  <a:schemeClr val="tx1"/>
                </a:solidFill>
              </a:rPr>
              <a:t>Semi-structured logs packed into one text column</a:t>
            </a:r>
            <a:endParaRPr lang="en-US" sz="2000" dirty="0"/>
          </a:p>
          <a:p>
            <a:pPr algn="l" marL="228600" indent="-228600">
              <a:spcAft>
                <a:spcPts val="800"/>
              </a:spcAft>
              <a:buSzPct val="100000"/>
              <a:buChar char="•"/>
            </a:pPr>
            <a:r>
              <a:rPr lang="en-US" sz="2000" dirty="0">
                <a:solidFill>
                  <a:schemeClr val="tx1"/>
                </a:solidFill>
              </a:rPr>
              <a:t>Greenplum replaced by Teradata over reliability</a:t>
            </a:r>
            <a:endParaRPr lang="en-US" sz="2000" dirty="0"/>
          </a:p>
        </p:txBody>
      </p:sp>
      <p:sp>
        <p:nvSpPr>
          <p:cNvPr id="7" name="Hadoop card"/>
          <p:cNvSpPr/>
          <p:nvPr/>
        </p:nvSpPr>
        <p:spPr>
          <a:xfrm>
            <a:off x="4663440" y="1188720"/>
            <a:ext cx="4023360" cy="2788920"/>
          </a:xfrm>
          <a:prstGeom prst="rect">
            <a:avLst/>
          </a:prstGeom>
          <a:solidFill>
            <a:schemeClr val="bg2"/>
          </a:solidFill>
          <a:ln w="12700">
            <a:solidFill>
              <a:schemeClr val="accent1"/>
            </a:solidFill>
            <a:prstDash val="solid"/>
          </a:ln>
        </p:spPr>
      </p:sp>
      <p:sp>
        <p:nvSpPr>
          <p:cNvPr id="8" name="Hadoop heading"/>
          <p:cNvSpPr txBox="1"/>
          <p:nvPr/>
        </p:nvSpPr>
        <p:spPr>
          <a:xfrm>
            <a:off x="4846320" y="1298448"/>
            <a:ext cx="3657600" cy="365760"/>
          </a:xfrm>
          <a:prstGeom prst="rect">
            <a:avLst/>
          </a:prstGeom>
          <a:noFill/>
          <a:ln/>
        </p:spPr>
        <p:txBody>
          <a:bodyPr wrap="square" lIns="0" tIns="0" rIns="0" bIns="0" rtlCol="0" anchor="t"/>
          <a:lstStyle/>
          <a:p>
            <a:pPr algn="l" indent="0" marL="0">
              <a:buNone/>
            </a:pPr>
            <a:r>
              <a:rPr lang="en-US" sz="2000" b="1" dirty="0">
                <a:solidFill>
                  <a:schemeClr val="accent1"/>
                </a:solidFill>
              </a:rPr>
              <a:t>Hadoop</a:t>
            </a:r>
            <a:endParaRPr lang="en-US" sz="2000" dirty="0"/>
          </a:p>
        </p:txBody>
      </p:sp>
      <p:sp>
        <p:nvSpPr>
          <p:cNvPr id="9" name="Hadoop bullets"/>
          <p:cNvSpPr txBox="1"/>
          <p:nvPr/>
        </p:nvSpPr>
        <p:spPr>
          <a:xfrm>
            <a:off x="4846320" y="1737360"/>
            <a:ext cx="3657600" cy="2148840"/>
          </a:xfrm>
          <a:prstGeom prst="rect">
            <a:avLst/>
          </a:prstGeom>
          <a:noFill/>
          <a:ln/>
        </p:spPr>
        <p:txBody>
          <a:bodyPr wrap="square" lIns="0" tIns="0" rIns="0" bIns="0" rtlCol="0" anchor="t"/>
          <a:lstStyle/>
          <a:p>
            <a:pPr algn="l" marL="228600" indent="-228600">
              <a:spcAft>
                <a:spcPts val="800"/>
              </a:spcAft>
              <a:buSzPct val="100000"/>
              <a:buChar char="•"/>
            </a:pPr>
            <a:r>
              <a:rPr lang="en-US" sz="2000" dirty="0">
                <a:solidFill>
                  <a:schemeClr val="tx1"/>
                </a:solidFill>
              </a:rPr>
              <a:t>Add cheap nodes to scale out</a:t>
            </a:r>
            <a:endParaRPr lang="en-US" sz="2000" dirty="0"/>
          </a:p>
          <a:p>
            <a:pPr algn="l" marL="228600" indent="-228600">
              <a:spcAft>
                <a:spcPts val="800"/>
              </a:spcAft>
              <a:buSzPct val="100000"/>
              <a:buChar char="•"/>
            </a:pPr>
            <a:r>
              <a:rPr lang="en-US" sz="2000" dirty="0">
                <a:solidFill>
                  <a:schemeClr val="tx1"/>
                </a:solidFill>
              </a:rPr>
              <a:t>3 copies of every block</a:t>
            </a:r>
            <a:endParaRPr lang="en-US" sz="2000" dirty="0"/>
          </a:p>
          <a:p>
            <a:pPr algn="l" marL="228600" indent="-228600">
              <a:spcAft>
                <a:spcPts val="800"/>
              </a:spcAft>
              <a:buSzPct val="100000"/>
              <a:buChar char="•"/>
            </a:pPr>
            <a:r>
              <a:rPr lang="en-US" sz="2000" dirty="0">
                <a:solidFill>
                  <a:schemeClr val="tx1"/>
                </a:solidFill>
              </a:rPr>
              <a:t>Old data on 4× cheaper nodes</a:t>
            </a:r>
            <a:endParaRPr lang="en-US" sz="2000" dirty="0"/>
          </a:p>
        </p:txBody>
      </p:sp>
      <p:sp>
        <p:nvSpPr>
          <p:cNvPr id="10" name="So-what callout"/>
          <p:cNvSpPr txBox="1"/>
          <p:nvPr/>
        </p:nvSpPr>
        <p:spPr>
          <a:xfrm>
            <a:off x="457200" y="4114800"/>
            <a:ext cx="8229600" cy="457200"/>
          </a:xfrm>
          <a:prstGeom prst="roundRect">
            <a:avLst>
              <a:gd name="adj" fmla="val 12000"/>
            </a:avLst>
          </a:prstGeom>
          <a:solidFill>
            <a:schemeClr val="accent4"/>
          </a:solidFill>
          <a:ln w="12700">
            <a:solidFill>
              <a:schemeClr val="accent2"/>
            </a:solidFill>
          </a:ln>
        </p:spPr>
        <p:txBody>
          <a:bodyPr wrap="square" lIns="76200" tIns="76200" rIns="76200" bIns="76200" rtlCol="0" anchor="ctr"/>
          <a:lstStyle/>
          <a:p>
            <a:pPr algn="l" indent="0" marL="0">
              <a:buNone/>
            </a:pPr>
            <a:r>
              <a:rPr lang="en-US" sz="1600" b="1" dirty="0">
                <a:solidFill>
                  <a:schemeClr val="tx1"/>
                </a:solidFill>
              </a:rPr>
              <a:t>Not either/or: in 2010 eBay ran Teradata (10+ PB) beside Hadoop.</a:t>
            </a:r>
            <a:endParaRPr lang="en-US" sz="1600" dirty="0"/>
          </a:p>
        </p:txBody>
      </p:sp>
      <p:sp>
        <p:nvSpPr>
          <p:cNvPr id="11" name="Source citation"/>
          <p:cNvSpPr txBox="1"/>
          <p:nvPr/>
        </p:nvSpPr>
        <p:spPr>
          <a:xfrm>
            <a:off x="457200" y="4681728"/>
            <a:ext cx="7680960" cy="274320"/>
          </a:xfrm>
          <a:prstGeom prst="rect">
            <a:avLst/>
          </a:prstGeom>
          <a:noFill/>
          <a:ln/>
        </p:spPr>
        <p:txBody>
          <a:bodyPr wrap="square" lIns="0" tIns="0" rIns="0" bIns="0" rtlCol="0" anchor="t"/>
          <a:lstStyle/>
          <a:p>
            <a:pPr algn="l" indent="0" marL="0">
              <a:buNone/>
            </a:pPr>
            <a:r>
              <a:rPr lang="en-US" sz="1200" dirty="0">
                <a:solidFill>
                  <a:schemeClr val="accent3"/>
                </a:solidFill>
              </a:rPr>
              <a:t>Sources: Monash (2009, 2010); HDFS storage efficiency using tiered storage (eBay, n.d.).</a:t>
            </a:r>
            <a:endParaRPr lang="en-US" sz="1200" dirty="0"/>
          </a:p>
        </p:txBody>
      </p:sp>
      <p:sp>
        <p:nvSpPr>
          <p:cNvPr id="25" name="Slide Number Placeholder 0"/>
          <p:cNvSpPr>
            <a:spLocks noGrp="1"/>
          </p:cNvSpPr>
          <p:nvPr>
            <p:ph type="sldNum" sz="quarter" idx="4294967295"/>
          </p:nvPr>
        </p:nvSpPr>
        <p:spPr>
          <a:xfrm>
            <a:off x="832104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0"/>
          <p:cNvSpPr/>
          <p:nvPr>
            <p:ph idx="100" type="title" hasCustomPrompt="1"/>
          </p:nvPr>
        </p:nvSpPr>
        <p:spPr>
          <a:xfrm>
            <a:off x="457200" y="182880"/>
            <a:ext cx="8229600" cy="777240"/>
          </a:xfrm>
          <a:prstGeom prst="rect">
            <a:avLst/>
          </a:prstGeom>
          <a:noFill/>
          <a:ln/>
        </p:spPr>
        <p:txBody>
          <a:bodyPr wrap="square" lIns="0" tIns="0" rIns="0" bIns="0" rtlCol="0" anchor="t"/>
          <a:lstStyle/>
          <a:p>
            <a:pPr algn="l" indent="0" marL="0">
              <a:buNone/>
            </a:pPr>
            <a:r>
              <a:rPr lang="en-US" sz="2400" b="1" dirty="0">
                <a:solidFill>
                  <a:schemeClr val="tx2"/>
                </a:solidFill>
              </a:rPr>
              <a:t>HDFS stores, YARN schedules and MapReduce processes eBay's data</a:t>
            </a:r>
            <a:endParaRPr lang="en-US" sz="2400" dirty="0"/>
          </a:p>
        </p:txBody>
      </p:sp>
      <p:sp>
        <p:nvSpPr>
          <p:cNvPr id="4" name="Card 1"/>
          <p:cNvSpPr/>
          <p:nvPr/>
        </p:nvSpPr>
        <p:spPr>
          <a:xfrm>
            <a:off x="457200" y="1188720"/>
            <a:ext cx="2560320" cy="3291840"/>
          </a:xfrm>
          <a:prstGeom prst="rect">
            <a:avLst/>
          </a:prstGeom>
          <a:solidFill>
            <a:schemeClr val="bg2"/>
          </a:solidFill>
          <a:ln w="12700">
            <a:solidFill>
              <a:schemeClr val="accent1"/>
            </a:solidFill>
            <a:prstDash val="solid"/>
          </a:ln>
        </p:spPr>
      </p:sp>
      <p:sp>
        <p:nvSpPr>
          <p:cNvPr id="5" name="Card heading 1"/>
          <p:cNvSpPr txBox="1"/>
          <p:nvPr/>
        </p:nvSpPr>
        <p:spPr>
          <a:xfrm>
            <a:off x="594360" y="1298448"/>
            <a:ext cx="2286000" cy="365760"/>
          </a:xfrm>
          <a:prstGeom prst="rect">
            <a:avLst/>
          </a:prstGeom>
          <a:noFill/>
          <a:ln/>
        </p:spPr>
        <p:txBody>
          <a:bodyPr wrap="square" lIns="0" tIns="0" rIns="0" bIns="0" rtlCol="0" anchor="t"/>
          <a:lstStyle/>
          <a:p>
            <a:pPr algn="l" indent="0" marL="0">
              <a:buNone/>
            </a:pPr>
            <a:r>
              <a:rPr lang="en-US" sz="2000" b="1" dirty="0">
                <a:solidFill>
                  <a:schemeClr val="accent1"/>
                </a:solidFill>
              </a:rPr>
              <a:t>HDFS</a:t>
            </a:r>
            <a:endParaRPr lang="en-US" sz="2000" dirty="0"/>
          </a:p>
        </p:txBody>
      </p:sp>
      <p:sp>
        <p:nvSpPr>
          <p:cNvPr id="6" name="Card role 1"/>
          <p:cNvSpPr txBox="1"/>
          <p:nvPr/>
        </p:nvSpPr>
        <p:spPr>
          <a:xfrm>
            <a:off x="594360" y="1664208"/>
            <a:ext cx="2286000" cy="274320"/>
          </a:xfrm>
          <a:prstGeom prst="rect">
            <a:avLst/>
          </a:prstGeom>
          <a:noFill/>
          <a:ln/>
        </p:spPr>
        <p:txBody>
          <a:bodyPr wrap="square" lIns="0" tIns="0" rIns="0" bIns="0" rtlCol="0" anchor="t"/>
          <a:lstStyle/>
          <a:p>
            <a:pPr algn="l" indent="0" marL="0">
              <a:buNone/>
            </a:pPr>
            <a:r>
              <a:rPr lang="en-US" sz="1600" i="1" dirty="0">
                <a:solidFill>
                  <a:schemeClr val="accent3"/>
                </a:solidFill>
              </a:rPr>
              <a:t>stores the data</a:t>
            </a:r>
            <a:endParaRPr lang="en-US" sz="1600" dirty="0"/>
          </a:p>
        </p:txBody>
      </p:sp>
      <p:sp>
        <p:nvSpPr>
          <p:cNvPr id="7" name="Card bullets 1"/>
          <p:cNvSpPr txBox="1"/>
          <p:nvPr/>
        </p:nvSpPr>
        <p:spPr>
          <a:xfrm>
            <a:off x="594360" y="2057400"/>
            <a:ext cx="2286000" cy="1463040"/>
          </a:xfrm>
          <a:prstGeom prst="rect">
            <a:avLst/>
          </a:prstGeom>
          <a:noFill/>
          <a:ln/>
        </p:spPr>
        <p:txBody>
          <a:bodyPr wrap="square" lIns="0" tIns="0" rIns="0" bIns="0" rtlCol="0" anchor="t"/>
          <a:lstStyle/>
          <a:p>
            <a:pPr algn="l" marL="177800" indent="-177800">
              <a:spcAft>
                <a:spcPts val="600"/>
              </a:spcAft>
              <a:buSzPct val="100000"/>
              <a:buChar char="•"/>
            </a:pPr>
            <a:r>
              <a:rPr lang="en-US" sz="1600" dirty="0">
                <a:solidFill>
                  <a:schemeClr val="tx1"/>
                </a:solidFill>
              </a:rPr>
              <a:t>NameNode: file map</a:t>
            </a:r>
            <a:endParaRPr lang="en-US" sz="1600" dirty="0"/>
          </a:p>
          <a:p>
            <a:pPr algn="l" marL="177800" indent="-177800">
              <a:spcAft>
                <a:spcPts val="600"/>
              </a:spcAft>
              <a:buSzPct val="100000"/>
              <a:buChar char="•"/>
            </a:pPr>
            <a:r>
              <a:rPr lang="en-US" sz="1600" dirty="0">
                <a:solidFill>
                  <a:schemeClr val="tx1"/>
                </a:solidFill>
              </a:rPr>
              <a:t>DataNodes: 128–256 MB blocks</a:t>
            </a:r>
            <a:endParaRPr lang="en-US" sz="1600" dirty="0"/>
          </a:p>
          <a:p>
            <a:pPr algn="l" marL="177800" indent="-177800">
              <a:spcAft>
                <a:spcPts val="600"/>
              </a:spcAft>
              <a:buSzPct val="100000"/>
              <a:buChar char="•"/>
            </a:pPr>
            <a:r>
              <a:rPr lang="en-US" sz="1600" dirty="0">
                <a:solidFill>
                  <a:schemeClr val="tx1"/>
                </a:solidFill>
              </a:rPr>
              <a:t>Replication: 3 copies</a:t>
            </a:r>
            <a:endParaRPr lang="en-US" sz="1600" dirty="0"/>
          </a:p>
        </p:txBody>
      </p:sp>
      <p:sp>
        <p:nvSpPr>
          <p:cNvPr id="8" name="eBay evidence 1"/>
          <p:cNvSpPr txBox="1"/>
          <p:nvPr/>
        </p:nvSpPr>
        <p:spPr>
          <a:xfrm>
            <a:off x="594360" y="3611880"/>
            <a:ext cx="2286000" cy="777240"/>
          </a:xfrm>
          <a:prstGeom prst="rect">
            <a:avLst/>
          </a:prstGeom>
          <a:noFill/>
          <a:ln/>
        </p:spPr>
        <p:txBody>
          <a:bodyPr wrap="square" lIns="0" tIns="0" rIns="0" bIns="0" rtlCol="0" anchor="t"/>
          <a:lstStyle/>
          <a:p>
            <a:pPr algn="l" indent="0" marL="0">
              <a:buNone/>
            </a:pPr>
            <a:r>
              <a:rPr lang="en-US" sz="1600" b="1" dirty="0">
                <a:solidFill>
                  <a:schemeClr val="accent2"/>
                </a:solidFill>
              </a:rPr>
              <a:t>eBay: hundreds of PB</a:t>
            </a:r>
            <a:endParaRPr lang="en-US" sz="1600" dirty="0"/>
          </a:p>
        </p:txBody>
      </p:sp>
      <p:sp>
        <p:nvSpPr>
          <p:cNvPr id="9" name="Card 2"/>
          <p:cNvSpPr/>
          <p:nvPr/>
        </p:nvSpPr>
        <p:spPr>
          <a:xfrm>
            <a:off x="3291840" y="1188720"/>
            <a:ext cx="2560320" cy="3291840"/>
          </a:xfrm>
          <a:prstGeom prst="rect">
            <a:avLst/>
          </a:prstGeom>
          <a:solidFill>
            <a:schemeClr val="bg2"/>
          </a:solidFill>
          <a:ln w="12700">
            <a:solidFill>
              <a:schemeClr val="accent1"/>
            </a:solidFill>
            <a:prstDash val="solid"/>
          </a:ln>
        </p:spPr>
      </p:sp>
      <p:sp>
        <p:nvSpPr>
          <p:cNvPr id="10" name="Card heading 2"/>
          <p:cNvSpPr txBox="1"/>
          <p:nvPr/>
        </p:nvSpPr>
        <p:spPr>
          <a:xfrm>
            <a:off x="3429000" y="1298448"/>
            <a:ext cx="2286000" cy="365760"/>
          </a:xfrm>
          <a:prstGeom prst="rect">
            <a:avLst/>
          </a:prstGeom>
          <a:noFill/>
          <a:ln/>
        </p:spPr>
        <p:txBody>
          <a:bodyPr wrap="square" lIns="0" tIns="0" rIns="0" bIns="0" rtlCol="0" anchor="t"/>
          <a:lstStyle/>
          <a:p>
            <a:pPr algn="l" indent="0" marL="0">
              <a:buNone/>
            </a:pPr>
            <a:r>
              <a:rPr lang="en-US" sz="2000" b="1" dirty="0">
                <a:solidFill>
                  <a:schemeClr val="accent1"/>
                </a:solidFill>
              </a:rPr>
              <a:t>YARN</a:t>
            </a:r>
            <a:endParaRPr lang="en-US" sz="2000" dirty="0"/>
          </a:p>
        </p:txBody>
      </p:sp>
      <p:sp>
        <p:nvSpPr>
          <p:cNvPr id="11" name="Card role 2"/>
          <p:cNvSpPr txBox="1"/>
          <p:nvPr/>
        </p:nvSpPr>
        <p:spPr>
          <a:xfrm>
            <a:off x="3429000" y="1664208"/>
            <a:ext cx="2286000" cy="274320"/>
          </a:xfrm>
          <a:prstGeom prst="rect">
            <a:avLst/>
          </a:prstGeom>
          <a:noFill/>
          <a:ln/>
        </p:spPr>
        <p:txBody>
          <a:bodyPr wrap="square" lIns="0" tIns="0" rIns="0" bIns="0" rtlCol="0" anchor="t"/>
          <a:lstStyle/>
          <a:p>
            <a:pPr algn="l" indent="0" marL="0">
              <a:buNone/>
            </a:pPr>
            <a:r>
              <a:rPr lang="en-US" sz="1600" i="1" dirty="0">
                <a:solidFill>
                  <a:schemeClr val="accent3"/>
                </a:solidFill>
              </a:rPr>
              <a:t>schedules resources</a:t>
            </a:r>
            <a:endParaRPr lang="en-US" sz="1600" dirty="0"/>
          </a:p>
        </p:txBody>
      </p:sp>
      <p:sp>
        <p:nvSpPr>
          <p:cNvPr id="12" name="Card bullets 2"/>
          <p:cNvSpPr txBox="1"/>
          <p:nvPr/>
        </p:nvSpPr>
        <p:spPr>
          <a:xfrm>
            <a:off x="3429000" y="2057400"/>
            <a:ext cx="2286000" cy="1463040"/>
          </a:xfrm>
          <a:prstGeom prst="rect">
            <a:avLst/>
          </a:prstGeom>
          <a:noFill/>
          <a:ln/>
        </p:spPr>
        <p:txBody>
          <a:bodyPr wrap="square" lIns="0" tIns="0" rIns="0" bIns="0" rtlCol="0" anchor="t"/>
          <a:lstStyle/>
          <a:p>
            <a:pPr algn="l" marL="177800" indent="-177800">
              <a:spcAft>
                <a:spcPts val="600"/>
              </a:spcAft>
              <a:buSzPct val="100000"/>
              <a:buChar char="•"/>
            </a:pPr>
            <a:r>
              <a:rPr lang="en-US" sz="1600" dirty="0">
                <a:solidFill>
                  <a:schemeClr val="tx1"/>
                </a:solidFill>
              </a:rPr>
              <a:t>Resource Manager: assigns cluster resources</a:t>
            </a:r>
            <a:endParaRPr lang="en-US" sz="1600" dirty="0"/>
          </a:p>
          <a:p>
            <a:pPr algn="l" marL="177800" indent="-177800">
              <a:spcAft>
                <a:spcPts val="600"/>
              </a:spcAft>
              <a:buSzPct val="100000"/>
              <a:buChar char="•"/>
            </a:pPr>
            <a:r>
              <a:rPr lang="en-US" sz="1600" dirty="0">
                <a:solidFill>
                  <a:schemeClr val="tx1"/>
                </a:solidFill>
              </a:rPr>
              <a:t>Node Manager: runs tasks</a:t>
            </a:r>
            <a:endParaRPr lang="en-US" sz="1600" dirty="0"/>
          </a:p>
        </p:txBody>
      </p:sp>
      <p:sp>
        <p:nvSpPr>
          <p:cNvPr id="13" name="eBay evidence 2"/>
          <p:cNvSpPr txBox="1"/>
          <p:nvPr/>
        </p:nvSpPr>
        <p:spPr>
          <a:xfrm>
            <a:off x="3429000" y="3611880"/>
            <a:ext cx="2286000" cy="777240"/>
          </a:xfrm>
          <a:prstGeom prst="rect">
            <a:avLst/>
          </a:prstGeom>
          <a:noFill/>
          <a:ln/>
        </p:spPr>
        <p:txBody>
          <a:bodyPr wrap="square" lIns="0" tIns="0" rIns="0" bIns="0" rtlCol="0" anchor="t"/>
          <a:lstStyle/>
          <a:p>
            <a:pPr algn="l" indent="0" marL="0">
              <a:buNone/>
            </a:pPr>
            <a:r>
              <a:rPr lang="en-US" sz="1600" b="1" dirty="0">
                <a:solidFill>
                  <a:schemeClr val="accent2"/>
                </a:solidFill>
              </a:rPr>
              <a:t>eBay: ~2× job throughput</a:t>
            </a:r>
            <a:endParaRPr lang="en-US" sz="1600" dirty="0"/>
          </a:p>
        </p:txBody>
      </p:sp>
      <p:sp>
        <p:nvSpPr>
          <p:cNvPr id="14" name="Card 3"/>
          <p:cNvSpPr/>
          <p:nvPr/>
        </p:nvSpPr>
        <p:spPr>
          <a:xfrm>
            <a:off x="6126480" y="1188720"/>
            <a:ext cx="2560320" cy="3291840"/>
          </a:xfrm>
          <a:prstGeom prst="rect">
            <a:avLst/>
          </a:prstGeom>
          <a:solidFill>
            <a:schemeClr val="bg2"/>
          </a:solidFill>
          <a:ln w="12700">
            <a:solidFill>
              <a:schemeClr val="accent1"/>
            </a:solidFill>
            <a:prstDash val="solid"/>
          </a:ln>
        </p:spPr>
      </p:sp>
      <p:sp>
        <p:nvSpPr>
          <p:cNvPr id="15" name="Card heading 3"/>
          <p:cNvSpPr txBox="1"/>
          <p:nvPr/>
        </p:nvSpPr>
        <p:spPr>
          <a:xfrm>
            <a:off x="6263640" y="1298448"/>
            <a:ext cx="2286000" cy="365760"/>
          </a:xfrm>
          <a:prstGeom prst="rect">
            <a:avLst/>
          </a:prstGeom>
          <a:noFill/>
          <a:ln/>
        </p:spPr>
        <p:txBody>
          <a:bodyPr wrap="square" lIns="0" tIns="0" rIns="0" bIns="0" rtlCol="0" anchor="t"/>
          <a:lstStyle/>
          <a:p>
            <a:pPr algn="l" indent="0" marL="0">
              <a:buNone/>
            </a:pPr>
            <a:r>
              <a:rPr lang="en-US" sz="2000" b="1" dirty="0">
                <a:solidFill>
                  <a:schemeClr val="accent1"/>
                </a:solidFill>
              </a:rPr>
              <a:t>MapReduce</a:t>
            </a:r>
            <a:endParaRPr lang="en-US" sz="2000" dirty="0"/>
          </a:p>
        </p:txBody>
      </p:sp>
      <p:sp>
        <p:nvSpPr>
          <p:cNvPr id="16" name="Card role 3"/>
          <p:cNvSpPr txBox="1"/>
          <p:nvPr/>
        </p:nvSpPr>
        <p:spPr>
          <a:xfrm>
            <a:off x="6263640" y="1664208"/>
            <a:ext cx="2286000" cy="274320"/>
          </a:xfrm>
          <a:prstGeom prst="rect">
            <a:avLst/>
          </a:prstGeom>
          <a:noFill/>
          <a:ln/>
        </p:spPr>
        <p:txBody>
          <a:bodyPr wrap="square" lIns="0" tIns="0" rIns="0" bIns="0" rtlCol="0" anchor="t"/>
          <a:lstStyle/>
          <a:p>
            <a:pPr algn="l" indent="0" marL="0">
              <a:buNone/>
            </a:pPr>
            <a:r>
              <a:rPr lang="en-US" sz="1600" i="1" dirty="0">
                <a:solidFill>
                  <a:schemeClr val="accent3"/>
                </a:solidFill>
              </a:rPr>
              <a:t>processes the data</a:t>
            </a:r>
            <a:endParaRPr lang="en-US" sz="1600" dirty="0"/>
          </a:p>
        </p:txBody>
      </p:sp>
      <p:sp>
        <p:nvSpPr>
          <p:cNvPr id="17" name="Card bullets 3"/>
          <p:cNvSpPr txBox="1"/>
          <p:nvPr/>
        </p:nvSpPr>
        <p:spPr>
          <a:xfrm>
            <a:off x="6263640" y="2057400"/>
            <a:ext cx="2286000" cy="1463040"/>
          </a:xfrm>
          <a:prstGeom prst="rect">
            <a:avLst/>
          </a:prstGeom>
          <a:noFill/>
          <a:ln/>
        </p:spPr>
        <p:txBody>
          <a:bodyPr wrap="square" lIns="0" tIns="0" rIns="0" bIns="0" rtlCol="0" anchor="t"/>
          <a:lstStyle/>
          <a:p>
            <a:pPr algn="l" marL="177800" indent="-177800">
              <a:spcAft>
                <a:spcPts val="600"/>
              </a:spcAft>
              <a:buSzPct val="100000"/>
              <a:buChar char="•"/>
            </a:pPr>
            <a:r>
              <a:rPr lang="en-US" sz="1600" dirty="0">
                <a:solidFill>
                  <a:schemeClr val="tx1"/>
                </a:solidFill>
              </a:rPr>
              <a:t>Map: split the work</a:t>
            </a:r>
            <a:endParaRPr lang="en-US" sz="1600" dirty="0"/>
          </a:p>
          <a:p>
            <a:pPr algn="l" marL="177800" indent="-177800">
              <a:spcAft>
                <a:spcPts val="600"/>
              </a:spcAft>
              <a:buSzPct val="100000"/>
              <a:buChar char="•"/>
            </a:pPr>
            <a:r>
              <a:rPr lang="en-US" sz="1600" dirty="0">
                <a:solidFill>
                  <a:schemeClr val="tx1"/>
                </a:solidFill>
              </a:rPr>
              <a:t>Reduce: combine results</a:t>
            </a:r>
            <a:endParaRPr lang="en-US" sz="1600" dirty="0"/>
          </a:p>
        </p:txBody>
      </p:sp>
      <p:sp>
        <p:nvSpPr>
          <p:cNvPr id="18" name="eBay evidence 3"/>
          <p:cNvSpPr txBox="1"/>
          <p:nvPr/>
        </p:nvSpPr>
        <p:spPr>
          <a:xfrm>
            <a:off x="6263640" y="3611880"/>
            <a:ext cx="2286000" cy="777240"/>
          </a:xfrm>
          <a:prstGeom prst="rect">
            <a:avLst/>
          </a:prstGeom>
          <a:noFill/>
          <a:ln/>
        </p:spPr>
        <p:txBody>
          <a:bodyPr wrap="square" lIns="0" tIns="0" rIns="0" bIns="0" rtlCol="0" anchor="t"/>
          <a:lstStyle/>
          <a:p>
            <a:pPr algn="l" indent="0" marL="0">
              <a:buNone/>
            </a:pPr>
            <a:r>
              <a:rPr lang="en-US" sz="1600" b="1" dirty="0">
                <a:solidFill>
                  <a:schemeClr val="accent2"/>
                </a:solidFill>
              </a:rPr>
              <a:t>eBay: builds Cassini search indexes</a:t>
            </a:r>
            <a:endParaRPr lang="en-US" sz="1600" dirty="0"/>
          </a:p>
        </p:txBody>
      </p:sp>
      <p:sp>
        <p:nvSpPr>
          <p:cNvPr id="19" name="Arrow 1"/>
          <p:cNvSpPr/>
          <p:nvPr/>
        </p:nvSpPr>
        <p:spPr>
          <a:xfrm>
            <a:off x="3035808" y="3017520"/>
            <a:ext cx="237744" cy="0"/>
          </a:xfrm>
          <a:prstGeom prst="line">
            <a:avLst/>
          </a:prstGeom>
          <a:noFill/>
          <a:ln w="25400">
            <a:solidFill>
              <a:schemeClr val="accent1"/>
            </a:solidFill>
            <a:prstDash val="solid"/>
            <a:tailEnd type="triangle"/>
          </a:ln>
        </p:spPr>
      </p:sp>
      <p:sp>
        <p:nvSpPr>
          <p:cNvPr id="20" name="Arrow 2"/>
          <p:cNvSpPr/>
          <p:nvPr/>
        </p:nvSpPr>
        <p:spPr>
          <a:xfrm>
            <a:off x="5870448" y="3017520"/>
            <a:ext cx="237744" cy="0"/>
          </a:xfrm>
          <a:prstGeom prst="line">
            <a:avLst/>
          </a:prstGeom>
          <a:noFill/>
          <a:ln w="25400">
            <a:solidFill>
              <a:schemeClr val="accent1"/>
            </a:solidFill>
            <a:prstDash val="solid"/>
            <a:tailEnd type="triangle"/>
          </a:ln>
        </p:spPr>
      </p:sp>
      <p:sp>
        <p:nvSpPr>
          <p:cNvPr id="21" name="Source citation"/>
          <p:cNvSpPr txBox="1"/>
          <p:nvPr/>
        </p:nvSpPr>
        <p:spPr>
          <a:xfrm>
            <a:off x="457200" y="4681728"/>
            <a:ext cx="7680960" cy="274320"/>
          </a:xfrm>
          <a:prstGeom prst="rect">
            <a:avLst/>
          </a:prstGeom>
          <a:noFill/>
          <a:ln/>
        </p:spPr>
        <p:txBody>
          <a:bodyPr wrap="square" lIns="0" tIns="0" rIns="0" bIns="0" rtlCol="0" anchor="t"/>
          <a:lstStyle/>
          <a:p>
            <a:pPr algn="l" indent="0" marL="0">
              <a:buNone/>
            </a:pPr>
            <a:r>
              <a:rPr lang="en-US" sz="1200" dirty="0">
                <a:solidFill>
                  <a:schemeClr val="accent3"/>
                </a:solidFill>
              </a:rPr>
              <a:t>Sources: Hadoop-2 @ eBay (n.d.); eBay tiered storage (n.d.); Hadoop and HBase @ eBay (c. 2013).</a:t>
            </a:r>
            <a:endParaRPr lang="en-US" sz="1200" dirty="0"/>
          </a:p>
        </p:txBody>
      </p:sp>
      <p:sp>
        <p:nvSpPr>
          <p:cNvPr id="25" name="Slide Number Placeholder 0"/>
          <p:cNvSpPr>
            <a:spLocks noGrp="1"/>
          </p:cNvSpPr>
          <p:nvPr>
            <p:ph type="sldNum" sz="quarter" idx="4294967295"/>
          </p:nvPr>
        </p:nvSpPr>
        <p:spPr>
          <a:xfrm>
            <a:off x="832104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0"/>
          <p:cNvSpPr/>
          <p:nvPr>
            <p:ph idx="100" type="title" hasCustomPrompt="1"/>
          </p:nvPr>
        </p:nvSpPr>
        <p:spPr>
          <a:xfrm>
            <a:off x="457200" y="182880"/>
            <a:ext cx="8229600" cy="777240"/>
          </a:xfrm>
          <a:prstGeom prst="rect">
            <a:avLst/>
          </a:prstGeom>
          <a:noFill/>
          <a:ln/>
        </p:spPr>
        <p:txBody>
          <a:bodyPr wrap="square" lIns="0" tIns="0" rIns="0" bIns="0" rtlCol="0" anchor="t"/>
          <a:lstStyle/>
          <a:p>
            <a:pPr algn="l" indent="0" marL="0">
              <a:buNone/>
            </a:pPr>
            <a:r>
              <a:rPr lang="en-US" sz="2400" b="1" dirty="0">
                <a:solidFill>
                  <a:schemeClr val="tx2"/>
                </a:solidFill>
              </a:rPr>
              <a:t>eBay runs HBase, Cassandra and MongoDB, each matched to a different job</a:t>
            </a:r>
            <a:endParaRPr lang="en-US" sz="2400" dirty="0"/>
          </a:p>
        </p:txBody>
      </p:sp>
      <p:graphicFrame>
        <p:nvGraphicFramePr>
          <p:cNvPr id="7" name="NoSQL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463040"/>
                <a:gridCol w="3383280"/>
                <a:gridCol w="3383280"/>
              </a:tblGrid>
              <a:tr h="365760">
                <a:tc>
                  <a:txBody>
                    <a:bodyPr/>
                    <a:lstStyle/>
                    <a:p>
                      <a:pPr indent="0" marL="0">
                        <a:buNone/>
                      </a:pPr>
                      <a:r>
                        <a:rPr lang="en-US" sz="1600" b="1" dirty="0">
                          <a:solidFill>
                            <a:schemeClr val="bg1"/>
                          </a:solidFill>
                        </a:rPr>
                        <a:t>Database</a:t>
                      </a:r>
                      <a:endParaRPr lang="en-US" sz="1600" dirty="0"/>
                    </a:p>
                  </a:txBody>
                  <a:tcPr marL="91440" marR="91440" marT="36576" marB="36576" anchor="ctr">
                    <a:lnL w="9525" cap="flat" cmpd="sng" algn="ctr">
                      <a:solidFill>
                        <a:schemeClr val="accent6"/>
                      </a:solidFill>
                      <a:prstDash val="solid"/>
                      <a:round/>
                      <a:headEnd type="none" w="med" len="med"/>
                      <a:tailEnd type="none" w="med" len="med"/>
                    </a:lnL>
                    <a:lnR w="9525" cap="flat" cmpd="sng" algn="ctr">
                      <a:solidFill>
                        <a:schemeClr val="accent6"/>
                      </a:solidFill>
                      <a:prstDash val="solid"/>
                      <a:round/>
                      <a:headEnd type="none" w="med" len="med"/>
                      <a:tailEnd type="none" w="med" len="med"/>
                    </a:lnR>
                    <a:lnT w="9525" cap="flat" cmpd="sng" algn="ctr">
                      <a:solidFill>
                        <a:schemeClr val="accent6"/>
                      </a:solidFill>
                      <a:prstDash val="solid"/>
                      <a:round/>
                      <a:headEnd type="none" w="med" len="med"/>
                      <a:tailEnd type="none" w="med" len="med"/>
                    </a:lnT>
                    <a:lnB w="9525" cap="flat" cmpd="sng" algn="ctr">
                      <a:solidFill>
                        <a:schemeClr val="accent6"/>
                      </a:solidFill>
                      <a:prstDash val="solid"/>
                      <a:round/>
                      <a:headEnd type="none" w="med" len="med"/>
                      <a:tailEnd type="none" w="med" len="med"/>
                    </a:lnB>
                    <a:solidFill>
                      <a:schemeClr val="tx2"/>
                    </a:solidFill>
                  </a:tcPr>
                </a:tc>
                <a:tc>
                  <a:txBody>
                    <a:bodyPr/>
                    <a:lstStyle/>
                    <a:p>
                      <a:pPr indent="0" marL="0">
                        <a:buNone/>
                      </a:pPr>
                      <a:r>
                        <a:rPr lang="en-US" sz="1600" b="1" dirty="0">
                          <a:solidFill>
                            <a:schemeClr val="bg1"/>
                          </a:solidFill>
                        </a:rPr>
                        <a:t>eBay use</a:t>
                      </a:r>
                      <a:endParaRPr lang="en-US" sz="1600" dirty="0"/>
                    </a:p>
                  </a:txBody>
                  <a:tcPr marL="91440" marR="91440" marT="36576" marB="36576" anchor="ctr">
                    <a:lnL w="9525" cap="flat" cmpd="sng" algn="ctr">
                      <a:solidFill>
                        <a:schemeClr val="accent6"/>
                      </a:solidFill>
                      <a:prstDash val="solid"/>
                      <a:round/>
                      <a:headEnd type="none" w="med" len="med"/>
                      <a:tailEnd type="none" w="med" len="med"/>
                    </a:lnL>
                    <a:lnR w="9525" cap="flat" cmpd="sng" algn="ctr">
                      <a:solidFill>
                        <a:schemeClr val="accent6"/>
                      </a:solidFill>
                      <a:prstDash val="solid"/>
                      <a:round/>
                      <a:headEnd type="none" w="med" len="med"/>
                      <a:tailEnd type="none" w="med" len="med"/>
                    </a:lnR>
                    <a:lnT w="9525" cap="flat" cmpd="sng" algn="ctr">
                      <a:solidFill>
                        <a:schemeClr val="accent6"/>
                      </a:solidFill>
                      <a:prstDash val="solid"/>
                      <a:round/>
                      <a:headEnd type="none" w="med" len="med"/>
                      <a:tailEnd type="none" w="med" len="med"/>
                    </a:lnT>
                    <a:lnB w="9525" cap="flat" cmpd="sng" algn="ctr">
                      <a:solidFill>
                        <a:schemeClr val="accent6"/>
                      </a:solidFill>
                      <a:prstDash val="solid"/>
                      <a:round/>
                      <a:headEnd type="none" w="med" len="med"/>
                      <a:tailEnd type="none" w="med" len="med"/>
                    </a:lnB>
                    <a:solidFill>
                      <a:schemeClr val="tx2"/>
                    </a:solidFill>
                  </a:tcPr>
                </a:tc>
                <a:tc>
                  <a:txBody>
                    <a:bodyPr/>
                    <a:lstStyle/>
                    <a:p>
                      <a:pPr indent="0" marL="0">
                        <a:buNone/>
                      </a:pPr>
                      <a:r>
                        <a:rPr lang="en-US" sz="1600" b="1" dirty="0">
                          <a:solidFill>
                            <a:schemeClr val="bg1"/>
                          </a:solidFill>
                        </a:rPr>
                        <a:t>Why it fits</a:t>
                      </a:r>
                      <a:endParaRPr lang="en-US" sz="1600" dirty="0"/>
                    </a:p>
                  </a:txBody>
                  <a:tcPr marL="91440" marR="91440" marT="36576" marB="36576" anchor="ctr">
                    <a:lnL w="9525" cap="flat" cmpd="sng" algn="ctr">
                      <a:solidFill>
                        <a:schemeClr val="accent6"/>
                      </a:solidFill>
                      <a:prstDash val="solid"/>
                      <a:round/>
                      <a:headEnd type="none" w="med" len="med"/>
                      <a:tailEnd type="none" w="med" len="med"/>
                    </a:lnL>
                    <a:lnR w="9525" cap="flat" cmpd="sng" algn="ctr">
                      <a:solidFill>
                        <a:schemeClr val="accent6"/>
                      </a:solidFill>
                      <a:prstDash val="solid"/>
                      <a:round/>
                      <a:headEnd type="none" w="med" len="med"/>
                      <a:tailEnd type="none" w="med" len="med"/>
                    </a:lnR>
                    <a:lnT w="9525" cap="flat" cmpd="sng" algn="ctr">
                      <a:solidFill>
                        <a:schemeClr val="accent6"/>
                      </a:solidFill>
                      <a:prstDash val="solid"/>
                      <a:round/>
                      <a:headEnd type="none" w="med" len="med"/>
                      <a:tailEnd type="none" w="med" len="med"/>
                    </a:lnT>
                    <a:lnB w="9525" cap="flat" cmpd="sng" algn="ctr">
                      <a:solidFill>
                        <a:schemeClr val="accent6"/>
                      </a:solidFill>
                      <a:prstDash val="solid"/>
                      <a:round/>
                      <a:headEnd type="none" w="med" len="med"/>
                      <a:tailEnd type="none" w="med" len="med"/>
                    </a:lnB>
                    <a:solidFill>
                      <a:schemeClr val="tx2"/>
                    </a:solidFill>
                  </a:tcPr>
                </a:tc>
              </a:tr>
              <a:tr h="713232">
                <a:tc>
                  <a:txBody>
                    <a:bodyPr/>
                    <a:lstStyle/>
                    <a:p>
                      <a:pPr indent="0" marL="0">
                        <a:buNone/>
                      </a:pPr>
                      <a:r>
                        <a:rPr lang="en-US" sz="1600" b="1" dirty="0">
                          <a:solidFill>
                            <a:schemeClr val="tx2"/>
                          </a:solidFill>
                        </a:rPr>
                        <a:t>HBase</a:t>
                      </a:r>
                      <a:endParaRPr lang="en-US" sz="1600" dirty="0"/>
                    </a:p>
                  </a:txBody>
                  <a:tcPr marL="91440" marR="91440" marT="36576" marB="36576" anchor="ctr">
                    <a:lnL w="9525" cap="flat" cmpd="sng" algn="ctr">
                      <a:solidFill>
                        <a:schemeClr val="accent6"/>
                      </a:solidFill>
                      <a:prstDash val="solid"/>
                      <a:round/>
                      <a:headEnd type="none" w="med" len="med"/>
                      <a:tailEnd type="none" w="med" len="med"/>
                    </a:lnL>
                    <a:lnR w="9525" cap="flat" cmpd="sng" algn="ctr">
                      <a:solidFill>
                        <a:schemeClr val="accent6"/>
                      </a:solidFill>
                      <a:prstDash val="solid"/>
                      <a:round/>
                      <a:headEnd type="none" w="med" len="med"/>
                      <a:tailEnd type="none" w="med" len="med"/>
                    </a:lnR>
                    <a:lnT w="9525" cap="flat" cmpd="sng" algn="ctr">
                      <a:solidFill>
                        <a:schemeClr val="accent6"/>
                      </a:solidFill>
                      <a:prstDash val="solid"/>
                      <a:round/>
                      <a:headEnd type="none" w="med" len="med"/>
                      <a:tailEnd type="none" w="med" len="med"/>
                    </a:lnT>
                    <a:lnB w="9525" cap="flat" cmpd="sng" algn="ctr">
                      <a:solidFill>
                        <a:schemeClr val="accent6"/>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Cassini search indexes; Kylin OLAP cubes</a:t>
                      </a:r>
                      <a:endParaRPr lang="en-US" sz="1600" dirty="0"/>
                    </a:p>
                  </a:txBody>
                  <a:tcPr marL="91440" marR="91440" marT="36576" marB="36576" anchor="ctr">
                    <a:lnL w="9525" cap="flat" cmpd="sng" algn="ctr">
                      <a:solidFill>
                        <a:schemeClr val="accent6"/>
                      </a:solidFill>
                      <a:prstDash val="solid"/>
                      <a:round/>
                      <a:headEnd type="none" w="med" len="med"/>
                      <a:tailEnd type="none" w="med" len="med"/>
                    </a:lnL>
                    <a:lnR w="9525" cap="flat" cmpd="sng" algn="ctr">
                      <a:solidFill>
                        <a:schemeClr val="accent6"/>
                      </a:solidFill>
                      <a:prstDash val="solid"/>
                      <a:round/>
                      <a:headEnd type="none" w="med" len="med"/>
                      <a:tailEnd type="none" w="med" len="med"/>
                    </a:lnR>
                    <a:lnT w="9525" cap="flat" cmpd="sng" algn="ctr">
                      <a:solidFill>
                        <a:schemeClr val="accent6"/>
                      </a:solidFill>
                      <a:prstDash val="solid"/>
                      <a:round/>
                      <a:headEnd type="none" w="med" len="med"/>
                      <a:tailEnd type="none" w="med" len="med"/>
                    </a:lnT>
                    <a:lnB w="9525" cap="flat" cmpd="sng" algn="ctr">
                      <a:solidFill>
                        <a:schemeClr val="accent6"/>
                      </a:solidFill>
                      <a:prstDash val="solid"/>
                      <a:round/>
                      <a:headEnd type="none" w="med" len="med"/>
                      <a:tailEnd type="none" w="med" len="med"/>
                    </a:lnB>
                  </a:tcPr>
                </a:tc>
                <a:tc>
                  <a:txBody>
                    <a:bodyPr/>
                    <a:lstStyle/>
                    <a:p>
                      <a:pPr indent="0" marL="0">
                        <a:buNone/>
                      </a:pPr>
                      <a:r>
                        <a:rPr lang="en-US" sz="1600" dirty="0">
                          <a:solidFill>
                            <a:schemeClr val="tx1"/>
                          </a:solidFill>
                        </a:rPr>
                        <a:t>Fast random reads and writes on HDFS; MapReduce bulk-loads it</a:t>
                      </a:r>
                      <a:endParaRPr lang="en-US" sz="1600" dirty="0"/>
                    </a:p>
                  </a:txBody>
                  <a:tcPr marL="91440" marR="91440" marT="36576" marB="36576" anchor="ctr">
                    <a:lnL w="9525" cap="flat" cmpd="sng" algn="ctr">
                      <a:solidFill>
                        <a:schemeClr val="accent6"/>
                      </a:solidFill>
                      <a:prstDash val="solid"/>
                      <a:round/>
                      <a:headEnd type="none" w="med" len="med"/>
                      <a:tailEnd type="none" w="med" len="med"/>
                    </a:lnL>
                    <a:lnR w="9525" cap="flat" cmpd="sng" algn="ctr">
                      <a:solidFill>
                        <a:schemeClr val="accent6"/>
                      </a:solidFill>
                      <a:prstDash val="solid"/>
                      <a:round/>
                      <a:headEnd type="none" w="med" len="med"/>
                      <a:tailEnd type="none" w="med" len="med"/>
                    </a:lnR>
                    <a:lnT w="9525" cap="flat" cmpd="sng" algn="ctr">
                      <a:solidFill>
                        <a:schemeClr val="accent6"/>
                      </a:solidFill>
                      <a:prstDash val="solid"/>
                      <a:round/>
                      <a:headEnd type="none" w="med" len="med"/>
                      <a:tailEnd type="none" w="med" len="med"/>
                    </a:lnT>
                    <a:lnB w="9525" cap="flat" cmpd="sng" algn="ctr">
                      <a:solidFill>
                        <a:schemeClr val="accent6"/>
                      </a:solidFill>
                      <a:prstDash val="solid"/>
                      <a:round/>
                      <a:headEnd type="none" w="med" len="med"/>
                      <a:tailEnd type="none" w="med" len="med"/>
                    </a:lnB>
                  </a:tcPr>
                </a:tc>
              </a:tr>
              <a:tr h="713232">
                <a:tc>
                  <a:txBody>
                    <a:bodyPr/>
                    <a:lstStyle/>
                    <a:p>
                      <a:pPr indent="0" marL="0">
                        <a:buNone/>
                      </a:pPr>
                      <a:r>
                        <a:rPr lang="en-US" sz="1600" b="1" dirty="0">
                          <a:solidFill>
                            <a:schemeClr val="tx2"/>
                          </a:solidFill>
                        </a:rPr>
                        <a:t>Cassandra</a:t>
                      </a:r>
                      <a:endParaRPr lang="en-US" sz="1600" dirty="0"/>
                    </a:p>
                  </a:txBody>
                  <a:tcPr marL="91440" marR="91440" marT="36576" marB="36576" anchor="ctr">
                    <a:lnL w="9525" cap="flat" cmpd="sng" algn="ctr">
                      <a:solidFill>
                        <a:schemeClr val="accent6"/>
                      </a:solidFill>
                      <a:prstDash val="solid"/>
                      <a:round/>
                      <a:headEnd type="none" w="med" len="med"/>
                      <a:tailEnd type="none" w="med" len="med"/>
                    </a:lnL>
                    <a:lnR w="9525" cap="flat" cmpd="sng" algn="ctr">
                      <a:solidFill>
                        <a:schemeClr val="accent6"/>
                      </a:solidFill>
                      <a:prstDash val="solid"/>
                      <a:round/>
                      <a:headEnd type="none" w="med" len="med"/>
                      <a:tailEnd type="none" w="med" len="med"/>
                    </a:lnR>
                    <a:lnT w="9525" cap="flat" cmpd="sng" algn="ctr">
                      <a:solidFill>
                        <a:schemeClr val="accent6"/>
                      </a:solidFill>
                      <a:prstDash val="solid"/>
                      <a:round/>
                      <a:headEnd type="none" w="med" len="med"/>
                      <a:tailEnd type="none" w="med" len="med"/>
                    </a:lnT>
                    <a:lnB w="9525" cap="flat" cmpd="sng" algn="ctr">
                      <a:solidFill>
                        <a:schemeClr val="accent6"/>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Social signals, fraud time series, order tracking</a:t>
                      </a:r>
                      <a:endParaRPr lang="en-US" sz="1600" dirty="0"/>
                    </a:p>
                  </a:txBody>
                  <a:tcPr marL="91440" marR="91440" marT="36576" marB="36576" anchor="ctr">
                    <a:lnL w="9525" cap="flat" cmpd="sng" algn="ctr">
                      <a:solidFill>
                        <a:schemeClr val="accent6"/>
                      </a:solidFill>
                      <a:prstDash val="solid"/>
                      <a:round/>
                      <a:headEnd type="none" w="med" len="med"/>
                      <a:tailEnd type="none" w="med" len="med"/>
                    </a:lnL>
                    <a:lnR w="9525" cap="flat" cmpd="sng" algn="ctr">
                      <a:solidFill>
                        <a:schemeClr val="accent6"/>
                      </a:solidFill>
                      <a:prstDash val="solid"/>
                      <a:round/>
                      <a:headEnd type="none" w="med" len="med"/>
                      <a:tailEnd type="none" w="med" len="med"/>
                    </a:lnR>
                    <a:lnT w="9525" cap="flat" cmpd="sng" algn="ctr">
                      <a:solidFill>
                        <a:schemeClr val="accent6"/>
                      </a:solidFill>
                      <a:prstDash val="solid"/>
                      <a:round/>
                      <a:headEnd type="none" w="med" len="med"/>
                      <a:tailEnd type="none" w="med" len="med"/>
                    </a:lnT>
                    <a:lnB w="9525" cap="flat" cmpd="sng" algn="ctr">
                      <a:solidFill>
                        <a:schemeClr val="accent6"/>
                      </a:solidFill>
                      <a:prstDash val="solid"/>
                      <a:round/>
                      <a:headEnd type="none" w="med" len="med"/>
                      <a:tailEnd type="none" w="med" len="med"/>
                    </a:lnB>
                  </a:tcPr>
                </a:tc>
                <a:tc>
                  <a:txBody>
                    <a:bodyPr/>
                    <a:lstStyle/>
                    <a:p>
                      <a:pPr indent="0" marL="0">
                        <a:buNone/>
                      </a:pPr>
                      <a:r>
                        <a:rPr lang="en-US" sz="1600" dirty="0">
                          <a:solidFill>
                            <a:schemeClr val="tx1"/>
                          </a:solidFill>
                        </a:rPr>
                        <a:t>Very fast writes; scalable counters</a:t>
                      </a:r>
                      <a:endParaRPr lang="en-US" sz="1600" dirty="0"/>
                    </a:p>
                  </a:txBody>
                  <a:tcPr marL="91440" marR="91440" marT="36576" marB="36576" anchor="ctr">
                    <a:lnL w="9525" cap="flat" cmpd="sng" algn="ctr">
                      <a:solidFill>
                        <a:schemeClr val="accent6"/>
                      </a:solidFill>
                      <a:prstDash val="solid"/>
                      <a:round/>
                      <a:headEnd type="none" w="med" len="med"/>
                      <a:tailEnd type="none" w="med" len="med"/>
                    </a:lnL>
                    <a:lnR w="9525" cap="flat" cmpd="sng" algn="ctr">
                      <a:solidFill>
                        <a:schemeClr val="accent6"/>
                      </a:solidFill>
                      <a:prstDash val="solid"/>
                      <a:round/>
                      <a:headEnd type="none" w="med" len="med"/>
                      <a:tailEnd type="none" w="med" len="med"/>
                    </a:lnR>
                    <a:lnT w="9525" cap="flat" cmpd="sng" algn="ctr">
                      <a:solidFill>
                        <a:schemeClr val="accent6"/>
                      </a:solidFill>
                      <a:prstDash val="solid"/>
                      <a:round/>
                      <a:headEnd type="none" w="med" len="med"/>
                      <a:tailEnd type="none" w="med" len="med"/>
                    </a:lnT>
                    <a:lnB w="9525" cap="flat" cmpd="sng" algn="ctr">
                      <a:solidFill>
                        <a:schemeClr val="accent6"/>
                      </a:solidFill>
                      <a:prstDash val="solid"/>
                      <a:round/>
                      <a:headEnd type="none" w="med" len="med"/>
                      <a:tailEnd type="none" w="med" len="med"/>
                    </a:lnB>
                  </a:tcPr>
                </a:tc>
              </a:tr>
              <a:tr h="713232">
                <a:tc>
                  <a:txBody>
                    <a:bodyPr/>
                    <a:lstStyle/>
                    <a:p>
                      <a:pPr indent="0" marL="0">
                        <a:buNone/>
                      </a:pPr>
                      <a:r>
                        <a:rPr lang="en-US" sz="1600" b="1" dirty="0">
                          <a:solidFill>
                            <a:schemeClr val="tx2"/>
                          </a:solidFill>
                        </a:rPr>
                        <a:t>MongoDB</a:t>
                      </a:r>
                      <a:endParaRPr lang="en-US" sz="1600" dirty="0"/>
                    </a:p>
                  </a:txBody>
                  <a:tcPr marL="91440" marR="91440" marT="36576" marB="36576" anchor="ctr">
                    <a:lnL w="9525" cap="flat" cmpd="sng" algn="ctr">
                      <a:solidFill>
                        <a:schemeClr val="accent6"/>
                      </a:solidFill>
                      <a:prstDash val="solid"/>
                      <a:round/>
                      <a:headEnd type="none" w="med" len="med"/>
                      <a:tailEnd type="none" w="med" len="med"/>
                    </a:lnL>
                    <a:lnR w="9525" cap="flat" cmpd="sng" algn="ctr">
                      <a:solidFill>
                        <a:schemeClr val="accent6"/>
                      </a:solidFill>
                      <a:prstDash val="solid"/>
                      <a:round/>
                      <a:headEnd type="none" w="med" len="med"/>
                      <a:tailEnd type="none" w="med" len="med"/>
                    </a:lnR>
                    <a:lnT w="9525" cap="flat" cmpd="sng" algn="ctr">
                      <a:solidFill>
                        <a:schemeClr val="accent6"/>
                      </a:solidFill>
                      <a:prstDash val="solid"/>
                      <a:round/>
                      <a:headEnd type="none" w="med" len="med"/>
                      <a:tailEnd type="none" w="med" len="med"/>
                    </a:lnT>
                    <a:lnB w="9525" cap="flat" cmpd="sng" algn="ctr">
                      <a:solidFill>
                        <a:schemeClr val="accent6"/>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Product metadata, loaded daily from Hadoop</a:t>
                      </a:r>
                      <a:endParaRPr lang="en-US" sz="1600" dirty="0"/>
                    </a:p>
                  </a:txBody>
                  <a:tcPr marL="91440" marR="91440" marT="36576" marB="36576" anchor="ctr">
                    <a:lnL w="9525" cap="flat" cmpd="sng" algn="ctr">
                      <a:solidFill>
                        <a:schemeClr val="accent6"/>
                      </a:solidFill>
                      <a:prstDash val="solid"/>
                      <a:round/>
                      <a:headEnd type="none" w="med" len="med"/>
                      <a:tailEnd type="none" w="med" len="med"/>
                    </a:lnL>
                    <a:lnR w="9525" cap="flat" cmpd="sng" algn="ctr">
                      <a:solidFill>
                        <a:schemeClr val="accent6"/>
                      </a:solidFill>
                      <a:prstDash val="solid"/>
                      <a:round/>
                      <a:headEnd type="none" w="med" len="med"/>
                      <a:tailEnd type="none" w="med" len="med"/>
                    </a:lnR>
                    <a:lnT w="9525" cap="flat" cmpd="sng" algn="ctr">
                      <a:solidFill>
                        <a:schemeClr val="accent6"/>
                      </a:solidFill>
                      <a:prstDash val="solid"/>
                      <a:round/>
                      <a:headEnd type="none" w="med" len="med"/>
                      <a:tailEnd type="none" w="med" len="med"/>
                    </a:lnT>
                    <a:lnB w="9525" cap="flat" cmpd="sng" algn="ctr">
                      <a:solidFill>
                        <a:schemeClr val="accent6"/>
                      </a:solidFill>
                      <a:prstDash val="solid"/>
                      <a:round/>
                      <a:headEnd type="none" w="med" len="med"/>
                      <a:tailEnd type="none" w="med" len="med"/>
                    </a:lnB>
                  </a:tcPr>
                </a:tc>
                <a:tc>
                  <a:txBody>
                    <a:bodyPr/>
                    <a:lstStyle/>
                    <a:p>
                      <a:pPr indent="0" marL="0">
                        <a:buNone/>
                      </a:pPr>
                      <a:r>
                        <a:rPr lang="en-US" sz="1600" dirty="0">
                          <a:solidFill>
                            <a:schemeClr val="tx1"/>
                          </a:solidFill>
                        </a:rPr>
                        <a:t>Flexible schema for varied product fields</a:t>
                      </a:r>
                      <a:endParaRPr lang="en-US" sz="1600" dirty="0"/>
                    </a:p>
                  </a:txBody>
                  <a:tcPr marL="91440" marR="91440" marT="36576" marB="36576" anchor="ctr">
                    <a:lnL w="9525" cap="flat" cmpd="sng" algn="ctr">
                      <a:solidFill>
                        <a:schemeClr val="accent6"/>
                      </a:solidFill>
                      <a:prstDash val="solid"/>
                      <a:round/>
                      <a:headEnd type="none" w="med" len="med"/>
                      <a:tailEnd type="none" w="med" len="med"/>
                    </a:lnL>
                    <a:lnR w="9525" cap="flat" cmpd="sng" algn="ctr">
                      <a:solidFill>
                        <a:schemeClr val="accent6"/>
                      </a:solidFill>
                      <a:prstDash val="solid"/>
                      <a:round/>
                      <a:headEnd type="none" w="med" len="med"/>
                      <a:tailEnd type="none" w="med" len="med"/>
                    </a:lnR>
                    <a:lnT w="9525" cap="flat" cmpd="sng" algn="ctr">
                      <a:solidFill>
                        <a:schemeClr val="accent6"/>
                      </a:solidFill>
                      <a:prstDash val="solid"/>
                      <a:round/>
                      <a:headEnd type="none" w="med" len="med"/>
                      <a:tailEnd type="none" w="med" len="med"/>
                    </a:lnT>
                    <a:lnB w="9525" cap="flat" cmpd="sng" algn="ctr">
                      <a:solidFill>
                        <a:schemeClr val="accent6"/>
                      </a:solidFill>
                      <a:prstDash val="solid"/>
                      <a:round/>
                      <a:headEnd type="none" w="med" len="med"/>
                      <a:tailEnd type="none" w="med" len="med"/>
                    </a:lnB>
                  </a:tcPr>
                </a:tc>
              </a:tr>
            </a:tbl>
          </a:graphicData>
        </a:graphic>
      </p:graphicFrame>
      <p:sp>
        <p:nvSpPr>
          <p:cNvPr id="5" name="Recommendation callout"/>
          <p:cNvSpPr txBox="1"/>
          <p:nvPr/>
        </p:nvSpPr>
        <p:spPr>
          <a:xfrm>
            <a:off x="457200" y="3749040"/>
            <a:ext cx="8229600" cy="777240"/>
          </a:xfrm>
          <a:prstGeom prst="roundRect">
            <a:avLst>
              <a:gd name="adj" fmla="val 7059"/>
            </a:avLst>
          </a:prstGeom>
          <a:solidFill>
            <a:schemeClr val="accent4"/>
          </a:solidFill>
          <a:ln w="12700">
            <a:solidFill>
              <a:schemeClr val="accent2"/>
            </a:solidFill>
          </a:ln>
        </p:spPr>
        <p:txBody>
          <a:bodyPr wrap="square" lIns="76200" tIns="76200" rIns="76200" bIns="76200" rtlCol="0" anchor="ctr"/>
          <a:lstStyle/>
          <a:p>
            <a:pPr algn="l" indent="0" marL="0">
              <a:buNone/>
            </a:pPr>
            <a:r>
              <a:rPr lang="en-US" sz="1800" b="1" dirty="0">
                <a:solidFill>
                  <a:schemeClr val="tx1"/>
                </a:solidFill>
              </a:rPr>
              <a:t>Our pick: HBase for Hadoop-linked work, because it runs on HDFS; MongoDB for the product catalogue.</a:t>
            </a:r>
            <a:endParaRPr lang="en-US" sz="1800" dirty="0"/>
          </a:p>
        </p:txBody>
      </p:sp>
      <p:sp>
        <p:nvSpPr>
          <p:cNvPr id="6" name="Source citation"/>
          <p:cNvSpPr txBox="1"/>
          <p:nvPr/>
        </p:nvSpPr>
        <p:spPr>
          <a:xfrm>
            <a:off x="457200" y="4681728"/>
            <a:ext cx="7680960" cy="274320"/>
          </a:xfrm>
          <a:prstGeom prst="rect">
            <a:avLst/>
          </a:prstGeom>
          <a:noFill/>
          <a:ln/>
        </p:spPr>
        <p:txBody>
          <a:bodyPr wrap="square" lIns="0" tIns="0" rIns="0" bIns="0" rtlCol="0" anchor="t"/>
          <a:lstStyle/>
          <a:p>
            <a:pPr algn="l" indent="0" marL="0">
              <a:buNone/>
            </a:pPr>
            <a:r>
              <a:rPr lang="en-US" sz="1200" dirty="0">
                <a:solidFill>
                  <a:schemeClr val="accent3"/>
                </a:solidFill>
              </a:rPr>
              <a:t>Sources: Hadoop and HBase @ eBay (c. 2013); Kylin (eBay, 2014); Patel (2012); MongoDB at eBay (n.d.).</a:t>
            </a:r>
            <a:endParaRPr lang="en-US" sz="1200" dirty="0"/>
          </a:p>
        </p:txBody>
      </p:sp>
      <p:sp>
        <p:nvSpPr>
          <p:cNvPr id="25" name="Slide Number Placeholder 0"/>
          <p:cNvSpPr>
            <a:spLocks noGrp="1"/>
          </p:cNvSpPr>
          <p:nvPr>
            <p:ph type="sldNum" sz="quarter" idx="4294967295"/>
          </p:nvPr>
        </p:nvSpPr>
        <p:spPr>
          <a:xfrm>
            <a:off x="832104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p:nvPr>
            <p:ph idx="100" type="title" hasCustomPrompt="1"/>
          </p:nvPr>
        </p:nvSpPr>
        <p:spPr>
          <a:xfrm>
            <a:off x="457200" y="182880"/>
            <a:ext cx="8229600" cy="777240"/>
          </a:xfrm>
          <a:prstGeom prst="rect">
            <a:avLst/>
          </a:prstGeom>
          <a:noFill/>
          <a:ln/>
        </p:spPr>
        <p:txBody>
          <a:bodyPr wrap="square" lIns="0" tIns="0" rIns="0" bIns="0" rtlCol="0" anchor="t"/>
          <a:lstStyle/>
          <a:p>
            <a:pPr algn="l" indent="0" marL="0">
              <a:buNone/>
            </a:pPr>
            <a:r>
              <a:rPr lang="en-US" sz="2400" b="1" dirty="0">
                <a:solidFill>
                  <a:schemeClr val="tx2"/>
                </a:solidFill>
              </a:rPr>
              <a:t>One map links every Unit 1 and Unit 2 topic through eBay's data pipeline</a:t>
            </a:r>
            <a:endParaRPr lang="en-US" sz="2400" dirty="0"/>
          </a:p>
        </p:txBody>
      </p:sp>
      <p:sp>
        <p:nvSpPr>
          <p:cNvPr id="4" name="Central topic"/>
          <p:cNvSpPr txBox="1"/>
          <p:nvPr/>
        </p:nvSpPr>
        <p:spPr>
          <a:xfrm>
            <a:off x="3566160" y="914400"/>
            <a:ext cx="2011680" cy="365760"/>
          </a:xfrm>
          <a:prstGeom prst="roundRect">
            <a:avLst>
              <a:gd name="adj" fmla="val 20000"/>
            </a:avLst>
          </a:prstGeom>
          <a:solidFill>
            <a:schemeClr val="tx2"/>
          </a:solidFill>
          <a:ln w="12700">
            <a:solidFill>
              <a:schemeClr val="tx2"/>
            </a:solidFill>
          </a:ln>
        </p:spPr>
        <p:txBody>
          <a:bodyPr wrap="square" lIns="25400" tIns="25400" rIns="25400" bIns="25400" rtlCol="0" anchor="ctr"/>
          <a:lstStyle/>
          <a:p>
            <a:pPr algn="ctr" indent="0" marL="0">
              <a:buNone/>
            </a:pPr>
            <a:r>
              <a:rPr lang="en-US" sz="1300" b="1" dirty="0">
                <a:solidFill>
                  <a:schemeClr val="bg1"/>
                </a:solidFill>
              </a:rPr>
              <a:t>BIG DATA ANALYTICS</a:t>
            </a:r>
            <a:endParaRPr lang="en-US" sz="1300" dirty="0"/>
          </a:p>
        </p:txBody>
      </p:sp>
      <p:sp>
        <p:nvSpPr>
          <p:cNvPr id="5" name="Link centre to Unit 1"/>
          <p:cNvSpPr/>
          <p:nvPr/>
        </p:nvSpPr>
        <p:spPr>
          <a:xfrm flipV="1">
            <a:off x="2331720" y="1280160"/>
            <a:ext cx="2240280" cy="182880"/>
          </a:xfrm>
          <a:prstGeom prst="line">
            <a:avLst/>
          </a:prstGeom>
          <a:noFill/>
          <a:ln w="19050">
            <a:solidFill>
              <a:schemeClr val="tx2"/>
            </a:solidFill>
            <a:prstDash val="solid"/>
          </a:ln>
        </p:spPr>
      </p:sp>
      <p:sp>
        <p:nvSpPr>
          <p:cNvPr id="6" name="Link centre to Unit 2"/>
          <p:cNvSpPr/>
          <p:nvPr/>
        </p:nvSpPr>
        <p:spPr>
          <a:xfrm>
            <a:off x="4572000" y="1280160"/>
            <a:ext cx="2240280" cy="182880"/>
          </a:xfrm>
          <a:prstGeom prst="line">
            <a:avLst/>
          </a:prstGeom>
          <a:noFill/>
          <a:ln w="19050">
            <a:solidFill>
              <a:schemeClr val="tx2"/>
            </a:solidFill>
            <a:prstDash val="solid"/>
          </a:ln>
        </p:spPr>
      </p:sp>
      <p:sp>
        <p:nvSpPr>
          <p:cNvPr id="7" name="Unit 1 branch"/>
          <p:cNvSpPr txBox="1"/>
          <p:nvPr/>
        </p:nvSpPr>
        <p:spPr>
          <a:xfrm>
            <a:off x="457200" y="1463040"/>
            <a:ext cx="3703320" cy="347472"/>
          </a:xfrm>
          <a:prstGeom prst="roundRect">
            <a:avLst>
              <a:gd name="adj" fmla="val 15789"/>
            </a:avLst>
          </a:prstGeom>
          <a:solidFill>
            <a:schemeClr val="accent1"/>
          </a:solidFill>
          <a:ln w="12700">
            <a:solidFill>
              <a:schemeClr val="accent1"/>
            </a:solidFill>
          </a:ln>
        </p:spPr>
        <p:txBody>
          <a:bodyPr wrap="square" lIns="25400" tIns="25400" rIns="25400" bIns="25400" rtlCol="0" anchor="ctr"/>
          <a:lstStyle/>
          <a:p>
            <a:pPr algn="ctr" indent="0" marL="0">
              <a:buNone/>
            </a:pPr>
            <a:r>
              <a:rPr lang="en-US" sz="1300" b="1" dirty="0">
                <a:solidFill>
                  <a:schemeClr val="bg1"/>
                </a:solidFill>
              </a:rPr>
              <a:t>Unit 1: Introduction to Big Data</a:t>
            </a:r>
            <a:endParaRPr lang="en-US" sz="1300" dirty="0"/>
          </a:p>
        </p:txBody>
      </p:sp>
      <p:sp>
        <p:nvSpPr>
          <p:cNvPr id="8" name="Unit 2 branch"/>
          <p:cNvSpPr txBox="1"/>
          <p:nvPr/>
        </p:nvSpPr>
        <p:spPr>
          <a:xfrm>
            <a:off x="4983480" y="1463040"/>
            <a:ext cx="3703320" cy="347472"/>
          </a:xfrm>
          <a:prstGeom prst="roundRect">
            <a:avLst>
              <a:gd name="adj" fmla="val 15789"/>
            </a:avLst>
          </a:prstGeom>
          <a:solidFill>
            <a:schemeClr val="accent1"/>
          </a:solidFill>
          <a:ln w="12700">
            <a:solidFill>
              <a:schemeClr val="accent1"/>
            </a:solidFill>
          </a:ln>
        </p:spPr>
        <p:txBody>
          <a:bodyPr wrap="square" lIns="25400" tIns="25400" rIns="25400" bIns="25400" rtlCol="0" anchor="ctr"/>
          <a:lstStyle/>
          <a:p>
            <a:pPr algn="ctr" indent="0" marL="0">
              <a:buNone/>
            </a:pPr>
            <a:r>
              <a:rPr lang="en-US" sz="1300" b="1" dirty="0">
                <a:solidFill>
                  <a:schemeClr val="bg1"/>
                </a:solidFill>
              </a:rPr>
              <a:t>Unit 2: Hadoop Architecture</a:t>
            </a:r>
            <a:endParaRPr lang="en-US" sz="1300" dirty="0"/>
          </a:p>
        </p:txBody>
      </p:sp>
      <p:sp>
        <p:nvSpPr>
          <p:cNvPr id="9" name="Unit 1 spine"/>
          <p:cNvSpPr/>
          <p:nvPr/>
        </p:nvSpPr>
        <p:spPr>
          <a:xfrm>
            <a:off x="4114800" y="1810512"/>
            <a:ext cx="0" cy="2724912"/>
          </a:xfrm>
          <a:prstGeom prst="line">
            <a:avLst/>
          </a:prstGeom>
          <a:noFill/>
          <a:ln w="12700">
            <a:solidFill>
              <a:schemeClr val="accent6"/>
            </a:solidFill>
            <a:prstDash val="solid"/>
          </a:ln>
        </p:spPr>
      </p:sp>
      <p:sp>
        <p:nvSpPr>
          <p:cNvPr id="10" name="Unit 2 spine"/>
          <p:cNvSpPr/>
          <p:nvPr/>
        </p:nvSpPr>
        <p:spPr>
          <a:xfrm>
            <a:off x="5029200" y="1810512"/>
            <a:ext cx="0" cy="2679192"/>
          </a:xfrm>
          <a:prstGeom prst="line">
            <a:avLst/>
          </a:prstGeom>
          <a:noFill/>
          <a:ln w="12700">
            <a:solidFill>
              <a:schemeClr val="accent6"/>
            </a:solidFill>
            <a:prstDash val="solid"/>
          </a:ln>
        </p:spPr>
      </p:sp>
      <p:sp>
        <p:nvSpPr>
          <p:cNvPr id="11" name="Tick L0"/>
          <p:cNvSpPr/>
          <p:nvPr/>
        </p:nvSpPr>
        <p:spPr>
          <a:xfrm>
            <a:off x="4023360" y="2048256"/>
            <a:ext cx="91440" cy="0"/>
          </a:xfrm>
          <a:prstGeom prst="line">
            <a:avLst/>
          </a:prstGeom>
          <a:noFill/>
          <a:ln w="12700">
            <a:solidFill>
              <a:schemeClr val="accent6"/>
            </a:solidFill>
            <a:prstDash val="solid"/>
          </a:ln>
        </p:spPr>
      </p:sp>
      <p:sp>
        <p:nvSpPr>
          <p:cNvPr id="12" name="Unit 1 leaf: Definition"/>
          <p:cNvSpPr txBox="1"/>
          <p:nvPr/>
        </p:nvSpPr>
        <p:spPr>
          <a:xfrm>
            <a:off x="1828800" y="1920240"/>
            <a:ext cx="2194560" cy="256032"/>
          </a:xfrm>
          <a:prstGeom prst="roundRect">
            <a:avLst>
              <a:gd name="adj" fmla="val 17857"/>
            </a:avLst>
          </a:prstGeom>
          <a:solidFill>
            <a:schemeClr val="bg2"/>
          </a:solidFill>
          <a:ln w="9525">
            <a:solidFill>
              <a:schemeClr val="accent1"/>
            </a:solidFill>
          </a:ln>
        </p:spPr>
        <p:txBody>
          <a:bodyPr wrap="square" lIns="38100" tIns="38100" rIns="38100" bIns="38100" rtlCol="0" anchor="ctr"/>
          <a:lstStyle/>
          <a:p>
            <a:pPr algn="l" indent="0" marL="0">
              <a:buNone/>
            </a:pPr>
            <a:r>
              <a:rPr lang="en-US" sz="1100" dirty="0">
                <a:solidFill>
                  <a:schemeClr val="tx1"/>
                </a:solidFill>
              </a:rPr>
              <a:t>Definition</a:t>
            </a:r>
            <a:endParaRPr lang="en-US" sz="1100" dirty="0"/>
          </a:p>
        </p:txBody>
      </p:sp>
      <p:sp>
        <p:nvSpPr>
          <p:cNvPr id="13" name="Tick L1"/>
          <p:cNvSpPr/>
          <p:nvPr/>
        </p:nvSpPr>
        <p:spPr>
          <a:xfrm>
            <a:off x="4023360" y="2359152"/>
            <a:ext cx="91440" cy="0"/>
          </a:xfrm>
          <a:prstGeom prst="line">
            <a:avLst/>
          </a:prstGeom>
          <a:noFill/>
          <a:ln w="12700">
            <a:solidFill>
              <a:schemeClr val="accent6"/>
            </a:solidFill>
            <a:prstDash val="solid"/>
          </a:ln>
        </p:spPr>
      </p:sp>
      <p:sp>
        <p:nvSpPr>
          <p:cNvPr id="14" name="Unit 1 leaf: Evolution"/>
          <p:cNvSpPr txBox="1"/>
          <p:nvPr/>
        </p:nvSpPr>
        <p:spPr>
          <a:xfrm>
            <a:off x="1828800" y="2231136"/>
            <a:ext cx="2194560" cy="256032"/>
          </a:xfrm>
          <a:prstGeom prst="roundRect">
            <a:avLst>
              <a:gd name="adj" fmla="val 17857"/>
            </a:avLst>
          </a:prstGeom>
          <a:solidFill>
            <a:schemeClr val="bg2"/>
          </a:solidFill>
          <a:ln w="9525">
            <a:solidFill>
              <a:schemeClr val="accent1"/>
            </a:solidFill>
          </a:ln>
        </p:spPr>
        <p:txBody>
          <a:bodyPr wrap="square" lIns="38100" tIns="38100" rIns="38100" bIns="38100" rtlCol="0" anchor="ctr"/>
          <a:lstStyle/>
          <a:p>
            <a:pPr algn="l" indent="0" marL="0">
              <a:buNone/>
            </a:pPr>
            <a:r>
              <a:rPr lang="en-US" sz="1100" dirty="0">
                <a:solidFill>
                  <a:schemeClr val="tx1"/>
                </a:solidFill>
              </a:rPr>
              <a:t>Evolution</a:t>
            </a:r>
            <a:endParaRPr lang="en-US" sz="1100" dirty="0"/>
          </a:p>
        </p:txBody>
      </p:sp>
      <p:sp>
        <p:nvSpPr>
          <p:cNvPr id="15" name="Tick L2"/>
          <p:cNvSpPr/>
          <p:nvPr/>
        </p:nvSpPr>
        <p:spPr>
          <a:xfrm>
            <a:off x="4023360" y="2670048"/>
            <a:ext cx="91440" cy="0"/>
          </a:xfrm>
          <a:prstGeom prst="line">
            <a:avLst/>
          </a:prstGeom>
          <a:noFill/>
          <a:ln w="12700">
            <a:solidFill>
              <a:schemeClr val="accent6"/>
            </a:solidFill>
            <a:prstDash val="solid"/>
          </a:ln>
        </p:spPr>
      </p:sp>
      <p:sp>
        <p:nvSpPr>
          <p:cNvPr id="16" name="Unit 1 leaf: 5 Vs"/>
          <p:cNvSpPr txBox="1"/>
          <p:nvPr/>
        </p:nvSpPr>
        <p:spPr>
          <a:xfrm>
            <a:off x="1828800" y="2542032"/>
            <a:ext cx="2194560" cy="256032"/>
          </a:xfrm>
          <a:prstGeom prst="roundRect">
            <a:avLst>
              <a:gd name="adj" fmla="val 17857"/>
            </a:avLst>
          </a:prstGeom>
          <a:solidFill>
            <a:schemeClr val="bg2"/>
          </a:solidFill>
          <a:ln w="9525">
            <a:solidFill>
              <a:schemeClr val="accent1"/>
            </a:solidFill>
          </a:ln>
        </p:spPr>
        <p:txBody>
          <a:bodyPr wrap="square" lIns="38100" tIns="38100" rIns="38100" bIns="38100" rtlCol="0" anchor="ctr"/>
          <a:lstStyle/>
          <a:p>
            <a:pPr algn="l" indent="0" marL="0">
              <a:buNone/>
            </a:pPr>
            <a:r>
              <a:rPr lang="en-US" sz="1100" dirty="0">
                <a:solidFill>
                  <a:schemeClr val="tx1"/>
                </a:solidFill>
              </a:rPr>
              <a:t>5 Vs</a:t>
            </a:r>
            <a:endParaRPr lang="en-US" sz="1100" dirty="0"/>
          </a:p>
        </p:txBody>
      </p:sp>
      <p:sp>
        <p:nvSpPr>
          <p:cNvPr id="17" name="Tick L3"/>
          <p:cNvSpPr/>
          <p:nvPr/>
        </p:nvSpPr>
        <p:spPr>
          <a:xfrm>
            <a:off x="4023360" y="2980944"/>
            <a:ext cx="91440" cy="0"/>
          </a:xfrm>
          <a:prstGeom prst="line">
            <a:avLst/>
          </a:prstGeom>
          <a:noFill/>
          <a:ln w="12700">
            <a:solidFill>
              <a:schemeClr val="accent6"/>
            </a:solidFill>
            <a:prstDash val="solid"/>
          </a:ln>
        </p:spPr>
      </p:sp>
      <p:sp>
        <p:nvSpPr>
          <p:cNvPr id="18" name="Unit 1 leaf: Characteristics"/>
          <p:cNvSpPr txBox="1"/>
          <p:nvPr/>
        </p:nvSpPr>
        <p:spPr>
          <a:xfrm>
            <a:off x="1828800" y="2852928"/>
            <a:ext cx="2194560" cy="256032"/>
          </a:xfrm>
          <a:prstGeom prst="roundRect">
            <a:avLst>
              <a:gd name="adj" fmla="val 17857"/>
            </a:avLst>
          </a:prstGeom>
          <a:solidFill>
            <a:schemeClr val="bg2"/>
          </a:solidFill>
          <a:ln w="9525">
            <a:solidFill>
              <a:schemeClr val="accent1"/>
            </a:solidFill>
          </a:ln>
        </p:spPr>
        <p:txBody>
          <a:bodyPr wrap="square" lIns="38100" tIns="38100" rIns="38100" bIns="38100" rtlCol="0" anchor="ctr"/>
          <a:lstStyle/>
          <a:p>
            <a:pPr algn="l" indent="0" marL="0">
              <a:buNone/>
            </a:pPr>
            <a:r>
              <a:rPr lang="en-US" sz="1100" dirty="0">
                <a:solidFill>
                  <a:schemeClr val="tx1"/>
                </a:solidFill>
              </a:rPr>
              <a:t>Characteristics</a:t>
            </a:r>
            <a:endParaRPr lang="en-US" sz="1100" dirty="0"/>
          </a:p>
        </p:txBody>
      </p:sp>
      <p:sp>
        <p:nvSpPr>
          <p:cNvPr id="19" name="Tick L4"/>
          <p:cNvSpPr/>
          <p:nvPr/>
        </p:nvSpPr>
        <p:spPr>
          <a:xfrm>
            <a:off x="4023360" y="3291840"/>
            <a:ext cx="91440" cy="0"/>
          </a:xfrm>
          <a:prstGeom prst="line">
            <a:avLst/>
          </a:prstGeom>
          <a:noFill/>
          <a:ln w="12700">
            <a:solidFill>
              <a:schemeClr val="accent6"/>
            </a:solidFill>
            <a:prstDash val="solid"/>
          </a:ln>
        </p:spPr>
      </p:sp>
      <p:sp>
        <p:nvSpPr>
          <p:cNvPr id="20" name="Unit 1 leaf: Importance"/>
          <p:cNvSpPr txBox="1"/>
          <p:nvPr/>
        </p:nvSpPr>
        <p:spPr>
          <a:xfrm>
            <a:off x="1828800" y="3163824"/>
            <a:ext cx="2194560" cy="256032"/>
          </a:xfrm>
          <a:prstGeom prst="roundRect">
            <a:avLst>
              <a:gd name="adj" fmla="val 17857"/>
            </a:avLst>
          </a:prstGeom>
          <a:solidFill>
            <a:schemeClr val="bg2"/>
          </a:solidFill>
          <a:ln w="9525">
            <a:solidFill>
              <a:schemeClr val="accent1"/>
            </a:solidFill>
          </a:ln>
        </p:spPr>
        <p:txBody>
          <a:bodyPr wrap="square" lIns="38100" tIns="38100" rIns="38100" bIns="38100" rtlCol="0" anchor="ctr"/>
          <a:lstStyle/>
          <a:p>
            <a:pPr algn="l" indent="0" marL="0">
              <a:buNone/>
            </a:pPr>
            <a:r>
              <a:rPr lang="en-US" sz="1100" dirty="0">
                <a:solidFill>
                  <a:schemeClr val="tx1"/>
                </a:solidFill>
              </a:rPr>
              <a:t>Importance</a:t>
            </a:r>
            <a:endParaRPr lang="en-US" sz="1100" dirty="0"/>
          </a:p>
        </p:txBody>
      </p:sp>
      <p:sp>
        <p:nvSpPr>
          <p:cNvPr id="21" name="Tick L5"/>
          <p:cNvSpPr/>
          <p:nvPr/>
        </p:nvSpPr>
        <p:spPr>
          <a:xfrm>
            <a:off x="4023360" y="3602736"/>
            <a:ext cx="91440" cy="0"/>
          </a:xfrm>
          <a:prstGeom prst="line">
            <a:avLst/>
          </a:prstGeom>
          <a:noFill/>
          <a:ln w="12700">
            <a:solidFill>
              <a:schemeClr val="accent6"/>
            </a:solidFill>
            <a:prstDash val="solid"/>
          </a:ln>
        </p:spPr>
      </p:sp>
      <p:sp>
        <p:nvSpPr>
          <p:cNvPr id="22" name="Unit 1 leaf: RDBMS vs Distributed Systems"/>
          <p:cNvSpPr txBox="1"/>
          <p:nvPr/>
        </p:nvSpPr>
        <p:spPr>
          <a:xfrm>
            <a:off x="1828800" y="3474720"/>
            <a:ext cx="2194560" cy="256032"/>
          </a:xfrm>
          <a:prstGeom prst="roundRect">
            <a:avLst>
              <a:gd name="adj" fmla="val 17857"/>
            </a:avLst>
          </a:prstGeom>
          <a:solidFill>
            <a:schemeClr val="bg2"/>
          </a:solidFill>
          <a:ln w="9525">
            <a:solidFill>
              <a:schemeClr val="accent1"/>
            </a:solidFill>
          </a:ln>
        </p:spPr>
        <p:txBody>
          <a:bodyPr wrap="square" lIns="38100" tIns="38100" rIns="38100" bIns="38100" rtlCol="0" anchor="ctr"/>
          <a:lstStyle/>
          <a:p>
            <a:pPr algn="l" indent="0" marL="0">
              <a:buNone/>
            </a:pPr>
            <a:r>
              <a:rPr lang="en-US" sz="1100" dirty="0">
                <a:solidFill>
                  <a:schemeClr val="tx1"/>
                </a:solidFill>
              </a:rPr>
              <a:t>RDBMS vs Distributed Systems</a:t>
            </a:r>
            <a:endParaRPr lang="en-US" sz="1100" dirty="0"/>
          </a:p>
        </p:txBody>
      </p:sp>
      <p:sp>
        <p:nvSpPr>
          <p:cNvPr id="23" name="Tick L6"/>
          <p:cNvSpPr/>
          <p:nvPr/>
        </p:nvSpPr>
        <p:spPr>
          <a:xfrm>
            <a:off x="4023360" y="3913632"/>
            <a:ext cx="91440" cy="0"/>
          </a:xfrm>
          <a:prstGeom prst="line">
            <a:avLst/>
          </a:prstGeom>
          <a:noFill/>
          <a:ln w="12700">
            <a:solidFill>
              <a:schemeClr val="accent6"/>
            </a:solidFill>
            <a:prstDash val="solid"/>
          </a:ln>
        </p:spPr>
      </p:sp>
      <p:sp>
        <p:nvSpPr>
          <p:cNvPr id="24" name="Unit 1 leaf: Big Data Frameworks"/>
          <p:cNvSpPr txBox="1"/>
          <p:nvPr/>
        </p:nvSpPr>
        <p:spPr>
          <a:xfrm>
            <a:off x="1828800" y="3785616"/>
            <a:ext cx="2194560" cy="256032"/>
          </a:xfrm>
          <a:prstGeom prst="roundRect">
            <a:avLst>
              <a:gd name="adj" fmla="val 17857"/>
            </a:avLst>
          </a:prstGeom>
          <a:solidFill>
            <a:schemeClr val="bg2"/>
          </a:solidFill>
          <a:ln w="9525">
            <a:solidFill>
              <a:schemeClr val="accent1"/>
            </a:solidFill>
          </a:ln>
        </p:spPr>
        <p:txBody>
          <a:bodyPr wrap="square" lIns="38100" tIns="38100" rIns="38100" bIns="38100" rtlCol="0" anchor="ctr"/>
          <a:lstStyle/>
          <a:p>
            <a:pPr algn="l" indent="0" marL="0">
              <a:buNone/>
            </a:pPr>
            <a:r>
              <a:rPr lang="en-US" sz="1100" dirty="0">
                <a:solidFill>
                  <a:schemeClr val="tx1"/>
                </a:solidFill>
              </a:rPr>
              <a:t>Big Data Frameworks</a:t>
            </a:r>
            <a:endParaRPr lang="en-US" sz="1100" dirty="0"/>
          </a:p>
        </p:txBody>
      </p:sp>
      <p:sp>
        <p:nvSpPr>
          <p:cNvPr id="25" name="Tick L7"/>
          <p:cNvSpPr/>
          <p:nvPr/>
        </p:nvSpPr>
        <p:spPr>
          <a:xfrm>
            <a:off x="4023360" y="4224528"/>
            <a:ext cx="91440" cy="0"/>
          </a:xfrm>
          <a:prstGeom prst="line">
            <a:avLst/>
          </a:prstGeom>
          <a:noFill/>
          <a:ln w="12700">
            <a:solidFill>
              <a:schemeClr val="accent6"/>
            </a:solidFill>
            <a:prstDash val="solid"/>
          </a:ln>
        </p:spPr>
      </p:sp>
      <p:sp>
        <p:nvSpPr>
          <p:cNvPr id="26" name="Unit 1 leaf: Analytics Life Cycle"/>
          <p:cNvSpPr txBox="1"/>
          <p:nvPr/>
        </p:nvSpPr>
        <p:spPr>
          <a:xfrm>
            <a:off x="1828800" y="4096512"/>
            <a:ext cx="2194560" cy="256032"/>
          </a:xfrm>
          <a:prstGeom prst="roundRect">
            <a:avLst>
              <a:gd name="adj" fmla="val 17857"/>
            </a:avLst>
          </a:prstGeom>
          <a:solidFill>
            <a:schemeClr val="bg2"/>
          </a:solidFill>
          <a:ln w="9525">
            <a:solidFill>
              <a:schemeClr val="accent1"/>
            </a:solidFill>
          </a:ln>
        </p:spPr>
        <p:txBody>
          <a:bodyPr wrap="square" lIns="38100" tIns="38100" rIns="38100" bIns="38100" rtlCol="0" anchor="ctr"/>
          <a:lstStyle/>
          <a:p>
            <a:pPr algn="l" indent="0" marL="0">
              <a:buNone/>
            </a:pPr>
            <a:r>
              <a:rPr lang="en-US" sz="1100" dirty="0">
                <a:solidFill>
                  <a:schemeClr val="tx1"/>
                </a:solidFill>
              </a:rPr>
              <a:t>Analytics Life Cycle</a:t>
            </a:r>
            <a:endParaRPr lang="en-US" sz="1100" dirty="0"/>
          </a:p>
        </p:txBody>
      </p:sp>
      <p:sp>
        <p:nvSpPr>
          <p:cNvPr id="27" name="Tick L8"/>
          <p:cNvSpPr/>
          <p:nvPr/>
        </p:nvSpPr>
        <p:spPr>
          <a:xfrm>
            <a:off x="4023360" y="4535424"/>
            <a:ext cx="91440" cy="0"/>
          </a:xfrm>
          <a:prstGeom prst="line">
            <a:avLst/>
          </a:prstGeom>
          <a:noFill/>
          <a:ln w="12700">
            <a:solidFill>
              <a:schemeClr val="accent6"/>
            </a:solidFill>
            <a:prstDash val="solid"/>
          </a:ln>
        </p:spPr>
      </p:sp>
      <p:sp>
        <p:nvSpPr>
          <p:cNvPr id="28" name="Unit 1 leaf: Applications"/>
          <p:cNvSpPr txBox="1"/>
          <p:nvPr/>
        </p:nvSpPr>
        <p:spPr>
          <a:xfrm>
            <a:off x="1828800" y="4407408"/>
            <a:ext cx="2194560" cy="256032"/>
          </a:xfrm>
          <a:prstGeom prst="roundRect">
            <a:avLst>
              <a:gd name="adj" fmla="val 17857"/>
            </a:avLst>
          </a:prstGeom>
          <a:solidFill>
            <a:schemeClr val="bg2"/>
          </a:solidFill>
          <a:ln w="9525">
            <a:solidFill>
              <a:schemeClr val="accent1"/>
            </a:solidFill>
          </a:ln>
        </p:spPr>
        <p:txBody>
          <a:bodyPr wrap="square" lIns="38100" tIns="38100" rIns="38100" bIns="38100" rtlCol="0" anchor="ctr"/>
          <a:lstStyle/>
          <a:p>
            <a:pPr algn="l" indent="0" marL="0">
              <a:buNone/>
            </a:pPr>
            <a:r>
              <a:rPr lang="en-US" sz="1100" dirty="0">
                <a:solidFill>
                  <a:schemeClr val="tx1"/>
                </a:solidFill>
              </a:rPr>
              <a:t>Applications</a:t>
            </a:r>
            <a:endParaRPr lang="en-US" sz="1100" dirty="0"/>
          </a:p>
        </p:txBody>
      </p:sp>
      <p:sp>
        <p:nvSpPr>
          <p:cNvPr id="29" name="Tick R0"/>
          <p:cNvSpPr/>
          <p:nvPr/>
        </p:nvSpPr>
        <p:spPr>
          <a:xfrm>
            <a:off x="5029200" y="2075688"/>
            <a:ext cx="91440" cy="0"/>
          </a:xfrm>
          <a:prstGeom prst="line">
            <a:avLst/>
          </a:prstGeom>
          <a:noFill/>
          <a:ln w="12700">
            <a:solidFill>
              <a:schemeClr val="accent6"/>
            </a:solidFill>
            <a:prstDash val="solid"/>
          </a:ln>
        </p:spPr>
      </p:sp>
      <p:sp>
        <p:nvSpPr>
          <p:cNvPr id="30" name="Unit 2 leaf: Need for Hadoop"/>
          <p:cNvSpPr txBox="1"/>
          <p:nvPr/>
        </p:nvSpPr>
        <p:spPr>
          <a:xfrm>
            <a:off x="5120640" y="1920240"/>
            <a:ext cx="1828800" cy="310896"/>
          </a:xfrm>
          <a:prstGeom prst="roundRect">
            <a:avLst>
              <a:gd name="adj" fmla="val 14706"/>
            </a:avLst>
          </a:prstGeom>
          <a:solidFill>
            <a:schemeClr val="bg2"/>
          </a:solidFill>
          <a:ln w="9525">
            <a:solidFill>
              <a:schemeClr val="accent1"/>
            </a:solidFill>
          </a:ln>
        </p:spPr>
        <p:txBody>
          <a:bodyPr wrap="square" lIns="38100" tIns="38100" rIns="38100" bIns="38100" rtlCol="0" anchor="ctr"/>
          <a:lstStyle/>
          <a:p>
            <a:pPr algn="l" indent="0" marL="0">
              <a:buNone/>
            </a:pPr>
            <a:r>
              <a:rPr lang="en-US" sz="1100" dirty="0">
                <a:solidFill>
                  <a:schemeClr val="tx1"/>
                </a:solidFill>
              </a:rPr>
              <a:t>Need for Hadoop</a:t>
            </a:r>
            <a:endParaRPr lang="en-US" sz="1100" dirty="0"/>
          </a:p>
        </p:txBody>
      </p:sp>
      <p:sp>
        <p:nvSpPr>
          <p:cNvPr id="31" name="Tick R1"/>
          <p:cNvSpPr/>
          <p:nvPr/>
        </p:nvSpPr>
        <p:spPr>
          <a:xfrm>
            <a:off x="5029200" y="2478024"/>
            <a:ext cx="91440" cy="0"/>
          </a:xfrm>
          <a:prstGeom prst="line">
            <a:avLst/>
          </a:prstGeom>
          <a:noFill/>
          <a:ln w="12700">
            <a:solidFill>
              <a:schemeClr val="accent6"/>
            </a:solidFill>
            <a:prstDash val="solid"/>
          </a:ln>
        </p:spPr>
      </p:sp>
      <p:sp>
        <p:nvSpPr>
          <p:cNvPr id="32" name="Unit 2 leaf: Distributed Systems"/>
          <p:cNvSpPr txBox="1"/>
          <p:nvPr/>
        </p:nvSpPr>
        <p:spPr>
          <a:xfrm>
            <a:off x="5120640" y="2322576"/>
            <a:ext cx="1828800" cy="310896"/>
          </a:xfrm>
          <a:prstGeom prst="roundRect">
            <a:avLst>
              <a:gd name="adj" fmla="val 14706"/>
            </a:avLst>
          </a:prstGeom>
          <a:solidFill>
            <a:schemeClr val="bg2"/>
          </a:solidFill>
          <a:ln w="9525">
            <a:solidFill>
              <a:schemeClr val="accent1"/>
            </a:solidFill>
          </a:ln>
        </p:spPr>
        <p:txBody>
          <a:bodyPr wrap="square" lIns="38100" tIns="38100" rIns="38100" bIns="38100" rtlCol="0" anchor="ctr"/>
          <a:lstStyle/>
          <a:p>
            <a:pPr algn="l" indent="0" marL="0">
              <a:buNone/>
            </a:pPr>
            <a:r>
              <a:rPr lang="en-US" sz="1100" dirty="0">
                <a:solidFill>
                  <a:schemeClr val="tx1"/>
                </a:solidFill>
              </a:rPr>
              <a:t>Distributed Systems</a:t>
            </a:r>
            <a:endParaRPr lang="en-US" sz="1100" dirty="0"/>
          </a:p>
        </p:txBody>
      </p:sp>
      <p:sp>
        <p:nvSpPr>
          <p:cNvPr id="33" name="Tick R2"/>
          <p:cNvSpPr/>
          <p:nvPr/>
        </p:nvSpPr>
        <p:spPr>
          <a:xfrm>
            <a:off x="5029200" y="2880360"/>
            <a:ext cx="91440" cy="0"/>
          </a:xfrm>
          <a:prstGeom prst="line">
            <a:avLst/>
          </a:prstGeom>
          <a:noFill/>
          <a:ln w="12700">
            <a:solidFill>
              <a:schemeClr val="accent6"/>
            </a:solidFill>
            <a:prstDash val="solid"/>
          </a:ln>
        </p:spPr>
      </p:sp>
      <p:sp>
        <p:nvSpPr>
          <p:cNvPr id="34" name="Unit 2 leaf: HDFS"/>
          <p:cNvSpPr txBox="1"/>
          <p:nvPr/>
        </p:nvSpPr>
        <p:spPr>
          <a:xfrm>
            <a:off x="5120640" y="2724912"/>
            <a:ext cx="1828800" cy="310896"/>
          </a:xfrm>
          <a:prstGeom prst="roundRect">
            <a:avLst>
              <a:gd name="adj" fmla="val 14706"/>
            </a:avLst>
          </a:prstGeom>
          <a:solidFill>
            <a:schemeClr val="bg2"/>
          </a:solidFill>
          <a:ln w="9525">
            <a:solidFill>
              <a:schemeClr val="accent1"/>
            </a:solidFill>
          </a:ln>
        </p:spPr>
        <p:txBody>
          <a:bodyPr wrap="square" lIns="38100" tIns="38100" rIns="38100" bIns="38100" rtlCol="0" anchor="ctr"/>
          <a:lstStyle/>
          <a:p>
            <a:pPr algn="l" indent="0" marL="0">
              <a:buNone/>
            </a:pPr>
            <a:r>
              <a:rPr lang="en-US" sz="1100" dirty="0">
                <a:solidFill>
                  <a:schemeClr val="tx1"/>
                </a:solidFill>
              </a:rPr>
              <a:t>HDFS</a:t>
            </a:r>
            <a:endParaRPr lang="en-US" sz="1100" dirty="0"/>
          </a:p>
        </p:txBody>
      </p:sp>
      <p:sp>
        <p:nvSpPr>
          <p:cNvPr id="35" name="Tick R3"/>
          <p:cNvSpPr/>
          <p:nvPr/>
        </p:nvSpPr>
        <p:spPr>
          <a:xfrm>
            <a:off x="5029200" y="3282696"/>
            <a:ext cx="91440" cy="0"/>
          </a:xfrm>
          <a:prstGeom prst="line">
            <a:avLst/>
          </a:prstGeom>
          <a:noFill/>
          <a:ln w="12700">
            <a:solidFill>
              <a:schemeClr val="accent6"/>
            </a:solidFill>
            <a:prstDash val="solid"/>
          </a:ln>
        </p:spPr>
      </p:sp>
      <p:sp>
        <p:nvSpPr>
          <p:cNvPr id="36" name="Unit 2 leaf: YARN"/>
          <p:cNvSpPr txBox="1"/>
          <p:nvPr/>
        </p:nvSpPr>
        <p:spPr>
          <a:xfrm>
            <a:off x="5120640" y="3127248"/>
            <a:ext cx="1828800" cy="310896"/>
          </a:xfrm>
          <a:prstGeom prst="roundRect">
            <a:avLst>
              <a:gd name="adj" fmla="val 14706"/>
            </a:avLst>
          </a:prstGeom>
          <a:solidFill>
            <a:schemeClr val="bg2"/>
          </a:solidFill>
          <a:ln w="9525">
            <a:solidFill>
              <a:schemeClr val="accent1"/>
            </a:solidFill>
          </a:ln>
        </p:spPr>
        <p:txBody>
          <a:bodyPr wrap="square" lIns="38100" tIns="38100" rIns="38100" bIns="38100" rtlCol="0" anchor="ctr"/>
          <a:lstStyle/>
          <a:p>
            <a:pPr algn="l" indent="0" marL="0">
              <a:buNone/>
            </a:pPr>
            <a:r>
              <a:rPr lang="en-US" sz="1100" dirty="0">
                <a:solidFill>
                  <a:schemeClr val="tx1"/>
                </a:solidFill>
              </a:rPr>
              <a:t>YARN</a:t>
            </a:r>
            <a:endParaRPr lang="en-US" sz="1100" dirty="0"/>
          </a:p>
        </p:txBody>
      </p:sp>
      <p:sp>
        <p:nvSpPr>
          <p:cNvPr id="37" name="Tick R4"/>
          <p:cNvSpPr/>
          <p:nvPr/>
        </p:nvSpPr>
        <p:spPr>
          <a:xfrm>
            <a:off x="5029200" y="3685032"/>
            <a:ext cx="91440" cy="0"/>
          </a:xfrm>
          <a:prstGeom prst="line">
            <a:avLst/>
          </a:prstGeom>
          <a:noFill/>
          <a:ln w="12700">
            <a:solidFill>
              <a:schemeClr val="accent6"/>
            </a:solidFill>
            <a:prstDash val="solid"/>
          </a:ln>
        </p:spPr>
      </p:sp>
      <p:sp>
        <p:nvSpPr>
          <p:cNvPr id="38" name="Unit 2 leaf: MapReduce"/>
          <p:cNvSpPr txBox="1"/>
          <p:nvPr/>
        </p:nvSpPr>
        <p:spPr>
          <a:xfrm>
            <a:off x="5120640" y="3529584"/>
            <a:ext cx="1828800" cy="310896"/>
          </a:xfrm>
          <a:prstGeom prst="roundRect">
            <a:avLst>
              <a:gd name="adj" fmla="val 14706"/>
            </a:avLst>
          </a:prstGeom>
          <a:solidFill>
            <a:schemeClr val="bg2"/>
          </a:solidFill>
          <a:ln w="9525">
            <a:solidFill>
              <a:schemeClr val="accent1"/>
            </a:solidFill>
          </a:ln>
        </p:spPr>
        <p:txBody>
          <a:bodyPr wrap="square" lIns="38100" tIns="38100" rIns="38100" bIns="38100" rtlCol="0" anchor="ctr"/>
          <a:lstStyle/>
          <a:p>
            <a:pPr algn="l" indent="0" marL="0">
              <a:buNone/>
            </a:pPr>
            <a:r>
              <a:rPr lang="en-US" sz="1100" dirty="0">
                <a:solidFill>
                  <a:schemeClr val="tx1"/>
                </a:solidFill>
              </a:rPr>
              <a:t>MapReduce</a:t>
            </a:r>
            <a:endParaRPr lang="en-US" sz="1100" dirty="0"/>
          </a:p>
        </p:txBody>
      </p:sp>
      <p:sp>
        <p:nvSpPr>
          <p:cNvPr id="39" name="Tick R5"/>
          <p:cNvSpPr/>
          <p:nvPr/>
        </p:nvSpPr>
        <p:spPr>
          <a:xfrm>
            <a:off x="5029200" y="4087368"/>
            <a:ext cx="91440" cy="0"/>
          </a:xfrm>
          <a:prstGeom prst="line">
            <a:avLst/>
          </a:prstGeom>
          <a:noFill/>
          <a:ln w="12700">
            <a:solidFill>
              <a:schemeClr val="accent6"/>
            </a:solidFill>
            <a:prstDash val="solid"/>
          </a:ln>
        </p:spPr>
      </p:sp>
      <p:sp>
        <p:nvSpPr>
          <p:cNvPr id="40" name="Unit 2 leaf: NoSQL"/>
          <p:cNvSpPr txBox="1"/>
          <p:nvPr/>
        </p:nvSpPr>
        <p:spPr>
          <a:xfrm>
            <a:off x="5120640" y="3931920"/>
            <a:ext cx="1828800" cy="310896"/>
          </a:xfrm>
          <a:prstGeom prst="roundRect">
            <a:avLst>
              <a:gd name="adj" fmla="val 14706"/>
            </a:avLst>
          </a:prstGeom>
          <a:solidFill>
            <a:schemeClr val="bg2"/>
          </a:solidFill>
          <a:ln w="9525">
            <a:solidFill>
              <a:schemeClr val="accent1"/>
            </a:solidFill>
          </a:ln>
        </p:spPr>
        <p:txBody>
          <a:bodyPr wrap="square" lIns="38100" tIns="38100" rIns="38100" bIns="38100" rtlCol="0" anchor="ctr"/>
          <a:lstStyle/>
          <a:p>
            <a:pPr algn="l" indent="0" marL="0">
              <a:buNone/>
            </a:pPr>
            <a:r>
              <a:rPr lang="en-US" sz="1100" dirty="0">
                <a:solidFill>
                  <a:schemeClr val="tx1"/>
                </a:solidFill>
              </a:rPr>
              <a:t>NoSQL</a:t>
            </a:r>
            <a:endParaRPr lang="en-US" sz="1100" dirty="0"/>
          </a:p>
        </p:txBody>
      </p:sp>
      <p:sp>
        <p:nvSpPr>
          <p:cNvPr id="41" name="Tick R6"/>
          <p:cNvSpPr/>
          <p:nvPr/>
        </p:nvSpPr>
        <p:spPr>
          <a:xfrm>
            <a:off x="5029200" y="4489704"/>
            <a:ext cx="91440" cy="0"/>
          </a:xfrm>
          <a:prstGeom prst="line">
            <a:avLst/>
          </a:prstGeom>
          <a:noFill/>
          <a:ln w="12700">
            <a:solidFill>
              <a:schemeClr val="accent6"/>
            </a:solidFill>
            <a:prstDash val="solid"/>
          </a:ln>
        </p:spPr>
      </p:sp>
      <p:sp>
        <p:nvSpPr>
          <p:cNvPr id="42" name="Unit 2 leaf: eBay Case Study"/>
          <p:cNvSpPr txBox="1"/>
          <p:nvPr/>
        </p:nvSpPr>
        <p:spPr>
          <a:xfrm>
            <a:off x="5120640" y="4334256"/>
            <a:ext cx="1828800" cy="310896"/>
          </a:xfrm>
          <a:prstGeom prst="roundRect">
            <a:avLst>
              <a:gd name="adj" fmla="val 14706"/>
            </a:avLst>
          </a:prstGeom>
          <a:solidFill>
            <a:schemeClr val="tx2"/>
          </a:solidFill>
          <a:ln w="9525">
            <a:solidFill>
              <a:schemeClr val="tx2"/>
            </a:solidFill>
          </a:ln>
        </p:spPr>
        <p:txBody>
          <a:bodyPr wrap="square" lIns="38100" tIns="38100" rIns="38100" bIns="38100" rtlCol="0" anchor="ctr"/>
          <a:lstStyle/>
          <a:p>
            <a:pPr algn="l" indent="0" marL="0">
              <a:buNone/>
            </a:pPr>
            <a:r>
              <a:rPr lang="en-US" sz="1100" b="1" dirty="0">
                <a:solidFill>
                  <a:schemeClr val="bg1"/>
                </a:solidFill>
              </a:rPr>
              <a:t>eBay Case Study</a:t>
            </a:r>
            <a:endParaRPr lang="en-US" sz="1100" dirty="0"/>
          </a:p>
        </p:txBody>
      </p:sp>
      <p:sp>
        <p:nvSpPr>
          <p:cNvPr id="43" name="5 Vs sub-nodes"/>
          <p:cNvSpPr txBox="1"/>
          <p:nvPr/>
        </p:nvSpPr>
        <p:spPr>
          <a:xfrm>
            <a:off x="457200" y="2240280"/>
            <a:ext cx="1280160" cy="859536"/>
          </a:xfrm>
          <a:prstGeom prst="roundRect">
            <a:avLst>
              <a:gd name="adj" fmla="val 5319"/>
            </a:avLst>
          </a:prstGeom>
          <a:solidFill>
            <a:schemeClr val="bg1"/>
          </a:solidFill>
          <a:ln w="9525">
            <a:solidFill>
              <a:schemeClr val="accent6"/>
            </a:solidFill>
          </a:ln>
        </p:spPr>
        <p:txBody>
          <a:bodyPr wrap="square" lIns="38100" tIns="38100" rIns="38100" bIns="38100" rtlCol="0" anchor="ctr"/>
          <a:lstStyle/>
          <a:p>
            <a:pPr algn="l" indent="0" marL="0">
              <a:buNone/>
            </a:pPr>
            <a:r>
              <a:rPr lang="en-US" sz="1000" dirty="0">
                <a:solidFill>
                  <a:schemeClr val="tx1"/>
                </a:solidFill>
              </a:rPr>
              <a:t>Volume</a:t>
            </a:r>
            <a:endParaRPr lang="en-US" sz="1000" dirty="0"/>
          </a:p>
          <a:p>
            <a:pPr algn="l" indent="0" marL="0">
              <a:buNone/>
            </a:pPr>
            <a:r>
              <a:rPr lang="en-US" sz="1000" dirty="0">
                <a:solidFill>
                  <a:schemeClr val="tx1"/>
                </a:solidFill>
              </a:rPr>
              <a:t>Velocity</a:t>
            </a:r>
            <a:endParaRPr lang="en-US" sz="1000" dirty="0"/>
          </a:p>
          <a:p>
            <a:pPr algn="l" indent="0" marL="0">
              <a:buNone/>
            </a:pPr>
            <a:r>
              <a:rPr lang="en-US" sz="1000" dirty="0">
                <a:solidFill>
                  <a:schemeClr val="tx1"/>
                </a:solidFill>
              </a:rPr>
              <a:t>Variety</a:t>
            </a:r>
            <a:endParaRPr lang="en-US" sz="1000" dirty="0"/>
          </a:p>
          <a:p>
            <a:pPr algn="l" indent="0" marL="0">
              <a:buNone/>
            </a:pPr>
            <a:r>
              <a:rPr lang="en-US" sz="1000" dirty="0">
                <a:solidFill>
                  <a:schemeClr val="tx1"/>
                </a:solidFill>
              </a:rPr>
              <a:t>Veracity</a:t>
            </a:r>
            <a:endParaRPr lang="en-US" sz="1000" dirty="0"/>
          </a:p>
          <a:p>
            <a:pPr algn="l" indent="0" marL="0">
              <a:buNone/>
            </a:pPr>
            <a:r>
              <a:rPr lang="en-US" sz="1000" dirty="0">
                <a:solidFill>
                  <a:schemeClr val="tx1"/>
                </a:solidFill>
              </a:rPr>
              <a:t>Value</a:t>
            </a:r>
            <a:endParaRPr lang="en-US" sz="1000" dirty="0"/>
          </a:p>
        </p:txBody>
      </p:sp>
      <p:sp>
        <p:nvSpPr>
          <p:cNvPr id="44" name="Link 5 Vs"/>
          <p:cNvSpPr/>
          <p:nvPr/>
        </p:nvSpPr>
        <p:spPr>
          <a:xfrm>
            <a:off x="1737360" y="2670048"/>
            <a:ext cx="91440" cy="0"/>
          </a:xfrm>
          <a:prstGeom prst="line">
            <a:avLst/>
          </a:prstGeom>
          <a:noFill/>
          <a:ln w="12700">
            <a:solidFill>
              <a:schemeClr val="accent6"/>
            </a:solidFill>
            <a:prstDash val="solid"/>
          </a:ln>
        </p:spPr>
      </p:sp>
      <p:sp>
        <p:nvSpPr>
          <p:cNvPr id="45" name="Sub link 2"/>
          <p:cNvSpPr/>
          <p:nvPr/>
        </p:nvSpPr>
        <p:spPr>
          <a:xfrm>
            <a:off x="6949440" y="2880360"/>
            <a:ext cx="91440" cy="0"/>
          </a:xfrm>
          <a:prstGeom prst="line">
            <a:avLst/>
          </a:prstGeom>
          <a:noFill/>
          <a:ln w="12700">
            <a:solidFill>
              <a:schemeClr val="accent6"/>
            </a:solidFill>
            <a:prstDash val="solid"/>
          </a:ln>
        </p:spPr>
      </p:sp>
      <p:sp>
        <p:nvSpPr>
          <p:cNvPr id="46" name="Sub-nodes: HDFS"/>
          <p:cNvSpPr txBox="1"/>
          <p:nvPr/>
        </p:nvSpPr>
        <p:spPr>
          <a:xfrm>
            <a:off x="7040880" y="2697480"/>
            <a:ext cx="1645920" cy="365760"/>
          </a:xfrm>
          <a:prstGeom prst="roundRect">
            <a:avLst>
              <a:gd name="adj" fmla="val 12500"/>
            </a:avLst>
          </a:prstGeom>
          <a:solidFill>
            <a:schemeClr val="bg1"/>
          </a:solidFill>
          <a:ln w="9525">
            <a:solidFill>
              <a:schemeClr val="accent6"/>
            </a:solidFill>
          </a:ln>
        </p:spPr>
        <p:txBody>
          <a:bodyPr wrap="square" lIns="38100" tIns="38100" rIns="38100" bIns="38100" rtlCol="0" anchor="ctr"/>
          <a:lstStyle/>
          <a:p>
            <a:pPr algn="l" indent="0" marL="0">
              <a:buNone/>
            </a:pPr>
            <a:r>
              <a:rPr lang="en-US" sz="1000" dirty="0">
                <a:solidFill>
                  <a:schemeClr val="tx1"/>
                </a:solidFill>
              </a:rPr>
              <a:t>NameNode · DataNode</a:t>
            </a:r>
            <a:endParaRPr lang="en-US" sz="1000" dirty="0"/>
          </a:p>
          <a:p>
            <a:pPr algn="l" indent="0" marL="0">
              <a:buNone/>
            </a:pPr>
            <a:r>
              <a:rPr lang="en-US" sz="1000" dirty="0">
                <a:solidFill>
                  <a:schemeClr val="tx1"/>
                </a:solidFill>
              </a:rPr>
              <a:t>Replication</a:t>
            </a:r>
            <a:endParaRPr lang="en-US" sz="1000" dirty="0"/>
          </a:p>
        </p:txBody>
      </p:sp>
      <p:sp>
        <p:nvSpPr>
          <p:cNvPr id="47" name="Sub link 3"/>
          <p:cNvSpPr/>
          <p:nvPr/>
        </p:nvSpPr>
        <p:spPr>
          <a:xfrm>
            <a:off x="6949440" y="3282696"/>
            <a:ext cx="91440" cy="0"/>
          </a:xfrm>
          <a:prstGeom prst="line">
            <a:avLst/>
          </a:prstGeom>
          <a:noFill/>
          <a:ln w="12700">
            <a:solidFill>
              <a:schemeClr val="accent6"/>
            </a:solidFill>
            <a:prstDash val="solid"/>
          </a:ln>
        </p:spPr>
      </p:sp>
      <p:sp>
        <p:nvSpPr>
          <p:cNvPr id="48" name="Sub-nodes: YARN"/>
          <p:cNvSpPr txBox="1"/>
          <p:nvPr/>
        </p:nvSpPr>
        <p:spPr>
          <a:xfrm>
            <a:off x="7040880" y="3099816"/>
            <a:ext cx="1645920" cy="365760"/>
          </a:xfrm>
          <a:prstGeom prst="roundRect">
            <a:avLst>
              <a:gd name="adj" fmla="val 12500"/>
            </a:avLst>
          </a:prstGeom>
          <a:solidFill>
            <a:schemeClr val="bg1"/>
          </a:solidFill>
          <a:ln w="9525">
            <a:solidFill>
              <a:schemeClr val="accent6"/>
            </a:solidFill>
          </a:ln>
        </p:spPr>
        <p:txBody>
          <a:bodyPr wrap="square" lIns="38100" tIns="38100" rIns="38100" bIns="38100" rtlCol="0" anchor="ctr"/>
          <a:lstStyle/>
          <a:p>
            <a:pPr algn="l" indent="0" marL="0">
              <a:buNone/>
            </a:pPr>
            <a:r>
              <a:rPr lang="en-US" sz="1000" dirty="0">
                <a:solidFill>
                  <a:schemeClr val="tx1"/>
                </a:solidFill>
              </a:rPr>
              <a:t>Resource Manager</a:t>
            </a:r>
            <a:endParaRPr lang="en-US" sz="1000" dirty="0"/>
          </a:p>
          <a:p>
            <a:pPr algn="l" indent="0" marL="0">
              <a:buNone/>
            </a:pPr>
            <a:r>
              <a:rPr lang="en-US" sz="1000" dirty="0">
                <a:solidFill>
                  <a:schemeClr val="tx1"/>
                </a:solidFill>
              </a:rPr>
              <a:t>Node Manager</a:t>
            </a:r>
            <a:endParaRPr lang="en-US" sz="1000" dirty="0"/>
          </a:p>
        </p:txBody>
      </p:sp>
      <p:sp>
        <p:nvSpPr>
          <p:cNvPr id="49" name="Sub link 4"/>
          <p:cNvSpPr/>
          <p:nvPr/>
        </p:nvSpPr>
        <p:spPr>
          <a:xfrm>
            <a:off x="6949440" y="3685032"/>
            <a:ext cx="91440" cy="0"/>
          </a:xfrm>
          <a:prstGeom prst="line">
            <a:avLst/>
          </a:prstGeom>
          <a:noFill/>
          <a:ln w="12700">
            <a:solidFill>
              <a:schemeClr val="accent6"/>
            </a:solidFill>
            <a:prstDash val="solid"/>
          </a:ln>
        </p:spPr>
      </p:sp>
      <p:sp>
        <p:nvSpPr>
          <p:cNvPr id="50" name="Sub-nodes: MapReduce"/>
          <p:cNvSpPr txBox="1"/>
          <p:nvPr/>
        </p:nvSpPr>
        <p:spPr>
          <a:xfrm>
            <a:off x="7040880" y="3502152"/>
            <a:ext cx="1645920" cy="365760"/>
          </a:xfrm>
          <a:prstGeom prst="roundRect">
            <a:avLst>
              <a:gd name="adj" fmla="val 12500"/>
            </a:avLst>
          </a:prstGeom>
          <a:solidFill>
            <a:schemeClr val="bg1"/>
          </a:solidFill>
          <a:ln w="9525">
            <a:solidFill>
              <a:schemeClr val="accent6"/>
            </a:solidFill>
          </a:ln>
        </p:spPr>
        <p:txBody>
          <a:bodyPr wrap="square" lIns="38100" tIns="38100" rIns="38100" bIns="38100" rtlCol="0" anchor="ctr"/>
          <a:lstStyle/>
          <a:p>
            <a:pPr algn="l" indent="0" marL="0">
              <a:buNone/>
            </a:pPr>
            <a:r>
              <a:rPr lang="en-US" sz="1000" dirty="0">
                <a:solidFill>
                  <a:schemeClr val="tx1"/>
                </a:solidFill>
              </a:rPr>
              <a:t>Map · Reduce</a:t>
            </a:r>
            <a:endParaRPr lang="en-US" sz="1000" dirty="0"/>
          </a:p>
        </p:txBody>
      </p:sp>
      <p:sp>
        <p:nvSpPr>
          <p:cNvPr id="51" name="Sub link 5"/>
          <p:cNvSpPr/>
          <p:nvPr/>
        </p:nvSpPr>
        <p:spPr>
          <a:xfrm>
            <a:off x="6949440" y="4087368"/>
            <a:ext cx="91440" cy="0"/>
          </a:xfrm>
          <a:prstGeom prst="line">
            <a:avLst/>
          </a:prstGeom>
          <a:noFill/>
          <a:ln w="12700">
            <a:solidFill>
              <a:schemeClr val="accent6"/>
            </a:solidFill>
            <a:prstDash val="solid"/>
          </a:ln>
        </p:spPr>
      </p:sp>
      <p:sp>
        <p:nvSpPr>
          <p:cNvPr id="52" name="Sub-nodes: NoSQL"/>
          <p:cNvSpPr txBox="1"/>
          <p:nvPr/>
        </p:nvSpPr>
        <p:spPr>
          <a:xfrm>
            <a:off x="7040880" y="3904488"/>
            <a:ext cx="1645920" cy="365760"/>
          </a:xfrm>
          <a:prstGeom prst="roundRect">
            <a:avLst>
              <a:gd name="adj" fmla="val 12500"/>
            </a:avLst>
          </a:prstGeom>
          <a:solidFill>
            <a:schemeClr val="bg1"/>
          </a:solidFill>
          <a:ln w="9525">
            <a:solidFill>
              <a:schemeClr val="accent6"/>
            </a:solidFill>
          </a:ln>
        </p:spPr>
        <p:txBody>
          <a:bodyPr wrap="square" lIns="38100" tIns="38100" rIns="38100" bIns="38100" rtlCol="0" anchor="ctr"/>
          <a:lstStyle/>
          <a:p>
            <a:pPr algn="l" indent="0" marL="0">
              <a:buNone/>
            </a:pPr>
            <a:r>
              <a:rPr lang="en-US" sz="1000" dirty="0">
                <a:solidFill>
                  <a:schemeClr val="tx1"/>
                </a:solidFill>
              </a:rPr>
              <a:t>HBase · Cassandra</a:t>
            </a:r>
            <a:endParaRPr lang="en-US" sz="1000" dirty="0"/>
          </a:p>
          <a:p>
            <a:pPr algn="l" indent="0" marL="0">
              <a:buNone/>
            </a:pPr>
            <a:r>
              <a:rPr lang="en-US" sz="1000" dirty="0">
                <a:solidFill>
                  <a:schemeClr val="tx1"/>
                </a:solidFill>
              </a:rPr>
              <a:t>MongoDB</a:t>
            </a:r>
            <a:endParaRPr lang="en-US" sz="1000" dirty="0"/>
          </a:p>
        </p:txBody>
      </p:sp>
      <p:sp>
        <p:nvSpPr>
          <p:cNvPr id="53" name="Sub link 6"/>
          <p:cNvSpPr/>
          <p:nvPr/>
        </p:nvSpPr>
        <p:spPr>
          <a:xfrm>
            <a:off x="6949440" y="4489704"/>
            <a:ext cx="91440" cy="0"/>
          </a:xfrm>
          <a:prstGeom prst="line">
            <a:avLst/>
          </a:prstGeom>
          <a:noFill/>
          <a:ln w="12700">
            <a:solidFill>
              <a:schemeClr val="accent6"/>
            </a:solidFill>
            <a:prstDash val="solid"/>
          </a:ln>
        </p:spPr>
      </p:sp>
      <p:sp>
        <p:nvSpPr>
          <p:cNvPr id="54" name="Sub-nodes: eBay Case Study"/>
          <p:cNvSpPr txBox="1"/>
          <p:nvPr/>
        </p:nvSpPr>
        <p:spPr>
          <a:xfrm>
            <a:off x="7040880" y="4306824"/>
            <a:ext cx="1645920" cy="365760"/>
          </a:xfrm>
          <a:prstGeom prst="roundRect">
            <a:avLst>
              <a:gd name="adj" fmla="val 12500"/>
            </a:avLst>
          </a:prstGeom>
          <a:solidFill>
            <a:schemeClr val="bg1"/>
          </a:solidFill>
          <a:ln w="9525">
            <a:solidFill>
              <a:schemeClr val="accent6"/>
            </a:solidFill>
          </a:ln>
        </p:spPr>
        <p:txBody>
          <a:bodyPr wrap="square" lIns="38100" tIns="38100" rIns="38100" bIns="38100" rtlCol="0" anchor="ctr"/>
          <a:lstStyle/>
          <a:p>
            <a:pPr algn="l" indent="0" marL="0">
              <a:buNone/>
            </a:pPr>
            <a:r>
              <a:rPr lang="en-US" sz="1000" dirty="0">
                <a:solidFill>
                  <a:schemeClr val="tx1"/>
                </a:solidFill>
              </a:rPr>
              <a:t>SQL → Hadoop → NoSQL</a:t>
            </a:r>
            <a:endParaRPr lang="en-US" sz="1000" dirty="0"/>
          </a:p>
        </p:txBody>
      </p:sp>
      <p:sp>
        <p:nvSpPr>
          <p:cNvPr id="55" name="Cross-link 1"/>
          <p:cNvSpPr/>
          <p:nvPr/>
        </p:nvSpPr>
        <p:spPr>
          <a:xfrm flipV="1">
            <a:off x="4023360" y="2075688"/>
            <a:ext cx="1097280" cy="594360"/>
          </a:xfrm>
          <a:prstGeom prst="line">
            <a:avLst/>
          </a:prstGeom>
          <a:noFill/>
          <a:ln w="22225">
            <a:solidFill>
              <a:schemeClr val="accent2"/>
            </a:solidFill>
            <a:prstDash val="dash"/>
          </a:ln>
        </p:spPr>
      </p:sp>
      <p:sp>
        <p:nvSpPr>
          <p:cNvPr id="56" name="Cross-link 2"/>
          <p:cNvSpPr/>
          <p:nvPr/>
        </p:nvSpPr>
        <p:spPr>
          <a:xfrm flipV="1">
            <a:off x="4023360" y="2478024"/>
            <a:ext cx="1097280" cy="502920"/>
          </a:xfrm>
          <a:prstGeom prst="line">
            <a:avLst/>
          </a:prstGeom>
          <a:noFill/>
          <a:ln w="22225">
            <a:solidFill>
              <a:schemeClr val="accent2"/>
            </a:solidFill>
            <a:prstDash val="dash"/>
          </a:ln>
        </p:spPr>
      </p:sp>
      <p:sp>
        <p:nvSpPr>
          <p:cNvPr id="57" name="Cross-link 3"/>
          <p:cNvSpPr/>
          <p:nvPr/>
        </p:nvSpPr>
        <p:spPr>
          <a:xfrm flipV="1">
            <a:off x="4023360" y="2880360"/>
            <a:ext cx="1097280" cy="722376"/>
          </a:xfrm>
          <a:prstGeom prst="line">
            <a:avLst/>
          </a:prstGeom>
          <a:noFill/>
          <a:ln w="22225">
            <a:solidFill>
              <a:schemeClr val="accent2"/>
            </a:solidFill>
            <a:prstDash val="dash"/>
          </a:ln>
        </p:spPr>
      </p:sp>
      <p:sp>
        <p:nvSpPr>
          <p:cNvPr id="58" name="Cross-link 4"/>
          <p:cNvSpPr/>
          <p:nvPr/>
        </p:nvSpPr>
        <p:spPr>
          <a:xfrm flipV="1">
            <a:off x="4023360" y="3282696"/>
            <a:ext cx="1097280" cy="630936"/>
          </a:xfrm>
          <a:prstGeom prst="line">
            <a:avLst/>
          </a:prstGeom>
          <a:noFill/>
          <a:ln w="22225">
            <a:solidFill>
              <a:schemeClr val="accent2"/>
            </a:solidFill>
            <a:prstDash val="dash"/>
          </a:ln>
        </p:spPr>
      </p:sp>
      <p:sp>
        <p:nvSpPr>
          <p:cNvPr id="59" name="Cross-link 5"/>
          <p:cNvSpPr/>
          <p:nvPr/>
        </p:nvSpPr>
        <p:spPr>
          <a:xfrm flipV="1">
            <a:off x="4023360" y="3685032"/>
            <a:ext cx="1097280" cy="539496"/>
          </a:xfrm>
          <a:prstGeom prst="line">
            <a:avLst/>
          </a:prstGeom>
          <a:noFill/>
          <a:ln w="22225">
            <a:solidFill>
              <a:schemeClr val="accent2"/>
            </a:solidFill>
            <a:prstDash val="dash"/>
          </a:ln>
        </p:spPr>
      </p:sp>
      <p:sp>
        <p:nvSpPr>
          <p:cNvPr id="60" name="Cross-link 6"/>
          <p:cNvSpPr/>
          <p:nvPr/>
        </p:nvSpPr>
        <p:spPr>
          <a:xfrm flipV="1">
            <a:off x="4023360" y="4087368"/>
            <a:ext cx="1097280" cy="448056"/>
          </a:xfrm>
          <a:prstGeom prst="line">
            <a:avLst/>
          </a:prstGeom>
          <a:noFill/>
          <a:ln w="22225">
            <a:solidFill>
              <a:schemeClr val="accent2"/>
            </a:solidFill>
            <a:prstDash val="dash"/>
          </a:ln>
        </p:spPr>
      </p:sp>
      <p:sp>
        <p:nvSpPr>
          <p:cNvPr id="61" name="Cross-link 7"/>
          <p:cNvSpPr/>
          <p:nvPr/>
        </p:nvSpPr>
        <p:spPr>
          <a:xfrm flipV="1">
            <a:off x="4023360" y="4489704"/>
            <a:ext cx="1097280" cy="45720"/>
          </a:xfrm>
          <a:prstGeom prst="line">
            <a:avLst/>
          </a:prstGeom>
          <a:noFill/>
          <a:ln w="22225">
            <a:solidFill>
              <a:schemeClr val="accent2"/>
            </a:solidFill>
            <a:prstDash val="dash"/>
          </a:ln>
        </p:spPr>
      </p:sp>
      <p:sp>
        <p:nvSpPr>
          <p:cNvPr id="62" name="Cross-link badge 1"/>
          <p:cNvSpPr txBox="1"/>
          <p:nvPr/>
        </p:nvSpPr>
        <p:spPr>
          <a:xfrm>
            <a:off x="4480560" y="2281428"/>
            <a:ext cx="182880" cy="182880"/>
          </a:xfrm>
          <a:prstGeom prst="ellipse">
            <a:avLst/>
          </a:prstGeom>
          <a:solidFill>
            <a:schemeClr val="accent2"/>
          </a:solidFill>
          <a:ln w="6350">
            <a:solidFill>
              <a:schemeClr val="accent2"/>
            </a:solid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63" name="Cross-link badge 2"/>
          <p:cNvSpPr txBox="1"/>
          <p:nvPr/>
        </p:nvSpPr>
        <p:spPr>
          <a:xfrm>
            <a:off x="4480560" y="2638044"/>
            <a:ext cx="182880" cy="182880"/>
          </a:xfrm>
          <a:prstGeom prst="ellipse">
            <a:avLst/>
          </a:prstGeom>
          <a:solidFill>
            <a:schemeClr val="accent2"/>
          </a:solidFill>
          <a:ln w="6350">
            <a:solidFill>
              <a:schemeClr val="accent2"/>
            </a:solid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64" name="Cross-link badge 3"/>
          <p:cNvSpPr txBox="1"/>
          <p:nvPr/>
        </p:nvSpPr>
        <p:spPr>
          <a:xfrm>
            <a:off x="4480560" y="3150108"/>
            <a:ext cx="182880" cy="182880"/>
          </a:xfrm>
          <a:prstGeom prst="ellipse">
            <a:avLst/>
          </a:prstGeom>
          <a:solidFill>
            <a:schemeClr val="accent2"/>
          </a:solidFill>
          <a:ln w="6350">
            <a:solidFill>
              <a:schemeClr val="accent2"/>
            </a:solid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65" name="Cross-link badge 4"/>
          <p:cNvSpPr txBox="1"/>
          <p:nvPr/>
        </p:nvSpPr>
        <p:spPr>
          <a:xfrm>
            <a:off x="4480560" y="3506724"/>
            <a:ext cx="182880" cy="182880"/>
          </a:xfrm>
          <a:prstGeom prst="ellipse">
            <a:avLst/>
          </a:prstGeom>
          <a:solidFill>
            <a:schemeClr val="accent2"/>
          </a:solidFill>
          <a:ln w="6350">
            <a:solidFill>
              <a:schemeClr val="accent2"/>
            </a:solidFill>
          </a:ln>
        </p:spPr>
        <p:txBody>
          <a:bodyPr wrap="square" lIns="0" tIns="0" rIns="0" bIns="0" rtlCol="0" anchor="ctr"/>
          <a:lstStyle/>
          <a:p>
            <a:pPr algn="ctr" indent="0" marL="0">
              <a:buNone/>
            </a:pPr>
            <a:r>
              <a:rPr lang="en-US" sz="1000" b="1" dirty="0">
                <a:solidFill>
                  <a:schemeClr val="bg1"/>
                </a:solidFill>
              </a:rPr>
              <a:t>4</a:t>
            </a:r>
            <a:endParaRPr lang="en-US" sz="1000" dirty="0"/>
          </a:p>
        </p:txBody>
      </p:sp>
      <p:sp>
        <p:nvSpPr>
          <p:cNvPr id="66" name="Cross-link badge 5"/>
          <p:cNvSpPr txBox="1"/>
          <p:nvPr/>
        </p:nvSpPr>
        <p:spPr>
          <a:xfrm>
            <a:off x="4480560" y="3863340"/>
            <a:ext cx="182880" cy="182880"/>
          </a:xfrm>
          <a:prstGeom prst="ellipse">
            <a:avLst/>
          </a:prstGeom>
          <a:solidFill>
            <a:schemeClr val="accent2"/>
          </a:solidFill>
          <a:ln w="6350">
            <a:solidFill>
              <a:schemeClr val="accent2"/>
            </a:solidFill>
          </a:ln>
        </p:spPr>
        <p:txBody>
          <a:bodyPr wrap="square" lIns="0" tIns="0" rIns="0" bIns="0" rtlCol="0" anchor="ctr"/>
          <a:lstStyle/>
          <a:p>
            <a:pPr algn="ctr" indent="0" marL="0">
              <a:buNone/>
            </a:pPr>
            <a:r>
              <a:rPr lang="en-US" sz="1000" b="1" dirty="0">
                <a:solidFill>
                  <a:schemeClr val="bg1"/>
                </a:solidFill>
              </a:rPr>
              <a:t>5</a:t>
            </a:r>
            <a:endParaRPr lang="en-US" sz="1000" dirty="0"/>
          </a:p>
        </p:txBody>
      </p:sp>
      <p:sp>
        <p:nvSpPr>
          <p:cNvPr id="67" name="Cross-link badge 6"/>
          <p:cNvSpPr txBox="1"/>
          <p:nvPr/>
        </p:nvSpPr>
        <p:spPr>
          <a:xfrm>
            <a:off x="4370832" y="4264762"/>
            <a:ext cx="182880" cy="182880"/>
          </a:xfrm>
          <a:prstGeom prst="ellipse">
            <a:avLst/>
          </a:prstGeom>
          <a:solidFill>
            <a:schemeClr val="accent2"/>
          </a:solidFill>
          <a:ln w="6350">
            <a:solidFill>
              <a:schemeClr val="accent2"/>
            </a:solidFill>
          </a:ln>
        </p:spPr>
        <p:txBody>
          <a:bodyPr wrap="square" lIns="0" tIns="0" rIns="0" bIns="0" rtlCol="0" anchor="ctr"/>
          <a:lstStyle/>
          <a:p>
            <a:pPr algn="ctr" indent="0" marL="0">
              <a:buNone/>
            </a:pPr>
            <a:r>
              <a:rPr lang="en-US" sz="1000" b="1" dirty="0">
                <a:solidFill>
                  <a:schemeClr val="bg1"/>
                </a:solidFill>
              </a:rPr>
              <a:t>6</a:t>
            </a:r>
            <a:endParaRPr lang="en-US" sz="1000" dirty="0"/>
          </a:p>
        </p:txBody>
      </p:sp>
      <p:sp>
        <p:nvSpPr>
          <p:cNvPr id="68" name="Cross-link badge 7"/>
          <p:cNvSpPr txBox="1"/>
          <p:nvPr/>
        </p:nvSpPr>
        <p:spPr>
          <a:xfrm>
            <a:off x="4612234" y="4415638"/>
            <a:ext cx="182880" cy="182880"/>
          </a:xfrm>
          <a:prstGeom prst="ellipse">
            <a:avLst/>
          </a:prstGeom>
          <a:solidFill>
            <a:schemeClr val="accent2"/>
          </a:solidFill>
          <a:ln w="6350">
            <a:solidFill>
              <a:schemeClr val="accent2"/>
            </a:solidFill>
          </a:ln>
        </p:spPr>
        <p:txBody>
          <a:bodyPr wrap="square" lIns="0" tIns="0" rIns="0" bIns="0" rtlCol="0" anchor="ctr"/>
          <a:lstStyle/>
          <a:p>
            <a:pPr algn="ctr" indent="0" marL="0">
              <a:buNone/>
            </a:pPr>
            <a:r>
              <a:rPr lang="en-US" sz="1000" b="1" dirty="0">
                <a:solidFill>
                  <a:schemeClr val="bg1"/>
                </a:solidFill>
              </a:rPr>
              <a:t>7</a:t>
            </a:r>
            <a:endParaRPr lang="en-US" sz="1000" dirty="0"/>
          </a:p>
        </p:txBody>
      </p:sp>
      <p:sp>
        <p:nvSpPr>
          <p:cNvPr id="69" name="Map key"/>
          <p:cNvSpPr txBox="1"/>
          <p:nvPr/>
        </p:nvSpPr>
        <p:spPr>
          <a:xfrm>
            <a:off x="457200" y="4754880"/>
            <a:ext cx="7680960" cy="228600"/>
          </a:xfrm>
          <a:prstGeom prst="rect">
            <a:avLst/>
          </a:prstGeom>
          <a:noFill/>
          <a:ln/>
        </p:spPr>
        <p:txBody>
          <a:bodyPr wrap="square" lIns="0" tIns="0" rIns="0" bIns="0" rtlCol="0" anchor="t"/>
          <a:lstStyle/>
          <a:p>
            <a:pPr algn="l" indent="0" marL="0">
              <a:buNone/>
            </a:pPr>
            <a:r>
              <a:rPr lang="en-US" sz="1100" dirty="0">
                <a:solidFill>
                  <a:schemeClr val="accent3"/>
                </a:solidFill>
              </a:rPr>
              <a:t>Orange dashed lines 1–7 are cross-links (next slide). The syllabus's Facebook case study is replaced by eBay.</a:t>
            </a:r>
            <a:endParaRPr lang="en-US" sz="1100" dirty="0"/>
          </a:p>
        </p:txBody>
      </p:sp>
      <p:sp>
        <p:nvSpPr>
          <p:cNvPr id="25" name="Slide Number Placeholder 0"/>
          <p:cNvSpPr>
            <a:spLocks noGrp="1"/>
          </p:cNvSpPr>
          <p:nvPr>
            <p:ph type="sldNum" sz="quarter" idx="4294967295"/>
          </p:nvPr>
        </p:nvSpPr>
        <p:spPr>
          <a:xfrm>
            <a:off x="832104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0"/>
          <p:cNvSpPr/>
          <p:nvPr>
            <p:ph idx="100" type="title" hasCustomPrompt="1"/>
          </p:nvPr>
        </p:nvSpPr>
        <p:spPr>
          <a:xfrm>
            <a:off x="457200" y="182880"/>
            <a:ext cx="8229600" cy="777240"/>
          </a:xfrm>
          <a:prstGeom prst="rect">
            <a:avLst/>
          </a:prstGeom>
          <a:noFill/>
          <a:ln/>
        </p:spPr>
        <p:txBody>
          <a:bodyPr wrap="square" lIns="0" tIns="0" rIns="0" bIns="0" rtlCol="0" anchor="t"/>
          <a:lstStyle/>
          <a:p>
            <a:pPr algn="l" indent="0" marL="0">
              <a:buNone/>
            </a:pPr>
            <a:r>
              <a:rPr lang="en-US" sz="2400" b="1" dirty="0">
                <a:solidFill>
                  <a:schemeClr val="tx2"/>
                </a:solidFill>
              </a:rPr>
              <a:t>Seven cross-links show how each Unit 1 concept is answered by a Unit 2 component</a:t>
            </a:r>
            <a:endParaRPr lang="en-US" sz="2400" dirty="0"/>
          </a:p>
        </p:txBody>
      </p:sp>
      <p:graphicFrame>
        <p:nvGraphicFramePr>
          <p:cNvPr id="9" name="Cross-link table"/>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502920"/>
                <a:gridCol w="3840480"/>
                <a:gridCol w="3886200"/>
              </a:tblGrid>
              <a:tr h="365760">
                <a:tc>
                  <a:txBody>
                    <a:bodyPr/>
                    <a:lstStyle/>
                    <a:p>
                      <a:pPr algn="ctr" indent="0" marL="0">
                        <a:buNone/>
                      </a:pPr>
                      <a:r>
                        <a:rPr lang="en-US" sz="1500" b="1" dirty="0">
                          <a:solidFill>
                            <a:schemeClr val="bg1"/>
                          </a:solidFill>
                        </a:rPr>
                        <a:t>#</a:t>
                      </a:r>
                      <a:endParaRPr lang="en-US" sz="1500" dirty="0"/>
                    </a:p>
                  </a:txBody>
                  <a:tcPr marL="91440" marR="91440" marT="27432" marB="27432" anchor="ctr">
                    <a:lnL w="9525" cap="flat" cmpd="sng" algn="ctr">
                      <a:solidFill>
                        <a:schemeClr val="accent6"/>
                      </a:solidFill>
                      <a:prstDash val="solid"/>
                      <a:round/>
                      <a:headEnd type="none" w="med" len="med"/>
                      <a:tailEnd type="none" w="med" len="med"/>
                    </a:lnL>
                    <a:lnR w="9525" cap="flat" cmpd="sng" algn="ctr">
                      <a:solidFill>
                        <a:schemeClr val="accent6"/>
                      </a:solidFill>
                      <a:prstDash val="solid"/>
                      <a:round/>
                      <a:headEnd type="none" w="med" len="med"/>
                      <a:tailEnd type="none" w="med" len="med"/>
                    </a:lnR>
                    <a:lnT w="9525" cap="flat" cmpd="sng" algn="ctr">
                      <a:solidFill>
                        <a:schemeClr val="accent6"/>
                      </a:solidFill>
                      <a:prstDash val="solid"/>
                      <a:round/>
                      <a:headEnd type="none" w="med" len="med"/>
                      <a:tailEnd type="none" w="med" len="med"/>
                    </a:lnT>
                    <a:lnB w="9525"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500" b="1" dirty="0">
                          <a:solidFill>
                            <a:schemeClr val="bg1"/>
                          </a:solidFill>
                        </a:rPr>
                        <a:t>Unit 1 concept → Unit 2 component</a:t>
                      </a:r>
                      <a:endParaRPr lang="en-US" sz="1500" dirty="0"/>
                    </a:p>
                  </a:txBody>
                  <a:tcPr marL="91440" marR="91440" marT="27432" marB="27432" anchor="ctr">
                    <a:lnL w="9525" cap="flat" cmpd="sng" algn="ctr">
                      <a:solidFill>
                        <a:schemeClr val="accent6"/>
                      </a:solidFill>
                      <a:prstDash val="solid"/>
                      <a:round/>
                      <a:headEnd type="none" w="med" len="med"/>
                      <a:tailEnd type="none" w="med" len="med"/>
                    </a:lnL>
                    <a:lnR w="9525" cap="flat" cmpd="sng" algn="ctr">
                      <a:solidFill>
                        <a:schemeClr val="accent6"/>
                      </a:solidFill>
                      <a:prstDash val="solid"/>
                      <a:round/>
                      <a:headEnd type="none" w="med" len="med"/>
                      <a:tailEnd type="none" w="med" len="med"/>
                    </a:lnR>
                    <a:lnT w="9525" cap="flat" cmpd="sng" algn="ctr">
                      <a:solidFill>
                        <a:schemeClr val="accent6"/>
                      </a:solidFill>
                      <a:prstDash val="solid"/>
                      <a:round/>
                      <a:headEnd type="none" w="med" len="med"/>
                      <a:tailEnd type="none" w="med" len="med"/>
                    </a:lnT>
                    <a:lnB w="9525"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500" b="1" dirty="0">
                          <a:solidFill>
                            <a:schemeClr val="bg1"/>
                          </a:solidFill>
                        </a:rPr>
                        <a:t>eBay evidence</a:t>
                      </a:r>
                      <a:endParaRPr lang="en-US" sz="1500" dirty="0"/>
                    </a:p>
                  </a:txBody>
                  <a:tcPr marL="91440" marR="91440" marT="27432" marB="27432" anchor="ctr">
                    <a:lnL w="9525" cap="flat" cmpd="sng" algn="ctr">
                      <a:solidFill>
                        <a:schemeClr val="accent6"/>
                      </a:solidFill>
                      <a:prstDash val="solid"/>
                      <a:round/>
                      <a:headEnd type="none" w="med" len="med"/>
                      <a:tailEnd type="none" w="med" len="med"/>
                    </a:lnL>
                    <a:lnR w="9525" cap="flat" cmpd="sng" algn="ctr">
                      <a:solidFill>
                        <a:schemeClr val="accent6"/>
                      </a:solidFill>
                      <a:prstDash val="solid"/>
                      <a:round/>
                      <a:headEnd type="none" w="med" len="med"/>
                      <a:tailEnd type="none" w="med" len="med"/>
                    </a:lnR>
                    <a:lnT w="9525" cap="flat" cmpd="sng" algn="ctr">
                      <a:solidFill>
                        <a:schemeClr val="accent6"/>
                      </a:solidFill>
                      <a:prstDash val="solid"/>
                      <a:round/>
                      <a:headEnd type="none" w="med" len="med"/>
                      <a:tailEnd type="none" w="med" len="med"/>
                    </a:lnT>
                    <a:lnB w="9525" cap="flat" cmpd="sng" algn="ctr">
                      <a:solidFill>
                        <a:schemeClr val="accent6"/>
                      </a:solidFill>
                      <a:prstDash val="solid"/>
                      <a:round/>
                      <a:headEnd type="none" w="med" len="med"/>
                      <a:tailEnd type="none" w="med" len="med"/>
                    </a:lnB>
                    <a:solidFill>
                      <a:schemeClr val="tx2"/>
                    </a:solidFill>
                  </a:tcPr>
                </a:tc>
              </a:tr>
              <a:tr h="438912">
                <a:tc>
                  <a:txBody>
                    <a:bodyPr/>
                    <a:lstStyle/>
                    <a:p>
                      <a:pPr algn="ctr" indent="0" marL="0">
                        <a:buNone/>
                      </a:pPr>
                      <a:r>
                        <a:rPr lang="en-US" sz="1500" b="1" dirty="0">
                          <a:solidFill>
                            <a:schemeClr val="accent2"/>
                          </a:solidFill>
                        </a:rPr>
                        <a:t>1</a:t>
                      </a:r>
                      <a:endParaRPr lang="en-US" sz="1500" dirty="0"/>
                    </a:p>
                  </a:txBody>
                  <a:tcPr marL="91440" marR="91440" marT="27432" marB="27432" anchor="ctr">
                    <a:lnL w="9525" cap="flat" cmpd="sng" algn="ctr">
                      <a:solidFill>
                        <a:schemeClr val="accent6"/>
                      </a:solidFill>
                      <a:prstDash val="solid"/>
                      <a:round/>
                      <a:headEnd type="none" w="med" len="med"/>
                      <a:tailEnd type="none" w="med" len="med"/>
                    </a:lnL>
                    <a:lnR w="9525" cap="flat" cmpd="sng" algn="ctr">
                      <a:solidFill>
                        <a:schemeClr val="accent6"/>
                      </a:solidFill>
                      <a:prstDash val="solid"/>
                      <a:round/>
                      <a:headEnd type="none" w="med" len="med"/>
                      <a:tailEnd type="none" w="med" len="med"/>
                    </a:lnR>
                    <a:lnT w="9525" cap="flat" cmpd="sng" algn="ctr">
                      <a:solidFill>
                        <a:schemeClr val="accent6"/>
                      </a:solidFill>
                      <a:prstDash val="solid"/>
                      <a:round/>
                      <a:headEnd type="none" w="med" len="med"/>
                      <a:tailEnd type="none" w="med" len="med"/>
                    </a:lnT>
                    <a:lnB w="9525" cap="flat" cmpd="sng" algn="ctr">
                      <a:solidFill>
                        <a:schemeClr val="accent6"/>
                      </a:solidFill>
                      <a:prstDash val="solid"/>
                      <a:round/>
                      <a:headEnd type="none" w="med" len="med"/>
                      <a:tailEnd type="none" w="med" len="med"/>
                    </a:lnB>
                  </a:tcPr>
                </a:tc>
                <a:tc>
                  <a:txBody>
                    <a:bodyPr/>
                    <a:lstStyle/>
                    <a:p>
                      <a:pPr indent="0" marL="0">
                        <a:buNone/>
                      </a:pPr>
                      <a:r>
                        <a:rPr lang="en-US" sz="1500" b="1" dirty="0">
                          <a:solidFill>
                            <a:schemeClr val="tx2"/>
                          </a:solidFill>
                        </a:rPr>
                        <a:t>5 Vs → Need for Hadoop</a:t>
                      </a:r>
                      <a:endParaRPr lang="en-US" sz="1500" dirty="0"/>
                    </a:p>
                  </a:txBody>
                  <a:tcPr marL="91440" marR="91440" marT="27432" marB="27432" anchor="ctr">
                    <a:lnL w="9525" cap="flat" cmpd="sng" algn="ctr">
                      <a:solidFill>
                        <a:schemeClr val="accent6"/>
                      </a:solidFill>
                      <a:prstDash val="solid"/>
                      <a:round/>
                      <a:headEnd type="none" w="med" len="med"/>
                      <a:tailEnd type="none" w="med" len="med"/>
                    </a:lnL>
                    <a:lnR w="9525" cap="flat" cmpd="sng" algn="ctr">
                      <a:solidFill>
                        <a:schemeClr val="accent6"/>
                      </a:solidFill>
                      <a:prstDash val="solid"/>
                      <a:round/>
                      <a:headEnd type="none" w="med" len="med"/>
                      <a:tailEnd type="none" w="med" len="med"/>
                    </a:lnR>
                    <a:lnT w="9525" cap="flat" cmpd="sng" algn="ctr">
                      <a:solidFill>
                        <a:schemeClr val="accent6"/>
                      </a:solidFill>
                      <a:prstDash val="solid"/>
                      <a:round/>
                      <a:headEnd type="none" w="med" len="med"/>
                      <a:tailEnd type="none" w="med" len="med"/>
                    </a:lnT>
                    <a:lnB w="9525" cap="flat" cmpd="sng" algn="ctr">
                      <a:solidFill>
                        <a:schemeClr val="accent6"/>
                      </a:solidFill>
                      <a:prstDash val="solid"/>
                      <a:round/>
                      <a:headEnd type="none" w="med" len="med"/>
                      <a:tailEnd type="none" w="med" len="med"/>
                    </a:lnB>
                  </a:tcPr>
                </a:tc>
                <a:tc>
                  <a:txBody>
                    <a:bodyPr/>
                    <a:lstStyle/>
                    <a:p>
                      <a:pPr indent="0" marL="0">
                        <a:buNone/>
                      </a:pPr>
                      <a:r>
                        <a:rPr lang="en-US" sz="1500" dirty="0">
                          <a:solidFill>
                            <a:schemeClr val="tx1"/>
                          </a:solidFill>
                        </a:rPr>
                        <a:t>8–10 TB a day outgrew SQL warehouses</a:t>
                      </a:r>
                      <a:endParaRPr lang="en-US" sz="1500" dirty="0"/>
                    </a:p>
                  </a:txBody>
                  <a:tcPr marL="91440" marR="91440" marT="27432" marB="27432" anchor="ctr">
                    <a:lnL w="9525" cap="flat" cmpd="sng" algn="ctr">
                      <a:solidFill>
                        <a:schemeClr val="accent6"/>
                      </a:solidFill>
                      <a:prstDash val="solid"/>
                      <a:round/>
                      <a:headEnd type="none" w="med" len="med"/>
                      <a:tailEnd type="none" w="med" len="med"/>
                    </a:lnL>
                    <a:lnR w="9525" cap="flat" cmpd="sng" algn="ctr">
                      <a:solidFill>
                        <a:schemeClr val="accent6"/>
                      </a:solidFill>
                      <a:prstDash val="solid"/>
                      <a:round/>
                      <a:headEnd type="none" w="med" len="med"/>
                      <a:tailEnd type="none" w="med" len="med"/>
                    </a:lnR>
                    <a:lnT w="9525" cap="flat" cmpd="sng" algn="ctr">
                      <a:solidFill>
                        <a:schemeClr val="accent6"/>
                      </a:solidFill>
                      <a:prstDash val="solid"/>
                      <a:round/>
                      <a:headEnd type="none" w="med" len="med"/>
                      <a:tailEnd type="none" w="med" len="med"/>
                    </a:lnT>
                    <a:lnB w="9525" cap="flat" cmpd="sng" algn="ctr">
                      <a:solidFill>
                        <a:schemeClr val="accent6"/>
                      </a:solidFill>
                      <a:prstDash val="solid"/>
                      <a:round/>
                      <a:headEnd type="none" w="med" len="med"/>
                      <a:tailEnd type="none" w="med" len="med"/>
                    </a:lnB>
                  </a:tcPr>
                </a:tc>
              </a:tr>
              <a:tr h="438912">
                <a:tc>
                  <a:txBody>
                    <a:bodyPr/>
                    <a:lstStyle/>
                    <a:p>
                      <a:pPr algn="ctr" indent="0" marL="0">
                        <a:buNone/>
                      </a:pPr>
                      <a:r>
                        <a:rPr lang="en-US" sz="1500" b="1" dirty="0">
                          <a:solidFill>
                            <a:schemeClr val="accent2"/>
                          </a:solidFill>
                        </a:rPr>
                        <a:t>2</a:t>
                      </a:r>
                      <a:endParaRPr lang="en-US" sz="1500" dirty="0"/>
                    </a:p>
                  </a:txBody>
                  <a:tcPr marL="91440" marR="91440" marT="27432" marB="27432" anchor="ctr">
                    <a:lnL w="9525" cap="flat" cmpd="sng" algn="ctr">
                      <a:solidFill>
                        <a:schemeClr val="accent6"/>
                      </a:solidFill>
                      <a:prstDash val="solid"/>
                      <a:round/>
                      <a:headEnd type="none" w="med" len="med"/>
                      <a:tailEnd type="none" w="med" len="med"/>
                    </a:lnL>
                    <a:lnR w="9525" cap="flat" cmpd="sng" algn="ctr">
                      <a:solidFill>
                        <a:schemeClr val="accent6"/>
                      </a:solidFill>
                      <a:prstDash val="solid"/>
                      <a:round/>
                      <a:headEnd type="none" w="med" len="med"/>
                      <a:tailEnd type="none" w="med" len="med"/>
                    </a:lnR>
                    <a:lnT w="9525" cap="flat" cmpd="sng" algn="ctr">
                      <a:solidFill>
                        <a:schemeClr val="accent6"/>
                      </a:solidFill>
                      <a:prstDash val="solid"/>
                      <a:round/>
                      <a:headEnd type="none" w="med" len="med"/>
                      <a:tailEnd type="none" w="med" len="med"/>
                    </a:lnT>
                    <a:lnB w="9525" cap="flat" cmpd="sng" algn="ctr">
                      <a:solidFill>
                        <a:schemeClr val="accent6"/>
                      </a:solidFill>
                      <a:prstDash val="solid"/>
                      <a:round/>
                      <a:headEnd type="none" w="med" len="med"/>
                      <a:tailEnd type="none" w="med" len="med"/>
                    </a:lnB>
                  </a:tcPr>
                </a:tc>
                <a:tc>
                  <a:txBody>
                    <a:bodyPr/>
                    <a:lstStyle/>
                    <a:p>
                      <a:pPr indent="0" marL="0">
                        <a:buNone/>
                      </a:pPr>
                      <a:r>
                        <a:rPr lang="en-US" sz="1500" b="1" dirty="0">
                          <a:solidFill>
                            <a:schemeClr val="tx2"/>
                          </a:solidFill>
                        </a:rPr>
                        <a:t>Characteristics → Distributed Systems</a:t>
                      </a:r>
                      <a:endParaRPr lang="en-US" sz="1500" dirty="0"/>
                    </a:p>
                  </a:txBody>
                  <a:tcPr marL="91440" marR="91440" marT="27432" marB="27432" anchor="ctr">
                    <a:lnL w="9525" cap="flat" cmpd="sng" algn="ctr">
                      <a:solidFill>
                        <a:schemeClr val="accent6"/>
                      </a:solidFill>
                      <a:prstDash val="solid"/>
                      <a:round/>
                      <a:headEnd type="none" w="med" len="med"/>
                      <a:tailEnd type="none" w="med" len="med"/>
                    </a:lnL>
                    <a:lnR w="9525" cap="flat" cmpd="sng" algn="ctr">
                      <a:solidFill>
                        <a:schemeClr val="accent6"/>
                      </a:solidFill>
                      <a:prstDash val="solid"/>
                      <a:round/>
                      <a:headEnd type="none" w="med" len="med"/>
                      <a:tailEnd type="none" w="med" len="med"/>
                    </a:lnR>
                    <a:lnT w="9525" cap="flat" cmpd="sng" algn="ctr">
                      <a:solidFill>
                        <a:schemeClr val="accent6"/>
                      </a:solidFill>
                      <a:prstDash val="solid"/>
                      <a:round/>
                      <a:headEnd type="none" w="med" len="med"/>
                      <a:tailEnd type="none" w="med" len="med"/>
                    </a:lnT>
                    <a:lnB w="9525" cap="flat" cmpd="sng" algn="ctr">
                      <a:solidFill>
                        <a:schemeClr val="accent6"/>
                      </a:solidFill>
                      <a:prstDash val="solid"/>
                      <a:round/>
                      <a:headEnd type="none" w="med" len="med"/>
                      <a:tailEnd type="none" w="med" len="med"/>
                    </a:lnB>
                  </a:tcPr>
                </a:tc>
                <a:tc>
                  <a:txBody>
                    <a:bodyPr/>
                    <a:lstStyle/>
                    <a:p>
                      <a:pPr indent="0" marL="0">
                        <a:buNone/>
                      </a:pPr>
                      <a:r>
                        <a:rPr lang="en-US" sz="1500" dirty="0">
                          <a:solidFill>
                            <a:schemeClr val="tx1"/>
                          </a:solidFill>
                        </a:rPr>
                        <a:t>Scale-out nodes survive growth and failures</a:t>
                      </a:r>
                      <a:endParaRPr lang="en-US" sz="1500" dirty="0"/>
                    </a:p>
                  </a:txBody>
                  <a:tcPr marL="91440" marR="91440" marT="27432" marB="27432" anchor="ctr">
                    <a:lnL w="9525" cap="flat" cmpd="sng" algn="ctr">
                      <a:solidFill>
                        <a:schemeClr val="accent6"/>
                      </a:solidFill>
                      <a:prstDash val="solid"/>
                      <a:round/>
                      <a:headEnd type="none" w="med" len="med"/>
                      <a:tailEnd type="none" w="med" len="med"/>
                    </a:lnL>
                    <a:lnR w="9525" cap="flat" cmpd="sng" algn="ctr">
                      <a:solidFill>
                        <a:schemeClr val="accent6"/>
                      </a:solidFill>
                      <a:prstDash val="solid"/>
                      <a:round/>
                      <a:headEnd type="none" w="med" len="med"/>
                      <a:tailEnd type="none" w="med" len="med"/>
                    </a:lnR>
                    <a:lnT w="9525" cap="flat" cmpd="sng" algn="ctr">
                      <a:solidFill>
                        <a:schemeClr val="accent6"/>
                      </a:solidFill>
                      <a:prstDash val="solid"/>
                      <a:round/>
                      <a:headEnd type="none" w="med" len="med"/>
                      <a:tailEnd type="none" w="med" len="med"/>
                    </a:lnT>
                    <a:lnB w="9525" cap="flat" cmpd="sng" algn="ctr">
                      <a:solidFill>
                        <a:schemeClr val="accent6"/>
                      </a:solidFill>
                      <a:prstDash val="solid"/>
                      <a:round/>
                      <a:headEnd type="none" w="med" len="med"/>
                      <a:tailEnd type="none" w="med" len="med"/>
                    </a:lnB>
                  </a:tcPr>
                </a:tc>
              </a:tr>
              <a:tr h="438912">
                <a:tc>
                  <a:txBody>
                    <a:bodyPr/>
                    <a:lstStyle/>
                    <a:p>
                      <a:pPr algn="ctr" indent="0" marL="0">
                        <a:buNone/>
                      </a:pPr>
                      <a:r>
                        <a:rPr lang="en-US" sz="1500" b="1" dirty="0">
                          <a:solidFill>
                            <a:schemeClr val="accent2"/>
                          </a:solidFill>
                        </a:rPr>
                        <a:t>3</a:t>
                      </a:r>
                      <a:endParaRPr lang="en-US" sz="1500" dirty="0"/>
                    </a:p>
                  </a:txBody>
                  <a:tcPr marL="91440" marR="91440" marT="27432" marB="27432" anchor="ctr">
                    <a:lnL w="9525" cap="flat" cmpd="sng" algn="ctr">
                      <a:solidFill>
                        <a:schemeClr val="accent6"/>
                      </a:solidFill>
                      <a:prstDash val="solid"/>
                      <a:round/>
                      <a:headEnd type="none" w="med" len="med"/>
                      <a:tailEnd type="none" w="med" len="med"/>
                    </a:lnL>
                    <a:lnR w="9525" cap="flat" cmpd="sng" algn="ctr">
                      <a:solidFill>
                        <a:schemeClr val="accent6"/>
                      </a:solidFill>
                      <a:prstDash val="solid"/>
                      <a:round/>
                      <a:headEnd type="none" w="med" len="med"/>
                      <a:tailEnd type="none" w="med" len="med"/>
                    </a:lnR>
                    <a:lnT w="9525" cap="flat" cmpd="sng" algn="ctr">
                      <a:solidFill>
                        <a:schemeClr val="accent6"/>
                      </a:solidFill>
                      <a:prstDash val="solid"/>
                      <a:round/>
                      <a:headEnd type="none" w="med" len="med"/>
                      <a:tailEnd type="none" w="med" len="med"/>
                    </a:lnT>
                    <a:lnB w="9525" cap="flat" cmpd="sng" algn="ctr">
                      <a:solidFill>
                        <a:schemeClr val="accent6"/>
                      </a:solidFill>
                      <a:prstDash val="solid"/>
                      <a:round/>
                      <a:headEnd type="none" w="med" len="med"/>
                      <a:tailEnd type="none" w="med" len="med"/>
                    </a:lnB>
                  </a:tcPr>
                </a:tc>
                <a:tc>
                  <a:txBody>
                    <a:bodyPr/>
                    <a:lstStyle/>
                    <a:p>
                      <a:pPr indent="0" marL="0">
                        <a:buNone/>
                      </a:pPr>
                      <a:r>
                        <a:rPr lang="en-US" sz="1500" b="1" dirty="0">
                          <a:solidFill>
                            <a:schemeClr val="tx2"/>
                          </a:solidFill>
                        </a:rPr>
                        <a:t>RDBMS vs Distributed → HDFS</a:t>
                      </a:r>
                      <a:endParaRPr lang="en-US" sz="1500" dirty="0"/>
                    </a:p>
                  </a:txBody>
                  <a:tcPr marL="91440" marR="91440" marT="27432" marB="27432" anchor="ctr">
                    <a:lnL w="9525" cap="flat" cmpd="sng" algn="ctr">
                      <a:solidFill>
                        <a:schemeClr val="accent6"/>
                      </a:solidFill>
                      <a:prstDash val="solid"/>
                      <a:round/>
                      <a:headEnd type="none" w="med" len="med"/>
                      <a:tailEnd type="none" w="med" len="med"/>
                    </a:lnL>
                    <a:lnR w="9525" cap="flat" cmpd="sng" algn="ctr">
                      <a:solidFill>
                        <a:schemeClr val="accent6"/>
                      </a:solidFill>
                      <a:prstDash val="solid"/>
                      <a:round/>
                      <a:headEnd type="none" w="med" len="med"/>
                      <a:tailEnd type="none" w="med" len="med"/>
                    </a:lnR>
                    <a:lnT w="9525" cap="flat" cmpd="sng" algn="ctr">
                      <a:solidFill>
                        <a:schemeClr val="accent6"/>
                      </a:solidFill>
                      <a:prstDash val="solid"/>
                      <a:round/>
                      <a:headEnd type="none" w="med" len="med"/>
                      <a:tailEnd type="none" w="med" len="med"/>
                    </a:lnT>
                    <a:lnB w="9525" cap="flat" cmpd="sng" algn="ctr">
                      <a:solidFill>
                        <a:schemeClr val="accent6"/>
                      </a:solidFill>
                      <a:prstDash val="solid"/>
                      <a:round/>
                      <a:headEnd type="none" w="med" len="med"/>
                      <a:tailEnd type="none" w="med" len="med"/>
                    </a:lnB>
                  </a:tcPr>
                </a:tc>
                <a:tc>
                  <a:txBody>
                    <a:bodyPr/>
                    <a:lstStyle/>
                    <a:p>
                      <a:pPr indent="0" marL="0">
                        <a:buNone/>
                      </a:pPr>
                      <a:r>
                        <a:rPr lang="en-US" sz="1500" dirty="0">
                          <a:solidFill>
                            <a:schemeClr val="tx1"/>
                          </a:solidFill>
                        </a:rPr>
                        <a:t>Hadoop stored data beside Teradata</a:t>
                      </a:r>
                      <a:endParaRPr lang="en-US" sz="1500" dirty="0"/>
                    </a:p>
                  </a:txBody>
                  <a:tcPr marL="91440" marR="91440" marT="27432" marB="27432" anchor="ctr">
                    <a:lnL w="9525" cap="flat" cmpd="sng" algn="ctr">
                      <a:solidFill>
                        <a:schemeClr val="accent6"/>
                      </a:solidFill>
                      <a:prstDash val="solid"/>
                      <a:round/>
                      <a:headEnd type="none" w="med" len="med"/>
                      <a:tailEnd type="none" w="med" len="med"/>
                    </a:lnL>
                    <a:lnR w="9525" cap="flat" cmpd="sng" algn="ctr">
                      <a:solidFill>
                        <a:schemeClr val="accent6"/>
                      </a:solidFill>
                      <a:prstDash val="solid"/>
                      <a:round/>
                      <a:headEnd type="none" w="med" len="med"/>
                      <a:tailEnd type="none" w="med" len="med"/>
                    </a:lnR>
                    <a:lnT w="9525" cap="flat" cmpd="sng" algn="ctr">
                      <a:solidFill>
                        <a:schemeClr val="accent6"/>
                      </a:solidFill>
                      <a:prstDash val="solid"/>
                      <a:round/>
                      <a:headEnd type="none" w="med" len="med"/>
                      <a:tailEnd type="none" w="med" len="med"/>
                    </a:lnT>
                    <a:lnB w="9525" cap="flat" cmpd="sng" algn="ctr">
                      <a:solidFill>
                        <a:schemeClr val="accent6"/>
                      </a:solidFill>
                      <a:prstDash val="solid"/>
                      <a:round/>
                      <a:headEnd type="none" w="med" len="med"/>
                      <a:tailEnd type="none" w="med" len="med"/>
                    </a:lnB>
                  </a:tcPr>
                </a:tc>
              </a:tr>
              <a:tr h="438912">
                <a:tc>
                  <a:txBody>
                    <a:bodyPr/>
                    <a:lstStyle/>
                    <a:p>
                      <a:pPr algn="ctr" indent="0" marL="0">
                        <a:buNone/>
                      </a:pPr>
                      <a:r>
                        <a:rPr lang="en-US" sz="1500" b="1" dirty="0">
                          <a:solidFill>
                            <a:schemeClr val="accent2"/>
                          </a:solidFill>
                        </a:rPr>
                        <a:t>4</a:t>
                      </a:r>
                      <a:endParaRPr lang="en-US" sz="1500" dirty="0"/>
                    </a:p>
                  </a:txBody>
                  <a:tcPr marL="91440" marR="91440" marT="27432" marB="27432" anchor="ctr">
                    <a:lnL w="9525" cap="flat" cmpd="sng" algn="ctr">
                      <a:solidFill>
                        <a:schemeClr val="accent6"/>
                      </a:solidFill>
                      <a:prstDash val="solid"/>
                      <a:round/>
                      <a:headEnd type="none" w="med" len="med"/>
                      <a:tailEnd type="none" w="med" len="med"/>
                    </a:lnL>
                    <a:lnR w="9525" cap="flat" cmpd="sng" algn="ctr">
                      <a:solidFill>
                        <a:schemeClr val="accent6"/>
                      </a:solidFill>
                      <a:prstDash val="solid"/>
                      <a:round/>
                      <a:headEnd type="none" w="med" len="med"/>
                      <a:tailEnd type="none" w="med" len="med"/>
                    </a:lnR>
                    <a:lnT w="9525" cap="flat" cmpd="sng" algn="ctr">
                      <a:solidFill>
                        <a:schemeClr val="accent6"/>
                      </a:solidFill>
                      <a:prstDash val="solid"/>
                      <a:round/>
                      <a:headEnd type="none" w="med" len="med"/>
                      <a:tailEnd type="none" w="med" len="med"/>
                    </a:lnT>
                    <a:lnB w="9525" cap="flat" cmpd="sng" algn="ctr">
                      <a:solidFill>
                        <a:schemeClr val="accent6"/>
                      </a:solidFill>
                      <a:prstDash val="solid"/>
                      <a:round/>
                      <a:headEnd type="none" w="med" len="med"/>
                      <a:tailEnd type="none" w="med" len="med"/>
                    </a:lnB>
                  </a:tcPr>
                </a:tc>
                <a:tc>
                  <a:txBody>
                    <a:bodyPr/>
                    <a:lstStyle/>
                    <a:p>
                      <a:pPr indent="0" marL="0">
                        <a:buNone/>
                      </a:pPr>
                      <a:r>
                        <a:rPr lang="en-US" sz="1500" b="1" dirty="0">
                          <a:solidFill>
                            <a:schemeClr val="tx2"/>
                          </a:solidFill>
                        </a:rPr>
                        <a:t>Big Data Frameworks → YARN</a:t>
                      </a:r>
                      <a:endParaRPr lang="en-US" sz="1500" dirty="0"/>
                    </a:p>
                  </a:txBody>
                  <a:tcPr marL="91440" marR="91440" marT="27432" marB="27432" anchor="ctr">
                    <a:lnL w="9525" cap="flat" cmpd="sng" algn="ctr">
                      <a:solidFill>
                        <a:schemeClr val="accent6"/>
                      </a:solidFill>
                      <a:prstDash val="solid"/>
                      <a:round/>
                      <a:headEnd type="none" w="med" len="med"/>
                      <a:tailEnd type="none" w="med" len="med"/>
                    </a:lnL>
                    <a:lnR w="9525" cap="flat" cmpd="sng" algn="ctr">
                      <a:solidFill>
                        <a:schemeClr val="accent6"/>
                      </a:solidFill>
                      <a:prstDash val="solid"/>
                      <a:round/>
                      <a:headEnd type="none" w="med" len="med"/>
                      <a:tailEnd type="none" w="med" len="med"/>
                    </a:lnR>
                    <a:lnT w="9525" cap="flat" cmpd="sng" algn="ctr">
                      <a:solidFill>
                        <a:schemeClr val="accent6"/>
                      </a:solidFill>
                      <a:prstDash val="solid"/>
                      <a:round/>
                      <a:headEnd type="none" w="med" len="med"/>
                      <a:tailEnd type="none" w="med" len="med"/>
                    </a:lnT>
                    <a:lnB w="9525" cap="flat" cmpd="sng" algn="ctr">
                      <a:solidFill>
                        <a:schemeClr val="accent6"/>
                      </a:solidFill>
                      <a:prstDash val="solid"/>
                      <a:round/>
                      <a:headEnd type="none" w="med" len="med"/>
                      <a:tailEnd type="none" w="med" len="med"/>
                    </a:lnB>
                  </a:tcPr>
                </a:tc>
                <a:tc>
                  <a:txBody>
                    <a:bodyPr/>
                    <a:lstStyle/>
                    <a:p>
                      <a:pPr indent="0" marL="0">
                        <a:buNone/>
                      </a:pPr>
                      <a:r>
                        <a:rPr lang="en-US" sz="1500" dirty="0">
                          <a:solidFill>
                            <a:schemeClr val="tx1"/>
                          </a:solidFill>
                        </a:rPr>
                        <a:t>Hadoop 2 runs Spark, Storm and Tez</a:t>
                      </a:r>
                      <a:endParaRPr lang="en-US" sz="1500" dirty="0"/>
                    </a:p>
                  </a:txBody>
                  <a:tcPr marL="91440" marR="91440" marT="27432" marB="27432" anchor="ctr">
                    <a:lnL w="9525" cap="flat" cmpd="sng" algn="ctr">
                      <a:solidFill>
                        <a:schemeClr val="accent6"/>
                      </a:solidFill>
                      <a:prstDash val="solid"/>
                      <a:round/>
                      <a:headEnd type="none" w="med" len="med"/>
                      <a:tailEnd type="none" w="med" len="med"/>
                    </a:lnL>
                    <a:lnR w="9525" cap="flat" cmpd="sng" algn="ctr">
                      <a:solidFill>
                        <a:schemeClr val="accent6"/>
                      </a:solidFill>
                      <a:prstDash val="solid"/>
                      <a:round/>
                      <a:headEnd type="none" w="med" len="med"/>
                      <a:tailEnd type="none" w="med" len="med"/>
                    </a:lnR>
                    <a:lnT w="9525" cap="flat" cmpd="sng" algn="ctr">
                      <a:solidFill>
                        <a:schemeClr val="accent6"/>
                      </a:solidFill>
                      <a:prstDash val="solid"/>
                      <a:round/>
                      <a:headEnd type="none" w="med" len="med"/>
                      <a:tailEnd type="none" w="med" len="med"/>
                    </a:lnT>
                    <a:lnB w="9525" cap="flat" cmpd="sng" algn="ctr">
                      <a:solidFill>
                        <a:schemeClr val="accent6"/>
                      </a:solidFill>
                      <a:prstDash val="solid"/>
                      <a:round/>
                      <a:headEnd type="none" w="med" len="med"/>
                      <a:tailEnd type="none" w="med" len="med"/>
                    </a:lnB>
                  </a:tcPr>
                </a:tc>
              </a:tr>
              <a:tr h="438912">
                <a:tc>
                  <a:txBody>
                    <a:bodyPr/>
                    <a:lstStyle/>
                    <a:p>
                      <a:pPr algn="ctr" indent="0" marL="0">
                        <a:buNone/>
                      </a:pPr>
                      <a:r>
                        <a:rPr lang="en-US" sz="1500" b="1" dirty="0">
                          <a:solidFill>
                            <a:schemeClr val="accent2"/>
                          </a:solidFill>
                        </a:rPr>
                        <a:t>5</a:t>
                      </a:r>
                      <a:endParaRPr lang="en-US" sz="1500" dirty="0"/>
                    </a:p>
                  </a:txBody>
                  <a:tcPr marL="91440" marR="91440" marT="27432" marB="27432" anchor="ctr">
                    <a:lnL w="9525" cap="flat" cmpd="sng" algn="ctr">
                      <a:solidFill>
                        <a:schemeClr val="accent6"/>
                      </a:solidFill>
                      <a:prstDash val="solid"/>
                      <a:round/>
                      <a:headEnd type="none" w="med" len="med"/>
                      <a:tailEnd type="none" w="med" len="med"/>
                    </a:lnL>
                    <a:lnR w="9525" cap="flat" cmpd="sng" algn="ctr">
                      <a:solidFill>
                        <a:schemeClr val="accent6"/>
                      </a:solidFill>
                      <a:prstDash val="solid"/>
                      <a:round/>
                      <a:headEnd type="none" w="med" len="med"/>
                      <a:tailEnd type="none" w="med" len="med"/>
                    </a:lnR>
                    <a:lnT w="9525" cap="flat" cmpd="sng" algn="ctr">
                      <a:solidFill>
                        <a:schemeClr val="accent6"/>
                      </a:solidFill>
                      <a:prstDash val="solid"/>
                      <a:round/>
                      <a:headEnd type="none" w="med" len="med"/>
                      <a:tailEnd type="none" w="med" len="med"/>
                    </a:lnT>
                    <a:lnB w="9525" cap="flat" cmpd="sng" algn="ctr">
                      <a:solidFill>
                        <a:schemeClr val="accent6"/>
                      </a:solidFill>
                      <a:prstDash val="solid"/>
                      <a:round/>
                      <a:headEnd type="none" w="med" len="med"/>
                      <a:tailEnd type="none" w="med" len="med"/>
                    </a:lnB>
                  </a:tcPr>
                </a:tc>
                <a:tc>
                  <a:txBody>
                    <a:bodyPr/>
                    <a:lstStyle/>
                    <a:p>
                      <a:pPr indent="0" marL="0">
                        <a:buNone/>
                      </a:pPr>
                      <a:r>
                        <a:rPr lang="en-US" sz="1500" b="1" dirty="0">
                          <a:solidFill>
                            <a:schemeClr val="tx2"/>
                          </a:solidFill>
                        </a:rPr>
                        <a:t>Analytics Life Cycle → MapReduce</a:t>
                      </a:r>
                      <a:endParaRPr lang="en-US" sz="1500" dirty="0"/>
                    </a:p>
                  </a:txBody>
                  <a:tcPr marL="91440" marR="91440" marT="27432" marB="27432" anchor="ctr">
                    <a:lnL w="9525" cap="flat" cmpd="sng" algn="ctr">
                      <a:solidFill>
                        <a:schemeClr val="accent6"/>
                      </a:solidFill>
                      <a:prstDash val="solid"/>
                      <a:round/>
                      <a:headEnd type="none" w="med" len="med"/>
                      <a:tailEnd type="none" w="med" len="med"/>
                    </a:lnL>
                    <a:lnR w="9525" cap="flat" cmpd="sng" algn="ctr">
                      <a:solidFill>
                        <a:schemeClr val="accent6"/>
                      </a:solidFill>
                      <a:prstDash val="solid"/>
                      <a:round/>
                      <a:headEnd type="none" w="med" len="med"/>
                      <a:tailEnd type="none" w="med" len="med"/>
                    </a:lnR>
                    <a:lnT w="9525" cap="flat" cmpd="sng" algn="ctr">
                      <a:solidFill>
                        <a:schemeClr val="accent6"/>
                      </a:solidFill>
                      <a:prstDash val="solid"/>
                      <a:round/>
                      <a:headEnd type="none" w="med" len="med"/>
                      <a:tailEnd type="none" w="med" len="med"/>
                    </a:lnT>
                    <a:lnB w="9525" cap="flat" cmpd="sng" algn="ctr">
                      <a:solidFill>
                        <a:schemeClr val="accent6"/>
                      </a:solidFill>
                      <a:prstDash val="solid"/>
                      <a:round/>
                      <a:headEnd type="none" w="med" len="med"/>
                      <a:tailEnd type="none" w="med" len="med"/>
                    </a:lnB>
                  </a:tcPr>
                </a:tc>
                <a:tc>
                  <a:txBody>
                    <a:bodyPr/>
                    <a:lstStyle/>
                    <a:p>
                      <a:pPr indent="0" marL="0">
                        <a:buNone/>
                      </a:pPr>
                      <a:r>
                        <a:rPr lang="en-US" sz="1500" dirty="0">
                          <a:solidFill>
                            <a:schemeClr val="tx1"/>
                          </a:solidFill>
                        </a:rPr>
                        <a:t>Process stage builds search indexes</a:t>
                      </a:r>
                      <a:endParaRPr lang="en-US" sz="1500" dirty="0"/>
                    </a:p>
                  </a:txBody>
                  <a:tcPr marL="91440" marR="91440" marT="27432" marB="27432" anchor="ctr">
                    <a:lnL w="9525" cap="flat" cmpd="sng" algn="ctr">
                      <a:solidFill>
                        <a:schemeClr val="accent6"/>
                      </a:solidFill>
                      <a:prstDash val="solid"/>
                      <a:round/>
                      <a:headEnd type="none" w="med" len="med"/>
                      <a:tailEnd type="none" w="med" len="med"/>
                    </a:lnL>
                    <a:lnR w="9525" cap="flat" cmpd="sng" algn="ctr">
                      <a:solidFill>
                        <a:schemeClr val="accent6"/>
                      </a:solidFill>
                      <a:prstDash val="solid"/>
                      <a:round/>
                      <a:headEnd type="none" w="med" len="med"/>
                      <a:tailEnd type="none" w="med" len="med"/>
                    </a:lnR>
                    <a:lnT w="9525" cap="flat" cmpd="sng" algn="ctr">
                      <a:solidFill>
                        <a:schemeClr val="accent6"/>
                      </a:solidFill>
                      <a:prstDash val="solid"/>
                      <a:round/>
                      <a:headEnd type="none" w="med" len="med"/>
                      <a:tailEnd type="none" w="med" len="med"/>
                    </a:lnT>
                    <a:lnB w="9525" cap="flat" cmpd="sng" algn="ctr">
                      <a:solidFill>
                        <a:schemeClr val="accent6"/>
                      </a:solidFill>
                      <a:prstDash val="solid"/>
                      <a:round/>
                      <a:headEnd type="none" w="med" len="med"/>
                      <a:tailEnd type="none" w="med" len="med"/>
                    </a:lnB>
                  </a:tcPr>
                </a:tc>
              </a:tr>
              <a:tr h="438912">
                <a:tc>
                  <a:txBody>
                    <a:bodyPr/>
                    <a:lstStyle/>
                    <a:p>
                      <a:pPr algn="ctr" indent="0" marL="0">
                        <a:buNone/>
                      </a:pPr>
                      <a:r>
                        <a:rPr lang="en-US" sz="1500" b="1" dirty="0">
                          <a:solidFill>
                            <a:schemeClr val="accent2"/>
                          </a:solidFill>
                        </a:rPr>
                        <a:t>6</a:t>
                      </a:r>
                      <a:endParaRPr lang="en-US" sz="1500" dirty="0"/>
                    </a:p>
                  </a:txBody>
                  <a:tcPr marL="91440" marR="91440" marT="27432" marB="27432" anchor="ctr">
                    <a:lnL w="9525" cap="flat" cmpd="sng" algn="ctr">
                      <a:solidFill>
                        <a:schemeClr val="accent6"/>
                      </a:solidFill>
                      <a:prstDash val="solid"/>
                      <a:round/>
                      <a:headEnd type="none" w="med" len="med"/>
                      <a:tailEnd type="none" w="med" len="med"/>
                    </a:lnL>
                    <a:lnR w="9525" cap="flat" cmpd="sng" algn="ctr">
                      <a:solidFill>
                        <a:schemeClr val="accent6"/>
                      </a:solidFill>
                      <a:prstDash val="solid"/>
                      <a:round/>
                      <a:headEnd type="none" w="med" len="med"/>
                      <a:tailEnd type="none" w="med" len="med"/>
                    </a:lnR>
                    <a:lnT w="9525" cap="flat" cmpd="sng" algn="ctr">
                      <a:solidFill>
                        <a:schemeClr val="accent6"/>
                      </a:solidFill>
                      <a:prstDash val="solid"/>
                      <a:round/>
                      <a:headEnd type="none" w="med" len="med"/>
                      <a:tailEnd type="none" w="med" len="med"/>
                    </a:lnT>
                    <a:lnB w="9525" cap="flat" cmpd="sng" algn="ctr">
                      <a:solidFill>
                        <a:schemeClr val="accent6"/>
                      </a:solidFill>
                      <a:prstDash val="solid"/>
                      <a:round/>
                      <a:headEnd type="none" w="med" len="med"/>
                      <a:tailEnd type="none" w="med" len="med"/>
                    </a:lnB>
                  </a:tcPr>
                </a:tc>
                <a:tc>
                  <a:txBody>
                    <a:bodyPr/>
                    <a:lstStyle/>
                    <a:p>
                      <a:pPr indent="0" marL="0">
                        <a:buNone/>
                      </a:pPr>
                      <a:r>
                        <a:rPr lang="en-US" sz="1500" b="1" dirty="0">
                          <a:solidFill>
                            <a:schemeClr val="tx2"/>
                          </a:solidFill>
                        </a:rPr>
                        <a:t>Applications → NoSQL</a:t>
                      </a:r>
                      <a:endParaRPr lang="en-US" sz="1500" dirty="0"/>
                    </a:p>
                  </a:txBody>
                  <a:tcPr marL="91440" marR="91440" marT="27432" marB="27432" anchor="ctr">
                    <a:lnL w="9525" cap="flat" cmpd="sng" algn="ctr">
                      <a:solidFill>
                        <a:schemeClr val="accent6"/>
                      </a:solidFill>
                      <a:prstDash val="solid"/>
                      <a:round/>
                      <a:headEnd type="none" w="med" len="med"/>
                      <a:tailEnd type="none" w="med" len="med"/>
                    </a:lnL>
                    <a:lnR w="9525" cap="flat" cmpd="sng" algn="ctr">
                      <a:solidFill>
                        <a:schemeClr val="accent6"/>
                      </a:solidFill>
                      <a:prstDash val="solid"/>
                      <a:round/>
                      <a:headEnd type="none" w="med" len="med"/>
                      <a:tailEnd type="none" w="med" len="med"/>
                    </a:lnR>
                    <a:lnT w="9525" cap="flat" cmpd="sng" algn="ctr">
                      <a:solidFill>
                        <a:schemeClr val="accent6"/>
                      </a:solidFill>
                      <a:prstDash val="solid"/>
                      <a:round/>
                      <a:headEnd type="none" w="med" len="med"/>
                      <a:tailEnd type="none" w="med" len="med"/>
                    </a:lnT>
                    <a:lnB w="9525" cap="flat" cmpd="sng" algn="ctr">
                      <a:solidFill>
                        <a:schemeClr val="accent6"/>
                      </a:solidFill>
                      <a:prstDash val="solid"/>
                      <a:round/>
                      <a:headEnd type="none" w="med" len="med"/>
                      <a:tailEnd type="none" w="med" len="med"/>
                    </a:lnB>
                  </a:tcPr>
                </a:tc>
                <a:tc>
                  <a:txBody>
                    <a:bodyPr/>
                    <a:lstStyle/>
                    <a:p>
                      <a:pPr indent="0" marL="0">
                        <a:buNone/>
                      </a:pPr>
                      <a:r>
                        <a:rPr lang="en-US" sz="1500" dirty="0">
                          <a:solidFill>
                            <a:schemeClr val="tx1"/>
                          </a:solidFill>
                        </a:rPr>
                        <a:t>NoSQL stores serve live features</a:t>
                      </a:r>
                      <a:endParaRPr lang="en-US" sz="1500" dirty="0"/>
                    </a:p>
                  </a:txBody>
                  <a:tcPr marL="91440" marR="91440" marT="27432" marB="27432" anchor="ctr">
                    <a:lnL w="9525" cap="flat" cmpd="sng" algn="ctr">
                      <a:solidFill>
                        <a:schemeClr val="accent6"/>
                      </a:solidFill>
                      <a:prstDash val="solid"/>
                      <a:round/>
                      <a:headEnd type="none" w="med" len="med"/>
                      <a:tailEnd type="none" w="med" len="med"/>
                    </a:lnL>
                    <a:lnR w="9525" cap="flat" cmpd="sng" algn="ctr">
                      <a:solidFill>
                        <a:schemeClr val="accent6"/>
                      </a:solidFill>
                      <a:prstDash val="solid"/>
                      <a:round/>
                      <a:headEnd type="none" w="med" len="med"/>
                      <a:tailEnd type="none" w="med" len="med"/>
                    </a:lnR>
                    <a:lnT w="9525" cap="flat" cmpd="sng" algn="ctr">
                      <a:solidFill>
                        <a:schemeClr val="accent6"/>
                      </a:solidFill>
                      <a:prstDash val="solid"/>
                      <a:round/>
                      <a:headEnd type="none" w="med" len="med"/>
                      <a:tailEnd type="none" w="med" len="med"/>
                    </a:lnT>
                    <a:lnB w="9525" cap="flat" cmpd="sng" algn="ctr">
                      <a:solidFill>
                        <a:schemeClr val="accent6"/>
                      </a:solidFill>
                      <a:prstDash val="solid"/>
                      <a:round/>
                      <a:headEnd type="none" w="med" len="med"/>
                      <a:tailEnd type="none" w="med" len="med"/>
                    </a:lnB>
                  </a:tcPr>
                </a:tc>
              </a:tr>
              <a:tr h="438912">
                <a:tc>
                  <a:txBody>
                    <a:bodyPr/>
                    <a:lstStyle/>
                    <a:p>
                      <a:pPr algn="ctr" indent="0" marL="0">
                        <a:buNone/>
                      </a:pPr>
                      <a:r>
                        <a:rPr lang="en-US" sz="1500" b="1" dirty="0">
                          <a:solidFill>
                            <a:schemeClr val="accent2"/>
                          </a:solidFill>
                        </a:rPr>
                        <a:t>7</a:t>
                      </a:r>
                      <a:endParaRPr lang="en-US" sz="1500" dirty="0"/>
                    </a:p>
                  </a:txBody>
                  <a:tcPr marL="91440" marR="91440" marT="27432" marB="27432" anchor="ctr">
                    <a:lnL w="9525" cap="flat" cmpd="sng" algn="ctr">
                      <a:solidFill>
                        <a:schemeClr val="accent6"/>
                      </a:solidFill>
                      <a:prstDash val="solid"/>
                      <a:round/>
                      <a:headEnd type="none" w="med" len="med"/>
                      <a:tailEnd type="none" w="med" len="med"/>
                    </a:lnL>
                    <a:lnR w="9525" cap="flat" cmpd="sng" algn="ctr">
                      <a:solidFill>
                        <a:schemeClr val="accent6"/>
                      </a:solidFill>
                      <a:prstDash val="solid"/>
                      <a:round/>
                      <a:headEnd type="none" w="med" len="med"/>
                      <a:tailEnd type="none" w="med" len="med"/>
                    </a:lnR>
                    <a:lnT w="9525" cap="flat" cmpd="sng" algn="ctr">
                      <a:solidFill>
                        <a:schemeClr val="accent6"/>
                      </a:solidFill>
                      <a:prstDash val="solid"/>
                      <a:round/>
                      <a:headEnd type="none" w="med" len="med"/>
                      <a:tailEnd type="none" w="med" len="med"/>
                    </a:lnT>
                    <a:lnB w="9525" cap="flat" cmpd="sng" algn="ctr">
                      <a:solidFill>
                        <a:schemeClr val="accent6"/>
                      </a:solidFill>
                      <a:prstDash val="solid"/>
                      <a:round/>
                      <a:headEnd type="none" w="med" len="med"/>
                      <a:tailEnd type="none" w="med" len="med"/>
                    </a:lnB>
                  </a:tcPr>
                </a:tc>
                <a:tc>
                  <a:txBody>
                    <a:bodyPr/>
                    <a:lstStyle/>
                    <a:p>
                      <a:pPr indent="0" marL="0">
                        <a:buNone/>
                      </a:pPr>
                      <a:r>
                        <a:rPr lang="en-US" sz="1500" b="1" dirty="0">
                          <a:solidFill>
                            <a:schemeClr val="tx2"/>
                          </a:solidFill>
                        </a:rPr>
                        <a:t>Applications → eBay Case Study</a:t>
                      </a:r>
                      <a:endParaRPr lang="en-US" sz="1500" dirty="0"/>
                    </a:p>
                  </a:txBody>
                  <a:tcPr marL="91440" marR="91440" marT="27432" marB="27432" anchor="ctr">
                    <a:lnL w="9525" cap="flat" cmpd="sng" algn="ctr">
                      <a:solidFill>
                        <a:schemeClr val="accent6"/>
                      </a:solidFill>
                      <a:prstDash val="solid"/>
                      <a:round/>
                      <a:headEnd type="none" w="med" len="med"/>
                      <a:tailEnd type="none" w="med" len="med"/>
                    </a:lnL>
                    <a:lnR w="9525" cap="flat" cmpd="sng" algn="ctr">
                      <a:solidFill>
                        <a:schemeClr val="accent6"/>
                      </a:solidFill>
                      <a:prstDash val="solid"/>
                      <a:round/>
                      <a:headEnd type="none" w="med" len="med"/>
                      <a:tailEnd type="none" w="med" len="med"/>
                    </a:lnR>
                    <a:lnT w="9525" cap="flat" cmpd="sng" algn="ctr">
                      <a:solidFill>
                        <a:schemeClr val="accent6"/>
                      </a:solidFill>
                      <a:prstDash val="solid"/>
                      <a:round/>
                      <a:headEnd type="none" w="med" len="med"/>
                      <a:tailEnd type="none" w="med" len="med"/>
                    </a:lnT>
                    <a:lnB w="9525" cap="flat" cmpd="sng" algn="ctr">
                      <a:solidFill>
                        <a:schemeClr val="accent6"/>
                      </a:solidFill>
                      <a:prstDash val="solid"/>
                      <a:round/>
                      <a:headEnd type="none" w="med" len="med"/>
                      <a:tailEnd type="none" w="med" len="med"/>
                    </a:lnB>
                  </a:tcPr>
                </a:tc>
                <a:tc>
                  <a:txBody>
                    <a:bodyPr/>
                    <a:lstStyle/>
                    <a:p>
                      <a:pPr indent="0" marL="0">
                        <a:buNone/>
                      </a:pPr>
                      <a:r>
                        <a:rPr lang="en-US" sz="1500" dirty="0">
                          <a:solidFill>
                            <a:schemeClr val="tx1"/>
                          </a:solidFill>
                        </a:rPr>
                        <a:t>Search, recommendations, fraud checks</a:t>
                      </a:r>
                      <a:endParaRPr lang="en-US" sz="1500" dirty="0"/>
                    </a:p>
                  </a:txBody>
                  <a:tcPr marL="91440" marR="91440" marT="27432" marB="27432" anchor="ctr">
                    <a:lnL w="9525" cap="flat" cmpd="sng" algn="ctr">
                      <a:solidFill>
                        <a:schemeClr val="accent6"/>
                      </a:solidFill>
                      <a:prstDash val="solid"/>
                      <a:round/>
                      <a:headEnd type="none" w="med" len="med"/>
                      <a:tailEnd type="none" w="med" len="med"/>
                    </a:lnL>
                    <a:lnR w="9525" cap="flat" cmpd="sng" algn="ctr">
                      <a:solidFill>
                        <a:schemeClr val="accent6"/>
                      </a:solidFill>
                      <a:prstDash val="solid"/>
                      <a:round/>
                      <a:headEnd type="none" w="med" len="med"/>
                      <a:tailEnd type="none" w="med" len="med"/>
                    </a:lnR>
                    <a:lnT w="9525" cap="flat" cmpd="sng" algn="ctr">
                      <a:solidFill>
                        <a:schemeClr val="accent6"/>
                      </a:solidFill>
                      <a:prstDash val="solid"/>
                      <a:round/>
                      <a:headEnd type="none" w="med" len="med"/>
                      <a:tailEnd type="none" w="med" len="med"/>
                    </a:lnT>
                    <a:lnB w="9525" cap="flat" cmpd="sng" algn="ctr">
                      <a:solidFill>
                        <a:schemeClr val="accent6"/>
                      </a:solidFill>
                      <a:prstDash val="solid"/>
                      <a:round/>
                      <a:headEnd type="none" w="med" len="med"/>
                      <a:tailEnd type="none" w="med" len="med"/>
                    </a:lnB>
                  </a:tcPr>
                </a:tc>
              </a:tr>
            </a:tbl>
          </a:graphicData>
        </a:graphic>
      </p:graphicFrame>
      <p:sp>
        <p:nvSpPr>
          <p:cNvPr id="5" name="Source citation"/>
          <p:cNvSpPr txBox="1"/>
          <p:nvPr/>
        </p:nvSpPr>
        <p:spPr>
          <a:xfrm>
            <a:off x="457200" y="4681728"/>
            <a:ext cx="7680960" cy="274320"/>
          </a:xfrm>
          <a:prstGeom prst="rect">
            <a:avLst/>
          </a:prstGeom>
          <a:noFill/>
          <a:ln/>
        </p:spPr>
        <p:txBody>
          <a:bodyPr wrap="square" lIns="0" tIns="0" rIns="0" bIns="0" rtlCol="0" anchor="t"/>
          <a:lstStyle/>
          <a:p>
            <a:pPr algn="l" indent="0" marL="0">
              <a:buNone/>
            </a:pPr>
            <a:r>
              <a:rPr lang="en-US" sz="1200" dirty="0">
                <a:solidFill>
                  <a:schemeClr val="accent3"/>
                </a:solidFill>
              </a:rPr>
              <a:t>Sources: Hadoop-2 @ eBay (n.d.); Hadoop and HBase @ eBay (c. 2013); Patel (2012); Monash (2010).</a:t>
            </a:r>
            <a:endParaRPr lang="en-US" sz="1200" dirty="0"/>
          </a:p>
        </p:txBody>
      </p:sp>
      <p:sp>
        <p:nvSpPr>
          <p:cNvPr id="25" name="Slide Number Placeholder 0"/>
          <p:cNvSpPr>
            <a:spLocks noGrp="1"/>
          </p:cNvSpPr>
          <p:nvPr>
            <p:ph type="sldNum" sz="quarter" idx="4294967295"/>
          </p:nvPr>
        </p:nvSpPr>
        <p:spPr>
          <a:xfrm>
            <a:off x="832104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1"/>
          <p:cNvSpPr/>
          <p:nvPr>
            <p:ph idx="101" type="title" hasCustomPrompt="1"/>
          </p:nvPr>
        </p:nvSpPr>
        <p:spPr>
          <a:xfrm>
            <a:off x="457200" y="228600"/>
            <a:ext cx="8229600" cy="777240"/>
          </a:xfrm>
          <a:prstGeom prst="rect">
            <a:avLst/>
          </a:prstGeom>
          <a:noFill/>
          <a:ln/>
        </p:spPr>
        <p:txBody>
          <a:bodyPr wrap="square" lIns="0" tIns="0" rIns="0" bIns="0" rtlCol="0" anchor="t"/>
          <a:lstStyle/>
          <a:p>
            <a:pPr algn="l" indent="0" marL="0">
              <a:buNone/>
            </a:pPr>
            <a:r>
              <a:rPr lang="en-US" sz="2400" b="1" dirty="0">
                <a:solidFill>
                  <a:schemeClr val="bg1"/>
                </a:solidFill>
              </a:rPr>
              <a:t>Conclusions: eBay's Big Data needs pushed it from SQL-only to Hadoop plus NoSQL</a:t>
            </a:r>
            <a:endParaRPr lang="en-US" sz="2400" dirty="0"/>
          </a:p>
        </p:txBody>
      </p:sp>
      <p:sp>
        <p:nvSpPr>
          <p:cNvPr id="4" name="Takeaways"/>
          <p:cNvSpPr txBox="1"/>
          <p:nvPr/>
        </p:nvSpPr>
        <p:spPr>
          <a:xfrm>
            <a:off x="457200" y="1280160"/>
            <a:ext cx="8229600" cy="2651760"/>
          </a:xfrm>
          <a:prstGeom prst="rect">
            <a:avLst/>
          </a:prstGeom>
          <a:noFill/>
          <a:ln/>
        </p:spPr>
        <p:txBody>
          <a:bodyPr wrap="square" lIns="0" tIns="0" rIns="0" bIns="0" rtlCol="0" anchor="t"/>
          <a:lstStyle/>
          <a:p>
            <a:pPr algn="l" indent="0" marL="0">
              <a:spcAft>
                <a:spcPts val="1600"/>
              </a:spcAft>
              <a:buNone/>
            </a:pPr>
            <a:r>
              <a:rPr lang="en-US" sz="2000" b="1" dirty="0">
                <a:solidFill>
                  <a:schemeClr val="bg1"/>
                </a:solidFill>
              </a:rPr>
              <a:t>1. Big Data outgrew SQL-only warehouses: </a:t>
            </a:r>
            <a:pPr algn="l" indent="0" marL="0">
              <a:spcAft>
                <a:spcPts val="1600"/>
              </a:spcAft>
              <a:buNone/>
            </a:pPr>
            <a:r>
              <a:rPr lang="en-US" sz="2000" dirty="0">
                <a:solidFill>
                  <a:schemeClr val="bg1"/>
                </a:solidFill>
              </a:rPr>
              <a:t>Volume, Velocity and Variety all appear at eBay.</a:t>
            </a:r>
            <a:endParaRPr lang="en-US" sz="2000" dirty="0"/>
          </a:p>
          <a:p>
            <a:pPr algn="l" indent="0" marL="0">
              <a:spcAft>
                <a:spcPts val="1600"/>
              </a:spcAft>
              <a:buNone/>
            </a:pPr>
            <a:r>
              <a:rPr lang="en-US" sz="2000" b="1" dirty="0">
                <a:solidFill>
                  <a:schemeClr val="bg1"/>
                </a:solidFill>
              </a:rPr>
              <a:t>2. Hadoop added scale-out storage and processing: </a:t>
            </a:r>
            <a:pPr algn="l" indent="0" marL="0">
              <a:spcAft>
                <a:spcPts val="1600"/>
              </a:spcAft>
              <a:buNone/>
            </a:pPr>
            <a:r>
              <a:rPr lang="en-US" sz="2000" dirty="0">
                <a:solidFill>
                  <a:schemeClr val="bg1"/>
                </a:solidFill>
              </a:rPr>
              <a:t>HDFS stores, YARN schedules, MapReduce processes.</a:t>
            </a:r>
            <a:endParaRPr lang="en-US" sz="2000" dirty="0"/>
          </a:p>
          <a:p>
            <a:pPr algn="l" indent="0" marL="0">
              <a:spcAft>
                <a:spcPts val="1600"/>
              </a:spcAft>
              <a:buNone/>
            </a:pPr>
            <a:r>
              <a:rPr lang="en-US" sz="2000" b="1" dirty="0">
                <a:solidFill>
                  <a:schemeClr val="bg1"/>
                </a:solidFill>
              </a:rPr>
              <a:t>3. NoSQL serves the live features: </a:t>
            </a:r>
            <a:pPr algn="l" indent="0" marL="0">
              <a:spcAft>
                <a:spcPts val="1600"/>
              </a:spcAft>
              <a:buNone/>
            </a:pPr>
            <a:r>
              <a:rPr lang="en-US" sz="2000" dirty="0">
                <a:solidFill>
                  <a:schemeClr val="bg1"/>
                </a:solidFill>
              </a:rPr>
              <a:t>HBase, Cassandra and MongoDB each fit a different job.</a:t>
            </a:r>
            <a:endParaRPr lang="en-US" sz="2000" dirty="0"/>
          </a:p>
        </p:txBody>
      </p:sp>
      <p:sp>
        <p:nvSpPr>
          <p:cNvPr id="5" name="Contact"/>
          <p:cNvSpPr txBox="1"/>
          <p:nvPr/>
        </p:nvSpPr>
        <p:spPr>
          <a:xfrm>
            <a:off x="457200" y="4343400"/>
            <a:ext cx="8229600" cy="365760"/>
          </a:xfrm>
          <a:prstGeom prst="rect">
            <a:avLst/>
          </a:prstGeom>
          <a:noFill/>
          <a:ln/>
        </p:spPr>
        <p:txBody>
          <a:bodyPr wrap="square" lIns="0" tIns="0" rIns="0" bIns="0" rtlCol="0" anchor="t"/>
          <a:lstStyle/>
          <a:p>
            <a:pPr algn="l" indent="0" marL="0">
              <a:buNone/>
            </a:pPr>
            <a:r>
              <a:rPr lang="en-US" sz="1400" dirty="0">
                <a:solidFill>
                  <a:schemeClr val="bg2"/>
                </a:solidFill>
              </a:rPr>
              <a:t>Are there questions or feedback?   [Group members]  ·  PCCoE, B.Tech, Big Data Analytics  ·  FA1</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References heading"/>
          <p:cNvSpPr txBox="1"/>
          <p:nvPr/>
        </p:nvSpPr>
        <p:spPr>
          <a:xfrm>
            <a:off x="457200" y="182880"/>
            <a:ext cx="8229600" cy="457200"/>
          </a:xfrm>
          <a:prstGeom prst="rect">
            <a:avLst/>
          </a:prstGeom>
          <a:noFill/>
          <a:ln/>
        </p:spPr>
        <p:txBody>
          <a:bodyPr wrap="square" lIns="0" tIns="0" rIns="0" bIns="0" rtlCol="0" anchor="t"/>
          <a:lstStyle/>
          <a:p>
            <a:pPr algn="l" indent="0" marL="0">
              <a:buNone/>
            </a:pPr>
            <a:r>
              <a:rPr lang="en-US" sz="2400" b="1" dirty="0">
                <a:solidFill>
                  <a:schemeClr val="tx2"/>
                </a:solidFill>
              </a:rPr>
              <a:t>References</a:t>
            </a:r>
            <a:endParaRPr lang="en-US" sz="2400" dirty="0"/>
          </a:p>
        </p:txBody>
      </p:sp>
      <p:sp>
        <p:nvSpPr>
          <p:cNvPr id="4" name="Reference list"/>
          <p:cNvSpPr txBox="1"/>
          <p:nvPr/>
        </p:nvSpPr>
        <p:spPr>
          <a:xfrm>
            <a:off x="457200" y="731520"/>
            <a:ext cx="8229600" cy="4023360"/>
          </a:xfrm>
          <a:prstGeom prst="rect">
            <a:avLst/>
          </a:prstGeom>
          <a:noFill/>
          <a:ln/>
        </p:spPr>
        <p:txBody>
          <a:bodyPr wrap="square" lIns="0" tIns="0" rIns="0" bIns="0" rtlCol="0" anchor="t"/>
          <a:lstStyle/>
          <a:p>
            <a:pPr algn="l" indent="0" marL="0">
              <a:spcAft>
                <a:spcPts val="600"/>
              </a:spcAft>
              <a:buNone/>
            </a:pPr>
            <a:r>
              <a:rPr lang="en-US" sz="1200" dirty="0">
                <a:solidFill>
                  <a:schemeClr val="tx1"/>
                </a:solidFill>
              </a:rPr>
              <a:t>Monash, C. (2009). eBay's two enormous data warehouses. DBMS2. dbms2.com/2009/04/30/ebays-two-enormous-data-warehouses</a:t>
            </a:r>
            <a:endParaRPr lang="en-US" sz="1200" dirty="0"/>
          </a:p>
          <a:p>
            <a:pPr algn="l" indent="0" marL="0">
              <a:spcAft>
                <a:spcPts val="600"/>
              </a:spcAft>
              <a:buNone/>
            </a:pPr>
            <a:r>
              <a:rPr lang="en-US" sz="1200" dirty="0">
                <a:solidFill>
                  <a:schemeClr val="tx1"/>
                </a:solidFill>
              </a:rPr>
              <a:t>Monash, C. (2010). eBay followup: Greenplum out, Teradata &gt; 10 petabytes, Hadoop has some value, and more. DBMS2. dbms2.com/2010/10/06/</a:t>
            </a:r>
            <a:endParaRPr lang="en-US" sz="1200" dirty="0"/>
          </a:p>
          <a:p>
            <a:pPr algn="l" indent="0" marL="0">
              <a:spcAft>
                <a:spcPts val="600"/>
              </a:spcAft>
              <a:buNone/>
            </a:pPr>
            <a:r>
              <a:rPr lang="en-US" sz="1200" dirty="0">
                <a:solidFill>
                  <a:schemeClr val="tx1"/>
                </a:solidFill>
              </a:rPr>
              <a:t>eBay Inc. (n.d.). Hadoop: The power of the elephant. eBay Tech Blog. innovation.ebayinc.com/stories/hadoop-the-power-of-the-elephant</a:t>
            </a:r>
            <a:endParaRPr lang="en-US" sz="1200" dirty="0"/>
          </a:p>
          <a:p>
            <a:pPr algn="l" indent="0" marL="0">
              <a:spcAft>
                <a:spcPts val="600"/>
              </a:spcAft>
              <a:buNone/>
            </a:pPr>
            <a:r>
              <a:rPr lang="en-US" sz="1200" dirty="0">
                <a:solidFill>
                  <a:schemeClr val="tx1"/>
                </a:solidFill>
              </a:rPr>
              <a:t>eBay Inc. (n.d.). HDFS storage efficiency using tiered storage. eBay Tech Blog. innovation.ebayinc.com/stories/hdfs-storage-efficiency-using-tiered-storage</a:t>
            </a:r>
            <a:endParaRPr lang="en-US" sz="1200" dirty="0"/>
          </a:p>
          <a:p>
            <a:pPr algn="l" indent="0" marL="0">
              <a:spcAft>
                <a:spcPts val="600"/>
              </a:spcAft>
              <a:buNone/>
            </a:pPr>
            <a:r>
              <a:rPr lang="en-US" sz="1200" dirty="0">
                <a:solidFill>
                  <a:schemeClr val="tx1"/>
                </a:solidFill>
              </a:rPr>
              <a:t>eBay Inc. (n.d.). Hadoop-2 @ eBay [Slides]. Hadoop Summit. slideshare.net/Hadoop_Summit/hadoop2-ebay</a:t>
            </a:r>
            <a:endParaRPr lang="en-US" sz="1200" dirty="0"/>
          </a:p>
          <a:p>
            <a:pPr algn="l" indent="0" marL="0">
              <a:spcAft>
                <a:spcPts val="600"/>
              </a:spcAft>
              <a:buNone/>
            </a:pPr>
            <a:r>
              <a:rPr lang="en-US" sz="1200" dirty="0">
                <a:solidFill>
                  <a:schemeClr val="tx1"/>
                </a:solidFill>
              </a:rPr>
              <a:t>eBay Inc. (c. 2013). Hadoop and HBase @ eBay [Slides]. slideshare.net/slideshow/ma-june27-140pmroom212v2/24108965</a:t>
            </a:r>
            <a:endParaRPr lang="en-US" sz="1200" dirty="0"/>
          </a:p>
          <a:p>
            <a:pPr algn="l" indent="0" marL="0">
              <a:spcAft>
                <a:spcPts val="600"/>
              </a:spcAft>
              <a:buNone/>
            </a:pPr>
            <a:r>
              <a:rPr lang="en-US" sz="1200" dirty="0">
                <a:solidFill>
                  <a:schemeClr val="tx1"/>
                </a:solidFill>
              </a:rPr>
              <a:t>Patel, J. (2012). Cassandra at eBay [Slides]. Cassandra Summit 2012. slideshare.net/jaykumarpatel/cassandra-at-ebay-13920376</a:t>
            </a:r>
            <a:endParaRPr lang="en-US" sz="1200" dirty="0"/>
          </a:p>
          <a:p>
            <a:pPr algn="l" indent="0" marL="0">
              <a:spcAft>
                <a:spcPts val="600"/>
              </a:spcAft>
              <a:buNone/>
            </a:pPr>
            <a:r>
              <a:rPr lang="en-US" sz="1200" dirty="0">
                <a:solidFill>
                  <a:schemeClr val="tx1"/>
                </a:solidFill>
              </a:rPr>
              <a:t>eBay Inc. (2014). Announcing Kylin: Extreme OLAP engine for big data. eBay Tech Blog. innovation.ebayinc.com/stories/announcing-kylin-extreme-olap-engine-for-big-data</a:t>
            </a:r>
            <a:endParaRPr lang="en-US" sz="1200" dirty="0"/>
          </a:p>
          <a:p>
            <a:pPr algn="l" indent="0" marL="0">
              <a:spcAft>
                <a:spcPts val="600"/>
              </a:spcAft>
              <a:buNone/>
            </a:pPr>
            <a:r>
              <a:rPr lang="en-US" sz="1200" dirty="0">
                <a:solidFill>
                  <a:schemeClr val="tx1"/>
                </a:solidFill>
              </a:rPr>
              <a:t>MongoDB Inc. (n.d.). MongoDB at eBay [Slides]. slideshare.net/mongodb/mongodb-at-ebay</a:t>
            </a:r>
            <a:endParaRPr lang="en-US" sz="1200" dirty="0"/>
          </a:p>
        </p:txBody>
      </p:sp>
      <p:sp>
        <p:nvSpPr>
          <p:cNvPr id="5" name="Text 0"/>
          <p:cNvSpPr/>
          <p:nvPr>
            <p:ph idx="100" type="title" hasCustomPrompt="1"/>
          </p:nvPr>
        </p:nvSpPr>
        <p:spPr>
          <a:xfrm>
            <a:off x="457200" y="182880"/>
            <a:ext cx="8229600" cy="777240"/>
          </a:xfrm>
          <a:prstGeom prst="rect">
            <a:avLst/>
          </a:prstGeom>
          <a:noFill/>
          <a:ln/>
        </p:spPr>
        <p:txBody>
          <a:bodyPr wrap="square" lIns="0" tIns="0" rIns="0" bIns="0" rtlCol="0" anchor="t"/>
          <a:lstStyle/>
          <a:p>
            <a:pPr algn="l" indent="0" marL="0">
              <a:buNone/>
            </a:pPr>
            <a:endParaRPr lang="en-US" sz="2400" dirty="0"/>
          </a:p>
        </p:txBody>
      </p:sp>
      <p:sp>
        <p:nvSpPr>
          <p:cNvPr id="25" name="Slide Number Placeholder 0"/>
          <p:cNvSpPr>
            <a:spLocks noGrp="1"/>
          </p:cNvSpPr>
          <p:nvPr>
            <p:ph type="sldNum" sz="quarter" idx="4294967295"/>
          </p:nvPr>
        </p:nvSpPr>
        <p:spPr>
          <a:xfrm>
            <a:off x="832104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Academic Navy">
  <a:themeElements>
    <a:clrScheme name="Academic Navy">
      <a:dk1>
        <a:srgbClr val="2D2D2D"/>
      </a:dk1>
      <a:lt1>
        <a:srgbClr val="FFFFFF"/>
      </a:lt1>
      <a:dk2>
        <a:srgbClr val="1F4E79"/>
      </a:dk2>
      <a:lt2>
        <a:srgbClr val="EBF3FA"/>
      </a:lt2>
      <a:accent1>
        <a:srgbClr val="2E75B6"/>
      </a:accent1>
      <a:accent2>
        <a:srgbClr val="C55A11"/>
      </a:accent2>
      <a:accent3>
        <a:srgbClr val="777777"/>
      </a:accent3>
      <a:accent4>
        <a:srgbClr val="FFF2CC"/>
      </a:accent4>
      <a:accent5>
        <a:srgbClr val="1A3A5C"/>
      </a:accent5>
      <a:accent6>
        <a:srgbClr val="CCCCCC"/>
      </a:accent6>
      <a:hlink>
        <a:srgbClr val="2E75B6"/>
      </a:hlink>
      <a:folHlink>
        <a:srgbClr val="777777"/>
      </a:folHlink>
    </a:clrScheme>
    <a:fontScheme name="Academic Navy">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eBay: from SQL warehouses to Hadoop and NoSQL</dc:title>
  <dc:subject>Big Data Analytics FA1 - eBay case study mapped to Unit 1 and Unit 2</dc:subject>
  <dc:creator>PptxGenJS</dc:creator>
  <cp:lastModifiedBy>PptxGenJS</cp:lastModifiedBy>
  <cp:revision>1</cp:revision>
  <dcterms:created xsi:type="dcterms:W3CDTF">2026-10-05T13:16:10Z</dcterms:created>
  <dcterms:modified xsi:type="dcterms:W3CDTF">2026-10-05T13:16:10Z</dcterms:modified>
</cp:coreProperties>
</file>